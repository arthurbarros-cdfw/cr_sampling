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0" r:id="rId2"/>
    <p:sldId id="281" r:id="rId3"/>
    <p:sldId id="283" r:id="rId4"/>
    <p:sldId id="286" r:id="rId5"/>
    <p:sldId id="311" r:id="rId6"/>
    <p:sldId id="314" r:id="rId7"/>
    <p:sldId id="282" r:id="rId8"/>
    <p:sldId id="321" r:id="rId9"/>
    <p:sldId id="315" r:id="rId10"/>
    <p:sldId id="316" r:id="rId11"/>
    <p:sldId id="318" r:id="rId12"/>
    <p:sldId id="319" r:id="rId13"/>
    <p:sldId id="320" r:id="rId14"/>
    <p:sldId id="322" r:id="rId15"/>
    <p:sldId id="324" r:id="rId16"/>
    <p:sldId id="32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38D286-0297-44CD-878A-9DFF075182AF}" v="38" dt="2026-06-11T20:50:05.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23" autoAdjust="0"/>
  </p:normalViewPr>
  <p:slideViewPr>
    <p:cSldViewPr snapToGrid="0">
      <p:cViewPr varScale="1">
        <p:scale>
          <a:sx n="68" d="100"/>
          <a:sy n="68" d="100"/>
        </p:scale>
        <p:origin x="12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ros, Arthur@Wildlife" userId="13f56b0b-3529-4413-b3c2-bd9e153a9954" providerId="ADAL" clId="{83F66843-D3E2-4209-914A-087BF0EB956C}"/>
    <pc:docChg chg="undo redo custSel addSld delSld modSld sldOrd">
      <pc:chgData name="Barros, Arthur@Wildlife" userId="13f56b0b-3529-4413-b3c2-bd9e153a9954" providerId="ADAL" clId="{83F66843-D3E2-4209-914A-087BF0EB956C}" dt="2026-06-11T20:50:05.082" v="27115" actId="20577"/>
      <pc:docMkLst>
        <pc:docMk/>
      </pc:docMkLst>
      <pc:sldChg chg="modSp add mod">
        <pc:chgData name="Barros, Arthur@Wildlife" userId="13f56b0b-3529-4413-b3c2-bd9e153a9954" providerId="ADAL" clId="{83F66843-D3E2-4209-914A-087BF0EB956C}" dt="2026-06-02T16:41:13.836" v="15395" actId="20577"/>
        <pc:sldMkLst>
          <pc:docMk/>
          <pc:sldMk cId="2638691956" sldId="270"/>
        </pc:sldMkLst>
        <pc:spChg chg="mod">
          <ac:chgData name="Barros, Arthur@Wildlife" userId="13f56b0b-3529-4413-b3c2-bd9e153a9954" providerId="ADAL" clId="{83F66843-D3E2-4209-914A-087BF0EB956C}" dt="2026-06-02T16:41:13.836" v="15395" actId="20577"/>
          <ac:spMkLst>
            <pc:docMk/>
            <pc:sldMk cId="2638691956" sldId="270"/>
            <ac:spMk id="2" creationId="{9439641B-5D2F-B0E9-1A5A-A2062A4786FC}"/>
          </ac:spMkLst>
        </pc:spChg>
        <pc:spChg chg="mod">
          <ac:chgData name="Barros, Arthur@Wildlife" userId="13f56b0b-3529-4413-b3c2-bd9e153a9954" providerId="ADAL" clId="{83F66843-D3E2-4209-914A-087BF0EB956C}" dt="2026-05-22T21:28:14.190" v="15378" actId="20577"/>
          <ac:spMkLst>
            <pc:docMk/>
            <pc:sldMk cId="2638691956" sldId="270"/>
            <ac:spMk id="7" creationId="{8BE11D55-20E6-FF15-A042-C53183279989}"/>
          </ac:spMkLst>
        </pc:spChg>
      </pc:sldChg>
      <pc:sldChg chg="modSp mod">
        <pc:chgData name="Barros, Arthur@Wildlife" userId="13f56b0b-3529-4413-b3c2-bd9e153a9954" providerId="ADAL" clId="{83F66843-D3E2-4209-914A-087BF0EB956C}" dt="2026-06-11T20:14:28.265" v="25739" actId="6549"/>
        <pc:sldMkLst>
          <pc:docMk/>
          <pc:sldMk cId="1615530763" sldId="281"/>
        </pc:sldMkLst>
        <pc:spChg chg="mod">
          <ac:chgData name="Barros, Arthur@Wildlife" userId="13f56b0b-3529-4413-b3c2-bd9e153a9954" providerId="ADAL" clId="{83F66843-D3E2-4209-914A-087BF0EB956C}" dt="2026-06-11T20:14:28.265" v="25739" actId="6549"/>
          <ac:spMkLst>
            <pc:docMk/>
            <pc:sldMk cId="1615530763" sldId="281"/>
            <ac:spMk id="2" creationId="{BB0CE9E0-BADF-3898-7CF2-49A36036A131}"/>
          </ac:spMkLst>
        </pc:spChg>
      </pc:sldChg>
      <pc:sldChg chg="addSp delSp modSp add mod modNotesTx">
        <pc:chgData name="Barros, Arthur@Wildlife" userId="13f56b0b-3529-4413-b3c2-bd9e153a9954" providerId="ADAL" clId="{83F66843-D3E2-4209-914A-087BF0EB956C}" dt="2026-06-11T20:18:04.016" v="25768" actId="20577"/>
        <pc:sldMkLst>
          <pc:docMk/>
          <pc:sldMk cId="2108404672" sldId="282"/>
        </pc:sldMkLst>
        <pc:picChg chg="add mod ord modCrop">
          <ac:chgData name="Barros, Arthur@Wildlife" userId="13f56b0b-3529-4413-b3c2-bd9e153a9954" providerId="ADAL" clId="{83F66843-D3E2-4209-914A-087BF0EB956C}" dt="2026-06-02T17:48:56.839" v="16730" actId="1076"/>
          <ac:picMkLst>
            <pc:docMk/>
            <pc:sldMk cId="2108404672" sldId="282"/>
            <ac:picMk id="4" creationId="{4F905B5B-D1BD-CA40-A6B9-1B64F869510B}"/>
          </ac:picMkLst>
        </pc:picChg>
      </pc:sldChg>
      <pc:sldChg chg="modSp add mod modNotesTx">
        <pc:chgData name="Barros, Arthur@Wildlife" userId="13f56b0b-3529-4413-b3c2-bd9e153a9954" providerId="ADAL" clId="{83F66843-D3E2-4209-914A-087BF0EB956C}" dt="2026-06-10T16:59:44.349" v="22983" actId="20577"/>
        <pc:sldMkLst>
          <pc:docMk/>
          <pc:sldMk cId="897170571" sldId="283"/>
        </pc:sldMkLst>
        <pc:spChg chg="mod">
          <ac:chgData name="Barros, Arthur@Wildlife" userId="13f56b0b-3529-4413-b3c2-bd9e153a9954" providerId="ADAL" clId="{83F66843-D3E2-4209-914A-087BF0EB956C}" dt="2026-06-10T16:59:44.349" v="22983" actId="20577"/>
          <ac:spMkLst>
            <pc:docMk/>
            <pc:sldMk cId="897170571" sldId="283"/>
            <ac:spMk id="2" creationId="{370E7FC5-99B6-5FCC-A7A6-23DA03A4F434}"/>
          </ac:spMkLst>
        </pc:spChg>
        <pc:spChg chg="mod">
          <ac:chgData name="Barros, Arthur@Wildlife" userId="13f56b0b-3529-4413-b3c2-bd9e153a9954" providerId="ADAL" clId="{83F66843-D3E2-4209-914A-087BF0EB956C}" dt="2026-06-02T17:01:09.249" v="15903" actId="20577"/>
          <ac:spMkLst>
            <pc:docMk/>
            <pc:sldMk cId="897170571" sldId="283"/>
            <ac:spMk id="8" creationId="{CAE11993-6D95-653B-4C4F-0E3EE812DD89}"/>
          </ac:spMkLst>
        </pc:spChg>
      </pc:sldChg>
      <pc:sldChg chg="modSp add modNotesTx">
        <pc:chgData name="Barros, Arthur@Wildlife" userId="13f56b0b-3529-4413-b3c2-bd9e153a9954" providerId="ADAL" clId="{83F66843-D3E2-4209-914A-087BF0EB956C}" dt="2026-06-11T20:13:15.717" v="25714" actId="20577"/>
        <pc:sldMkLst>
          <pc:docMk/>
          <pc:sldMk cId="1420847236" sldId="286"/>
        </pc:sldMkLst>
        <pc:spChg chg="mod">
          <ac:chgData name="Barros, Arthur@Wildlife" userId="13f56b0b-3529-4413-b3c2-bd9e153a9954" providerId="ADAL" clId="{83F66843-D3E2-4209-914A-087BF0EB956C}" dt="2026-06-10T15:04:10.316" v="19023" actId="20577"/>
          <ac:spMkLst>
            <pc:docMk/>
            <pc:sldMk cId="1420847236" sldId="286"/>
            <ac:spMk id="2" creationId="{03EDCEA6-71C3-998C-6FB7-B20E31E40947}"/>
          </ac:spMkLst>
        </pc:spChg>
      </pc:sldChg>
      <pc:sldChg chg="add modNotesTx">
        <pc:chgData name="Barros, Arthur@Wildlife" userId="13f56b0b-3529-4413-b3c2-bd9e153a9954" providerId="ADAL" clId="{83F66843-D3E2-4209-914A-087BF0EB956C}" dt="2026-06-11T20:14:41.078" v="25741" actId="20577"/>
        <pc:sldMkLst>
          <pc:docMk/>
          <pc:sldMk cId="698225713" sldId="311"/>
        </pc:sldMkLst>
      </pc:sldChg>
      <pc:sldChg chg="modSp add mod modNotesTx">
        <pc:chgData name="Barros, Arthur@Wildlife" userId="13f56b0b-3529-4413-b3c2-bd9e153a9954" providerId="ADAL" clId="{83F66843-D3E2-4209-914A-087BF0EB956C}" dt="2026-06-10T16:13:54.452" v="21301" actId="20577"/>
        <pc:sldMkLst>
          <pc:docMk/>
          <pc:sldMk cId="2003766595" sldId="314"/>
        </pc:sldMkLst>
        <pc:spChg chg="mod">
          <ac:chgData name="Barros, Arthur@Wildlife" userId="13f56b0b-3529-4413-b3c2-bd9e153a9954" providerId="ADAL" clId="{83F66843-D3E2-4209-914A-087BF0EB956C}" dt="2026-06-02T17:32:40.028" v="16599" actId="20577"/>
          <ac:spMkLst>
            <pc:docMk/>
            <pc:sldMk cId="2003766595" sldId="314"/>
            <ac:spMk id="8" creationId="{8D1B0C58-74E9-AD34-4E08-1BCCE22C0C8D}"/>
          </ac:spMkLst>
        </pc:spChg>
        <pc:spChg chg="mod">
          <ac:chgData name="Barros, Arthur@Wildlife" userId="13f56b0b-3529-4413-b3c2-bd9e153a9954" providerId="ADAL" clId="{83F66843-D3E2-4209-914A-087BF0EB956C}" dt="2026-06-02T17:14:28.887" v="15945" actId="1076"/>
          <ac:spMkLst>
            <pc:docMk/>
            <pc:sldMk cId="2003766595" sldId="314"/>
            <ac:spMk id="55" creationId="{2E662AC1-51AE-BB06-B528-0D9644514645}"/>
          </ac:spMkLst>
        </pc:spChg>
        <pc:spChg chg="mod">
          <ac:chgData name="Barros, Arthur@Wildlife" userId="13f56b0b-3529-4413-b3c2-bd9e153a9954" providerId="ADAL" clId="{83F66843-D3E2-4209-914A-087BF0EB956C}" dt="2026-06-02T17:14:50.644" v="15950" actId="20577"/>
          <ac:spMkLst>
            <pc:docMk/>
            <pc:sldMk cId="2003766595" sldId="314"/>
            <ac:spMk id="56" creationId="{16D70486-FB67-A0FA-D6CB-A987BAA73CE4}"/>
          </ac:spMkLst>
        </pc:spChg>
        <pc:cxnChg chg="mod">
          <ac:chgData name="Barros, Arthur@Wildlife" userId="13f56b0b-3529-4413-b3c2-bd9e153a9954" providerId="ADAL" clId="{83F66843-D3E2-4209-914A-087BF0EB956C}" dt="2026-06-02T21:01:36.710" v="18777" actId="14100"/>
          <ac:cxnSpMkLst>
            <pc:docMk/>
            <pc:sldMk cId="2003766595" sldId="314"/>
            <ac:cxnSpMk id="34" creationId="{7C26514F-0D08-891F-0353-A02795CDC034}"/>
          </ac:cxnSpMkLst>
        </pc:cxnChg>
        <pc:cxnChg chg="mod">
          <ac:chgData name="Barros, Arthur@Wildlife" userId="13f56b0b-3529-4413-b3c2-bd9e153a9954" providerId="ADAL" clId="{83F66843-D3E2-4209-914A-087BF0EB956C}" dt="2026-06-02T21:19:41.211" v="18780" actId="1038"/>
          <ac:cxnSpMkLst>
            <pc:docMk/>
            <pc:sldMk cId="2003766595" sldId="314"/>
            <ac:cxnSpMk id="37" creationId="{89C4664B-8EE2-F6BD-C3E1-4F4DBBDE5D61}"/>
          </ac:cxnSpMkLst>
        </pc:cxnChg>
        <pc:cxnChg chg="mod">
          <ac:chgData name="Barros, Arthur@Wildlife" userId="13f56b0b-3529-4413-b3c2-bd9e153a9954" providerId="ADAL" clId="{83F66843-D3E2-4209-914A-087BF0EB956C}" dt="2026-06-02T17:12:41.132" v="15922" actId="1076"/>
          <ac:cxnSpMkLst>
            <pc:docMk/>
            <pc:sldMk cId="2003766595" sldId="314"/>
            <ac:cxnSpMk id="41" creationId="{83B9EA13-AF3A-CC1F-2748-047ABF23F6DC}"/>
          </ac:cxnSpMkLst>
        </pc:cxnChg>
      </pc:sldChg>
      <pc:sldChg chg="addSp delSp modSp add mod modNotesTx">
        <pc:chgData name="Barros, Arthur@Wildlife" userId="13f56b0b-3529-4413-b3c2-bd9e153a9954" providerId="ADAL" clId="{83F66843-D3E2-4209-914A-087BF0EB956C}" dt="2026-06-11T20:22:13.613" v="25801" actId="20577"/>
        <pc:sldMkLst>
          <pc:docMk/>
          <pc:sldMk cId="1411648017" sldId="315"/>
        </pc:sldMkLst>
        <pc:spChg chg="mod">
          <ac:chgData name="Barros, Arthur@Wildlife" userId="13f56b0b-3529-4413-b3c2-bd9e153a9954" providerId="ADAL" clId="{83F66843-D3E2-4209-914A-087BF0EB956C}" dt="2026-06-02T19:25:28.315" v="17751" actId="14100"/>
          <ac:spMkLst>
            <pc:docMk/>
            <pc:sldMk cId="1411648017" sldId="315"/>
            <ac:spMk id="8" creationId="{24E5A3DA-8DB3-1C15-EA4B-A4F4F8791A5B}"/>
          </ac:spMkLst>
        </pc:spChg>
        <pc:picChg chg="add mod ord modCrop">
          <ac:chgData name="Barros, Arthur@Wildlife" userId="13f56b0b-3529-4413-b3c2-bd9e153a9954" providerId="ADAL" clId="{83F66843-D3E2-4209-914A-087BF0EB956C}" dt="2026-06-10T16:25:22.541" v="21876" actId="1076"/>
          <ac:picMkLst>
            <pc:docMk/>
            <pc:sldMk cId="1411648017" sldId="315"/>
            <ac:picMk id="10" creationId="{21B20991-19C3-0F11-25F9-8C5F0AEFC374}"/>
          </ac:picMkLst>
        </pc:picChg>
      </pc:sldChg>
      <pc:sldChg chg="modSp add mod modNotesTx">
        <pc:chgData name="Barros, Arthur@Wildlife" userId="13f56b0b-3529-4413-b3c2-bd9e153a9954" providerId="ADAL" clId="{83F66843-D3E2-4209-914A-087BF0EB956C}" dt="2026-06-11T20:35:14.368" v="26795" actId="20577"/>
        <pc:sldMkLst>
          <pc:docMk/>
          <pc:sldMk cId="123010028" sldId="316"/>
        </pc:sldMkLst>
        <pc:spChg chg="mod">
          <ac:chgData name="Barros, Arthur@Wildlife" userId="13f56b0b-3529-4413-b3c2-bd9e153a9954" providerId="ADAL" clId="{83F66843-D3E2-4209-914A-087BF0EB956C}" dt="2026-06-11T20:29:45.618" v="26098" actId="20577"/>
          <ac:spMkLst>
            <pc:docMk/>
            <pc:sldMk cId="123010028" sldId="316"/>
            <ac:spMk id="2" creationId="{7E70A97B-CC45-4F0B-34FD-D503D10AFE9C}"/>
          </ac:spMkLst>
        </pc:spChg>
        <pc:spChg chg="mod">
          <ac:chgData name="Barros, Arthur@Wildlife" userId="13f56b0b-3529-4413-b3c2-bd9e153a9954" providerId="ADAL" clId="{83F66843-D3E2-4209-914A-087BF0EB956C}" dt="2026-06-10T16:32:16.254" v="21878" actId="1036"/>
          <ac:spMkLst>
            <pc:docMk/>
            <pc:sldMk cId="123010028" sldId="316"/>
            <ac:spMk id="8" creationId="{859407D9-E196-669B-B0EB-9AC36D17B452}"/>
          </ac:spMkLst>
        </pc:spChg>
      </pc:sldChg>
      <pc:sldChg chg="modSp add mod modNotesTx">
        <pc:chgData name="Barros, Arthur@Wildlife" userId="13f56b0b-3529-4413-b3c2-bd9e153a9954" providerId="ADAL" clId="{83F66843-D3E2-4209-914A-087BF0EB956C}" dt="2026-06-10T16:58:50.078" v="22982" actId="20577"/>
        <pc:sldMkLst>
          <pc:docMk/>
          <pc:sldMk cId="2552316544" sldId="318"/>
        </pc:sldMkLst>
        <pc:spChg chg="mod">
          <ac:chgData name="Barros, Arthur@Wildlife" userId="13f56b0b-3529-4413-b3c2-bd9e153a9954" providerId="ADAL" clId="{83F66843-D3E2-4209-914A-087BF0EB956C}" dt="2026-06-02T20:33:29.169" v="18550" actId="20577"/>
          <ac:spMkLst>
            <pc:docMk/>
            <pc:sldMk cId="2552316544" sldId="318"/>
            <ac:spMk id="2" creationId="{8E815B92-B78A-4970-429E-1FCA8CFA00DE}"/>
          </ac:spMkLst>
        </pc:spChg>
        <pc:spChg chg="mod">
          <ac:chgData name="Barros, Arthur@Wildlife" userId="13f56b0b-3529-4413-b3c2-bd9e153a9954" providerId="ADAL" clId="{83F66843-D3E2-4209-914A-087BF0EB956C}" dt="2026-06-02T19:26:18.499" v="17793" actId="20577"/>
          <ac:spMkLst>
            <pc:docMk/>
            <pc:sldMk cId="2552316544" sldId="318"/>
            <ac:spMk id="8" creationId="{C8BCE446-D769-2750-A87E-799EE21F3E8A}"/>
          </ac:spMkLst>
        </pc:spChg>
      </pc:sldChg>
      <pc:sldChg chg="modSp add mod modNotesTx">
        <pc:chgData name="Barros, Arthur@Wildlife" userId="13f56b0b-3529-4413-b3c2-bd9e153a9954" providerId="ADAL" clId="{83F66843-D3E2-4209-914A-087BF0EB956C}" dt="2026-06-11T20:41:53.719" v="26962" actId="20577"/>
        <pc:sldMkLst>
          <pc:docMk/>
          <pc:sldMk cId="1715738636" sldId="319"/>
        </pc:sldMkLst>
        <pc:spChg chg="mod">
          <ac:chgData name="Barros, Arthur@Wildlife" userId="13f56b0b-3529-4413-b3c2-bd9e153a9954" providerId="ADAL" clId="{83F66843-D3E2-4209-914A-087BF0EB956C}" dt="2026-06-10T17:20:02.341" v="23431" actId="20577"/>
          <ac:spMkLst>
            <pc:docMk/>
            <pc:sldMk cId="1715738636" sldId="319"/>
            <ac:spMk id="2" creationId="{1CC809F9-0B3A-40C5-42B9-ED291F799943}"/>
          </ac:spMkLst>
        </pc:spChg>
        <pc:spChg chg="mod">
          <ac:chgData name="Barros, Arthur@Wildlife" userId="13f56b0b-3529-4413-b3c2-bd9e153a9954" providerId="ADAL" clId="{83F66843-D3E2-4209-914A-087BF0EB956C}" dt="2026-06-02T20:33:48.408" v="18583" actId="20577"/>
          <ac:spMkLst>
            <pc:docMk/>
            <pc:sldMk cId="1715738636" sldId="319"/>
            <ac:spMk id="8" creationId="{2FD9E3DA-DF11-4FD6-8D5E-2C5F39ECDD16}"/>
          </ac:spMkLst>
        </pc:spChg>
      </pc:sldChg>
      <pc:sldChg chg="modSp add mod modNotesTx">
        <pc:chgData name="Barros, Arthur@Wildlife" userId="13f56b0b-3529-4413-b3c2-bd9e153a9954" providerId="ADAL" clId="{83F66843-D3E2-4209-914A-087BF0EB956C}" dt="2026-06-10T17:21:48.902" v="23710" actId="20577"/>
        <pc:sldMkLst>
          <pc:docMk/>
          <pc:sldMk cId="2472177964" sldId="320"/>
        </pc:sldMkLst>
        <pc:spChg chg="mod">
          <ac:chgData name="Barros, Arthur@Wildlife" userId="13f56b0b-3529-4413-b3c2-bd9e153a9954" providerId="ADAL" clId="{83F66843-D3E2-4209-914A-087BF0EB956C}" dt="2026-06-10T17:21:48.902" v="23710" actId="20577"/>
          <ac:spMkLst>
            <pc:docMk/>
            <pc:sldMk cId="2472177964" sldId="320"/>
            <ac:spMk id="2" creationId="{E9E2B0DF-826B-B60C-6B8F-F81E63CE64B8}"/>
          </ac:spMkLst>
        </pc:spChg>
        <pc:spChg chg="mod">
          <ac:chgData name="Barros, Arthur@Wildlife" userId="13f56b0b-3529-4413-b3c2-bd9e153a9954" providerId="ADAL" clId="{83F66843-D3E2-4209-914A-087BF0EB956C}" dt="2026-06-02T20:42:05.447" v="18767" actId="20577"/>
          <ac:spMkLst>
            <pc:docMk/>
            <pc:sldMk cId="2472177964" sldId="320"/>
            <ac:spMk id="8" creationId="{6149A78A-9BF4-AA7A-19B9-599BB362ED62}"/>
          </ac:spMkLst>
        </pc:spChg>
      </pc:sldChg>
      <pc:sldChg chg="modSp add mod modNotesTx">
        <pc:chgData name="Barros, Arthur@Wildlife" userId="13f56b0b-3529-4413-b3c2-bd9e153a9954" providerId="ADAL" clId="{83F66843-D3E2-4209-914A-087BF0EB956C}" dt="2026-06-10T16:22:51.301" v="21874" actId="20577"/>
        <pc:sldMkLst>
          <pc:docMk/>
          <pc:sldMk cId="803630148" sldId="321"/>
        </pc:sldMkLst>
        <pc:spChg chg="mod">
          <ac:chgData name="Barros, Arthur@Wildlife" userId="13f56b0b-3529-4413-b3c2-bd9e153a9954" providerId="ADAL" clId="{83F66843-D3E2-4209-914A-087BF0EB956C}" dt="2026-06-10T16:22:14.165" v="21847" actId="14"/>
          <ac:spMkLst>
            <pc:docMk/>
            <pc:sldMk cId="803630148" sldId="321"/>
            <ac:spMk id="2" creationId="{60EA6CAD-A323-89D3-164E-FC5297E5FA7E}"/>
          </ac:spMkLst>
        </pc:spChg>
        <pc:spChg chg="mod">
          <ac:chgData name="Barros, Arthur@Wildlife" userId="13f56b0b-3529-4413-b3c2-bd9e153a9954" providerId="ADAL" clId="{83F66843-D3E2-4209-914A-087BF0EB956C}" dt="2026-06-10T16:22:51.301" v="21874" actId="20577"/>
          <ac:spMkLst>
            <pc:docMk/>
            <pc:sldMk cId="803630148" sldId="321"/>
            <ac:spMk id="8" creationId="{E7535E4E-6499-1387-762D-EE4D2E3FB674}"/>
          </ac:spMkLst>
        </pc:spChg>
      </pc:sldChg>
      <pc:sldChg chg="addSp modSp add mod modNotesTx">
        <pc:chgData name="Barros, Arthur@Wildlife" userId="13f56b0b-3529-4413-b3c2-bd9e153a9954" providerId="ADAL" clId="{83F66843-D3E2-4209-914A-087BF0EB956C}" dt="2026-06-11T19:59:35.693" v="24893" actId="20577"/>
        <pc:sldMkLst>
          <pc:docMk/>
          <pc:sldMk cId="2210038522" sldId="322"/>
        </pc:sldMkLst>
        <pc:spChg chg="mod">
          <ac:chgData name="Barros, Arthur@Wildlife" userId="13f56b0b-3529-4413-b3c2-bd9e153a9954" providerId="ADAL" clId="{83F66843-D3E2-4209-914A-087BF0EB956C}" dt="2026-06-11T19:59:35.693" v="24893" actId="20577"/>
          <ac:spMkLst>
            <pc:docMk/>
            <pc:sldMk cId="2210038522" sldId="322"/>
            <ac:spMk id="2" creationId="{D9A7351F-FC67-1164-8877-CA0BBF5F6026}"/>
          </ac:spMkLst>
        </pc:spChg>
        <pc:spChg chg="add mod">
          <ac:chgData name="Barros, Arthur@Wildlife" userId="13f56b0b-3529-4413-b3c2-bd9e153a9954" providerId="ADAL" clId="{83F66843-D3E2-4209-914A-087BF0EB956C}" dt="2026-06-10T19:24:03.280" v="24103" actId="20577"/>
          <ac:spMkLst>
            <pc:docMk/>
            <pc:sldMk cId="2210038522" sldId="322"/>
            <ac:spMk id="4" creationId="{0B428C10-738D-4282-F6FB-8E16B7EA37BE}"/>
          </ac:spMkLst>
        </pc:spChg>
        <pc:spChg chg="add mod">
          <ac:chgData name="Barros, Arthur@Wildlife" userId="13f56b0b-3529-4413-b3c2-bd9e153a9954" providerId="ADAL" clId="{83F66843-D3E2-4209-914A-087BF0EB956C}" dt="2026-06-10T19:31:48.183" v="24395" actId="1076"/>
          <ac:spMkLst>
            <pc:docMk/>
            <pc:sldMk cId="2210038522" sldId="322"/>
            <ac:spMk id="6" creationId="{085D3645-0D4C-3CF3-50E1-EA638391A168}"/>
          </ac:spMkLst>
        </pc:spChg>
        <pc:spChg chg="mod">
          <ac:chgData name="Barros, Arthur@Wildlife" userId="13f56b0b-3529-4413-b3c2-bd9e153a9954" providerId="ADAL" clId="{83F66843-D3E2-4209-914A-087BF0EB956C}" dt="2026-06-10T17:22:15.307" v="23751" actId="20577"/>
          <ac:spMkLst>
            <pc:docMk/>
            <pc:sldMk cId="2210038522" sldId="322"/>
            <ac:spMk id="8" creationId="{A70DCF8D-CA18-837D-6D0C-C6A79773D440}"/>
          </ac:spMkLst>
        </pc:spChg>
        <pc:picChg chg="add mod">
          <ac:chgData name="Barros, Arthur@Wildlife" userId="13f56b0b-3529-4413-b3c2-bd9e153a9954" providerId="ADAL" clId="{83F66843-D3E2-4209-914A-087BF0EB956C}" dt="2026-06-10T19:31:34.529" v="24389" actId="1076"/>
          <ac:picMkLst>
            <pc:docMk/>
            <pc:sldMk cId="2210038522" sldId="322"/>
            <ac:picMk id="3" creationId="{41151FD2-C6C5-638B-C8B4-7CE4B1FBBEE0}"/>
          </ac:picMkLst>
        </pc:picChg>
      </pc:sldChg>
      <pc:sldChg chg="addSp delSp modSp add del mod setBg">
        <pc:chgData name="Barros, Arthur@Wildlife" userId="13f56b0b-3529-4413-b3c2-bd9e153a9954" providerId="ADAL" clId="{83F66843-D3E2-4209-914A-087BF0EB956C}" dt="2026-06-10T20:05:51.789" v="24519" actId="47"/>
        <pc:sldMkLst>
          <pc:docMk/>
          <pc:sldMk cId="3681227142" sldId="323"/>
        </pc:sldMkLst>
      </pc:sldChg>
      <pc:sldChg chg="modSp add del mod">
        <pc:chgData name="Barros, Arthur@Wildlife" userId="13f56b0b-3529-4413-b3c2-bd9e153a9954" providerId="ADAL" clId="{83F66843-D3E2-4209-914A-087BF0EB956C}" dt="2026-06-10T19:57:23.225" v="24516" actId="47"/>
        <pc:sldMkLst>
          <pc:docMk/>
          <pc:sldMk cId="2372654902" sldId="324"/>
        </pc:sldMkLst>
      </pc:sldChg>
      <pc:sldChg chg="delSp modSp add mod">
        <pc:chgData name="Barros, Arthur@Wildlife" userId="13f56b0b-3529-4413-b3c2-bd9e153a9954" providerId="ADAL" clId="{83F66843-D3E2-4209-914A-087BF0EB956C}" dt="2026-06-11T20:50:05.082" v="27115" actId="20577"/>
        <pc:sldMkLst>
          <pc:docMk/>
          <pc:sldMk cId="2654124860" sldId="324"/>
        </pc:sldMkLst>
        <pc:spChg chg="del mod">
          <ac:chgData name="Barros, Arthur@Wildlife" userId="13f56b0b-3529-4413-b3c2-bd9e153a9954" providerId="ADAL" clId="{83F66843-D3E2-4209-914A-087BF0EB956C}" dt="2026-06-11T20:45:44.110" v="26969" actId="478"/>
          <ac:spMkLst>
            <pc:docMk/>
            <pc:sldMk cId="2654124860" sldId="324"/>
            <ac:spMk id="4" creationId="{E36683F9-A9EE-6517-8E08-1B1D69B9AD29}"/>
          </ac:spMkLst>
        </pc:spChg>
        <pc:spChg chg="del mod">
          <ac:chgData name="Barros, Arthur@Wildlife" userId="13f56b0b-3529-4413-b3c2-bd9e153a9954" providerId="ADAL" clId="{83F66843-D3E2-4209-914A-087BF0EB956C}" dt="2026-06-11T20:45:44.110" v="26969" actId="478"/>
          <ac:spMkLst>
            <pc:docMk/>
            <pc:sldMk cId="2654124860" sldId="324"/>
            <ac:spMk id="7" creationId="{ED7785A9-2E8E-FC3D-F68C-10D0953B9AC0}"/>
          </ac:spMkLst>
        </pc:spChg>
        <pc:spChg chg="mod">
          <ac:chgData name="Barros, Arthur@Wildlife" userId="13f56b0b-3529-4413-b3c2-bd9e153a9954" providerId="ADAL" clId="{83F66843-D3E2-4209-914A-087BF0EB956C}" dt="2026-06-11T20:46:47.233" v="26986" actId="1076"/>
          <ac:spMkLst>
            <pc:docMk/>
            <pc:sldMk cId="2654124860" sldId="324"/>
            <ac:spMk id="8" creationId="{013C255A-E590-2EA6-EE41-60F9409803E2}"/>
          </ac:spMkLst>
        </pc:spChg>
        <pc:spChg chg="mod">
          <ac:chgData name="Barros, Arthur@Wildlife" userId="13f56b0b-3529-4413-b3c2-bd9e153a9954" providerId="ADAL" clId="{83F66843-D3E2-4209-914A-087BF0EB956C}" dt="2026-06-11T20:46:36.256" v="26984" actId="1076"/>
          <ac:spMkLst>
            <pc:docMk/>
            <pc:sldMk cId="2654124860" sldId="324"/>
            <ac:spMk id="33" creationId="{AB8609C3-7AF2-7167-664A-7CA36F2C6350}"/>
          </ac:spMkLst>
        </pc:spChg>
        <pc:spChg chg="del">
          <ac:chgData name="Barros, Arthur@Wildlife" userId="13f56b0b-3529-4413-b3c2-bd9e153a9954" providerId="ADAL" clId="{83F66843-D3E2-4209-914A-087BF0EB956C}" dt="2026-06-11T20:45:44.110" v="26969" actId="478"/>
          <ac:spMkLst>
            <pc:docMk/>
            <pc:sldMk cId="2654124860" sldId="324"/>
            <ac:spMk id="35" creationId="{866B9B85-EF61-CF74-3EC0-1E0DD8AF5B3F}"/>
          </ac:spMkLst>
        </pc:spChg>
        <pc:spChg chg="del">
          <ac:chgData name="Barros, Arthur@Wildlife" userId="13f56b0b-3529-4413-b3c2-bd9e153a9954" providerId="ADAL" clId="{83F66843-D3E2-4209-914A-087BF0EB956C}" dt="2026-06-11T20:45:44.110" v="26969" actId="478"/>
          <ac:spMkLst>
            <pc:docMk/>
            <pc:sldMk cId="2654124860" sldId="324"/>
            <ac:spMk id="36" creationId="{A80CE8DA-DD15-23F3-9ED9-66A51C25E3D2}"/>
          </ac:spMkLst>
        </pc:spChg>
        <pc:spChg chg="mod">
          <ac:chgData name="Barros, Arthur@Wildlife" userId="13f56b0b-3529-4413-b3c2-bd9e153a9954" providerId="ADAL" clId="{83F66843-D3E2-4209-914A-087BF0EB956C}" dt="2026-06-11T20:46:47.233" v="26986" actId="1076"/>
          <ac:spMkLst>
            <pc:docMk/>
            <pc:sldMk cId="2654124860" sldId="324"/>
            <ac:spMk id="39" creationId="{A88DC0AA-6520-A0A7-AF3F-DA8E483A7491}"/>
          </ac:spMkLst>
        </pc:spChg>
        <pc:spChg chg="mod">
          <ac:chgData name="Barros, Arthur@Wildlife" userId="13f56b0b-3529-4413-b3c2-bd9e153a9954" providerId="ADAL" clId="{83F66843-D3E2-4209-914A-087BF0EB956C}" dt="2026-06-11T20:46:47.233" v="26986" actId="1076"/>
          <ac:spMkLst>
            <pc:docMk/>
            <pc:sldMk cId="2654124860" sldId="324"/>
            <ac:spMk id="47" creationId="{91CE7CBF-A4AD-1AAF-CC6A-D197116BB632}"/>
          </ac:spMkLst>
        </pc:spChg>
        <pc:spChg chg="del">
          <ac:chgData name="Barros, Arthur@Wildlife" userId="13f56b0b-3529-4413-b3c2-bd9e153a9954" providerId="ADAL" clId="{83F66843-D3E2-4209-914A-087BF0EB956C}" dt="2026-06-11T20:45:44.110" v="26969" actId="478"/>
          <ac:spMkLst>
            <pc:docMk/>
            <pc:sldMk cId="2654124860" sldId="324"/>
            <ac:spMk id="52" creationId="{E2901F6E-213D-FEFF-A65E-DEB234A2311E}"/>
          </ac:spMkLst>
        </pc:spChg>
        <pc:spChg chg="del">
          <ac:chgData name="Barros, Arthur@Wildlife" userId="13f56b0b-3529-4413-b3c2-bd9e153a9954" providerId="ADAL" clId="{83F66843-D3E2-4209-914A-087BF0EB956C}" dt="2026-06-11T20:45:45.975" v="26970" actId="478"/>
          <ac:spMkLst>
            <pc:docMk/>
            <pc:sldMk cId="2654124860" sldId="324"/>
            <ac:spMk id="53" creationId="{A8C92B2A-C1D9-6DEB-9A33-BC56A91200BC}"/>
          </ac:spMkLst>
        </pc:spChg>
        <pc:spChg chg="mod">
          <ac:chgData name="Barros, Arthur@Wildlife" userId="13f56b0b-3529-4413-b3c2-bd9e153a9954" providerId="ADAL" clId="{83F66843-D3E2-4209-914A-087BF0EB956C}" dt="2026-06-11T20:45:59.039" v="26971" actId="1076"/>
          <ac:spMkLst>
            <pc:docMk/>
            <pc:sldMk cId="2654124860" sldId="324"/>
            <ac:spMk id="66" creationId="{6DCB8B06-2552-B25B-6C32-9F065085B7DD}"/>
          </ac:spMkLst>
        </pc:spChg>
        <pc:spChg chg="mod">
          <ac:chgData name="Barros, Arthur@Wildlife" userId="13f56b0b-3529-4413-b3c2-bd9e153a9954" providerId="ADAL" clId="{83F66843-D3E2-4209-914A-087BF0EB956C}" dt="2026-06-11T20:46:47.233" v="26986" actId="1076"/>
          <ac:spMkLst>
            <pc:docMk/>
            <pc:sldMk cId="2654124860" sldId="324"/>
            <ac:spMk id="67" creationId="{234FD7B0-5778-9C4A-DC18-1C9044E9044F}"/>
          </ac:spMkLst>
        </pc:spChg>
        <pc:spChg chg="mod">
          <ac:chgData name="Barros, Arthur@Wildlife" userId="13f56b0b-3529-4413-b3c2-bd9e153a9954" providerId="ADAL" clId="{83F66843-D3E2-4209-914A-087BF0EB956C}" dt="2026-06-11T20:45:59.039" v="26971" actId="1076"/>
          <ac:spMkLst>
            <pc:docMk/>
            <pc:sldMk cId="2654124860" sldId="324"/>
            <ac:spMk id="69" creationId="{E3EBA379-00A8-82F1-0883-98C5089E97A4}"/>
          </ac:spMkLst>
        </pc:spChg>
        <pc:spChg chg="mod">
          <ac:chgData name="Barros, Arthur@Wildlife" userId="13f56b0b-3529-4413-b3c2-bd9e153a9954" providerId="ADAL" clId="{83F66843-D3E2-4209-914A-087BF0EB956C}" dt="2026-06-11T19:16:32.933" v="24523" actId="20577"/>
          <ac:spMkLst>
            <pc:docMk/>
            <pc:sldMk cId="2654124860" sldId="324"/>
            <ac:spMk id="70" creationId="{7A7C0044-04E9-0D8E-94E2-B70A0C99482A}"/>
          </ac:spMkLst>
        </pc:spChg>
        <pc:spChg chg="del mod">
          <ac:chgData name="Barros, Arthur@Wildlife" userId="13f56b0b-3529-4413-b3c2-bd9e153a9954" providerId="ADAL" clId="{83F66843-D3E2-4209-914A-087BF0EB956C}" dt="2026-06-11T20:45:44.110" v="26969" actId="478"/>
          <ac:spMkLst>
            <pc:docMk/>
            <pc:sldMk cId="2654124860" sldId="324"/>
            <ac:spMk id="71" creationId="{AD4183FF-CC44-2475-2DF4-27103E9473AB}"/>
          </ac:spMkLst>
        </pc:spChg>
        <pc:spChg chg="del mod">
          <ac:chgData name="Barros, Arthur@Wildlife" userId="13f56b0b-3529-4413-b3c2-bd9e153a9954" providerId="ADAL" clId="{83F66843-D3E2-4209-914A-087BF0EB956C}" dt="2026-06-11T20:45:45.975" v="26970" actId="478"/>
          <ac:spMkLst>
            <pc:docMk/>
            <pc:sldMk cId="2654124860" sldId="324"/>
            <ac:spMk id="72" creationId="{4B3388FC-0175-596C-6E69-F4DA8764D9EC}"/>
          </ac:spMkLst>
        </pc:spChg>
        <pc:spChg chg="mod">
          <ac:chgData name="Barros, Arthur@Wildlife" userId="13f56b0b-3529-4413-b3c2-bd9e153a9954" providerId="ADAL" clId="{83F66843-D3E2-4209-914A-087BF0EB956C}" dt="2026-06-11T20:46:47.233" v="26986" actId="1076"/>
          <ac:spMkLst>
            <pc:docMk/>
            <pc:sldMk cId="2654124860" sldId="324"/>
            <ac:spMk id="73" creationId="{41FB7D1A-1D9C-616A-1D8E-2C72E3CB5CB0}"/>
          </ac:spMkLst>
        </pc:spChg>
        <pc:spChg chg="mod">
          <ac:chgData name="Barros, Arthur@Wildlife" userId="13f56b0b-3529-4413-b3c2-bd9e153a9954" providerId="ADAL" clId="{83F66843-D3E2-4209-914A-087BF0EB956C}" dt="2026-06-11T20:50:05.082" v="27115" actId="20577"/>
          <ac:spMkLst>
            <pc:docMk/>
            <pc:sldMk cId="2654124860" sldId="324"/>
            <ac:spMk id="74" creationId="{A867D805-7B23-77C9-757D-8563412B1C14}"/>
          </ac:spMkLst>
        </pc:spChg>
        <pc:spChg chg="del mod">
          <ac:chgData name="Barros, Arthur@Wildlife" userId="13f56b0b-3529-4413-b3c2-bd9e153a9954" providerId="ADAL" clId="{83F66843-D3E2-4209-914A-087BF0EB956C}" dt="2026-06-11T20:45:44.110" v="26969" actId="478"/>
          <ac:spMkLst>
            <pc:docMk/>
            <pc:sldMk cId="2654124860" sldId="324"/>
            <ac:spMk id="75" creationId="{3ABE6471-ECF3-ADE1-3B87-02711D772277}"/>
          </ac:spMkLst>
        </pc:spChg>
        <pc:spChg chg="mod">
          <ac:chgData name="Barros, Arthur@Wildlife" userId="13f56b0b-3529-4413-b3c2-bd9e153a9954" providerId="ADAL" clId="{83F66843-D3E2-4209-914A-087BF0EB956C}" dt="2026-06-11T20:45:59.039" v="26971" actId="1076"/>
          <ac:spMkLst>
            <pc:docMk/>
            <pc:sldMk cId="2654124860" sldId="324"/>
            <ac:spMk id="79" creationId="{A4AC0269-DC22-F212-20D7-62154B736F58}"/>
          </ac:spMkLst>
        </pc:spChg>
        <pc:spChg chg="del">
          <ac:chgData name="Barros, Arthur@Wildlife" userId="13f56b0b-3529-4413-b3c2-bd9e153a9954" providerId="ADAL" clId="{83F66843-D3E2-4209-914A-087BF0EB956C}" dt="2026-06-11T20:45:44.110" v="26969" actId="478"/>
          <ac:spMkLst>
            <pc:docMk/>
            <pc:sldMk cId="2654124860" sldId="324"/>
            <ac:spMk id="80" creationId="{AB25CAD3-8A3C-3090-BAB3-B26B188A95AA}"/>
          </ac:spMkLst>
        </pc:spChg>
        <pc:spChg chg="del">
          <ac:chgData name="Barros, Arthur@Wildlife" userId="13f56b0b-3529-4413-b3c2-bd9e153a9954" providerId="ADAL" clId="{83F66843-D3E2-4209-914A-087BF0EB956C}" dt="2026-06-11T20:45:44.110" v="26969" actId="478"/>
          <ac:spMkLst>
            <pc:docMk/>
            <pc:sldMk cId="2654124860" sldId="324"/>
            <ac:spMk id="81" creationId="{CA675F60-272E-79BF-7568-852887B4EC20}"/>
          </ac:spMkLst>
        </pc:spChg>
        <pc:spChg chg="del">
          <ac:chgData name="Barros, Arthur@Wildlife" userId="13f56b0b-3529-4413-b3c2-bd9e153a9954" providerId="ADAL" clId="{83F66843-D3E2-4209-914A-087BF0EB956C}" dt="2026-06-11T20:45:44.110" v="26969" actId="478"/>
          <ac:spMkLst>
            <pc:docMk/>
            <pc:sldMk cId="2654124860" sldId="324"/>
            <ac:spMk id="82" creationId="{CC56087E-A7AE-CE6E-CD35-6FA25C229B2B}"/>
          </ac:spMkLst>
        </pc:spChg>
        <pc:spChg chg="mod">
          <ac:chgData name="Barros, Arthur@Wildlife" userId="13f56b0b-3529-4413-b3c2-bd9e153a9954" providerId="ADAL" clId="{83F66843-D3E2-4209-914A-087BF0EB956C}" dt="2026-06-11T20:46:47.233" v="26986" actId="1076"/>
          <ac:spMkLst>
            <pc:docMk/>
            <pc:sldMk cId="2654124860" sldId="324"/>
            <ac:spMk id="88" creationId="{5F174F32-4059-51BB-2F50-04FD42AFEECE}"/>
          </ac:spMkLst>
        </pc:spChg>
        <pc:grpChg chg="mod">
          <ac:chgData name="Barros, Arthur@Wildlife" userId="13f56b0b-3529-4413-b3c2-bd9e153a9954" providerId="ADAL" clId="{83F66843-D3E2-4209-914A-087BF0EB956C}" dt="2026-06-11T20:45:59.039" v="26971" actId="1076"/>
          <ac:grpSpMkLst>
            <pc:docMk/>
            <pc:sldMk cId="2654124860" sldId="324"/>
            <ac:grpSpMk id="5" creationId="{8730E3B4-099F-7D2D-2622-7FA7C4021F2A}"/>
          </ac:grpSpMkLst>
        </pc:grpChg>
        <pc:cxnChg chg="del">
          <ac:chgData name="Barros, Arthur@Wildlife" userId="13f56b0b-3529-4413-b3c2-bd9e153a9954" providerId="ADAL" clId="{83F66843-D3E2-4209-914A-087BF0EB956C}" dt="2026-06-11T20:46:01.294" v="26972" actId="478"/>
          <ac:cxnSpMkLst>
            <pc:docMk/>
            <pc:sldMk cId="2654124860" sldId="324"/>
            <ac:cxnSpMk id="40" creationId="{4D55AA89-4C5E-1922-AAC0-B214B9CB9F88}"/>
          </ac:cxnSpMkLst>
        </pc:cxnChg>
        <pc:cxnChg chg="mod">
          <ac:chgData name="Barros, Arthur@Wildlife" userId="13f56b0b-3529-4413-b3c2-bd9e153a9954" providerId="ADAL" clId="{83F66843-D3E2-4209-914A-087BF0EB956C}" dt="2026-06-11T20:45:59.039" v="26971" actId="1076"/>
          <ac:cxnSpMkLst>
            <pc:docMk/>
            <pc:sldMk cId="2654124860" sldId="324"/>
            <ac:cxnSpMk id="41" creationId="{836ED99D-9B56-73CC-EFAD-D50BB425A7B7}"/>
          </ac:cxnSpMkLst>
        </pc:cxnChg>
      </pc:sldChg>
      <pc:sldChg chg="modSp add mod modNotesTx">
        <pc:chgData name="Barros, Arthur@Wildlife" userId="13f56b0b-3529-4413-b3c2-bd9e153a9954" providerId="ADAL" clId="{83F66843-D3E2-4209-914A-087BF0EB956C}" dt="2026-06-11T20:47:59.209" v="27096" actId="20577"/>
        <pc:sldMkLst>
          <pc:docMk/>
          <pc:sldMk cId="1294946980" sldId="325"/>
        </pc:sldMkLst>
        <pc:spChg chg="mod">
          <ac:chgData name="Barros, Arthur@Wildlife" userId="13f56b0b-3529-4413-b3c2-bd9e153a9954" providerId="ADAL" clId="{83F66843-D3E2-4209-914A-087BF0EB956C}" dt="2026-06-11T20:47:59.209" v="27096" actId="20577"/>
          <ac:spMkLst>
            <pc:docMk/>
            <pc:sldMk cId="1294946980" sldId="325"/>
            <ac:spMk id="2" creationId="{AB51DBB3-E48F-9B8E-0ED7-2B8B452D500C}"/>
          </ac:spMkLst>
        </pc:spChg>
        <pc:spChg chg="mod">
          <ac:chgData name="Barros, Arthur@Wildlife" userId="13f56b0b-3529-4413-b3c2-bd9e153a9954" providerId="ADAL" clId="{83F66843-D3E2-4209-914A-087BF0EB956C}" dt="2026-06-11T19:18:44.532" v="24565" actId="20577"/>
          <ac:spMkLst>
            <pc:docMk/>
            <pc:sldMk cId="1294946980" sldId="325"/>
            <ac:spMk id="8" creationId="{BC518BEF-5798-65A6-1D03-7240239D61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85E647-1A48-4004-85C5-C76C6BC393FB}"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B4CF9-28FA-4E34-9255-0C7CD920B36F}" type="slidenum">
              <a:rPr lang="en-US" smtClean="0"/>
              <a:t>‹#›</a:t>
            </a:fld>
            <a:endParaRPr lang="en-US"/>
          </a:p>
        </p:txBody>
      </p:sp>
    </p:spTree>
    <p:extLst>
      <p:ext uri="{BB962C8B-B14F-4D97-AF65-F5344CB8AC3E}">
        <p14:creationId xmlns:p14="http://schemas.microsoft.com/office/powerpoint/2010/main" val="228480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D60BE1-F9BF-4FF6-9ED4-6E58D1340EF8}" type="slidenum">
              <a:rPr lang="en-US" smtClean="0"/>
              <a:t>1</a:t>
            </a:fld>
            <a:endParaRPr lang="en-US" dirty="0"/>
          </a:p>
        </p:txBody>
      </p:sp>
    </p:spTree>
    <p:extLst>
      <p:ext uri="{BB962C8B-B14F-4D97-AF65-F5344CB8AC3E}">
        <p14:creationId xmlns:p14="http://schemas.microsoft.com/office/powerpoint/2010/main" val="2126430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97B7-F9AD-45C8-43A5-57B3C6DC6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4E82A-498B-892E-7953-B9D6A8915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F53E2-2278-EF3F-5305-69CA47104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BE14-371D-A651-159D-41572ECD43E3}"/>
              </a:ext>
            </a:extLst>
          </p:cNvPr>
          <p:cNvSpPr>
            <a:spLocks noGrp="1"/>
          </p:cNvSpPr>
          <p:nvPr>
            <p:ph type="sldNum" sz="quarter" idx="5"/>
          </p:nvPr>
        </p:nvSpPr>
        <p:spPr/>
        <p:txBody>
          <a:bodyPr/>
          <a:lstStyle/>
          <a:p>
            <a:fld id="{D5D60BE1-F9BF-4FF6-9ED4-6E58D1340EF8}" type="slidenum">
              <a:rPr lang="en-US" smtClean="0"/>
              <a:t>2</a:t>
            </a:fld>
            <a:endParaRPr lang="en-US" dirty="0"/>
          </a:p>
        </p:txBody>
      </p:sp>
    </p:spTree>
    <p:extLst>
      <p:ext uri="{BB962C8B-B14F-4D97-AF65-F5344CB8AC3E}">
        <p14:creationId xmlns:p14="http://schemas.microsoft.com/office/powerpoint/2010/main" val="4081138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0247-6CE3-C69D-49ED-9C308F92B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0FA4E-5043-F706-CD35-D925B6B1D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C4346-510F-161C-A10E-045EB77263CE}"/>
              </a:ext>
            </a:extLst>
          </p:cNvPr>
          <p:cNvSpPr>
            <a:spLocks noGrp="1"/>
          </p:cNvSpPr>
          <p:nvPr>
            <p:ph type="body" idx="1"/>
          </p:nvPr>
        </p:nvSpPr>
        <p:spPr/>
        <p:txBody>
          <a:bodyPr/>
          <a:lstStyle/>
          <a:p>
            <a:r>
              <a:rPr lang="en-US" dirty="0"/>
              <a:t>To set the stage and context for these efforts, we are undertaking efforts to implement age-structured cohort reconstruction to replace/compliment the Sacramento Index. One of the big challenges of this effort is accurately estimating the escapement of natural-origin </a:t>
            </a:r>
            <a:r>
              <a:rPr lang="en-US" dirty="0" err="1"/>
              <a:t>sacramento</a:t>
            </a:r>
            <a:r>
              <a:rPr lang="en-US" dirty="0"/>
              <a:t> fall-run chinook salmon for each age group. The initial question tasked with was determining how many scales we needed to collect and age to accurately produce this estimate of natural-origin fish.</a:t>
            </a:r>
          </a:p>
        </p:txBody>
      </p:sp>
      <p:sp>
        <p:nvSpPr>
          <p:cNvPr id="4" name="Slide Number Placeholder 3">
            <a:extLst>
              <a:ext uri="{FF2B5EF4-FFF2-40B4-BE49-F238E27FC236}">
                <a16:creationId xmlns:a16="http://schemas.microsoft.com/office/drawing/2014/main" id="{A174FE0A-4307-D34C-4DBF-2295732C2023}"/>
              </a:ext>
            </a:extLst>
          </p:cNvPr>
          <p:cNvSpPr>
            <a:spLocks noGrp="1"/>
          </p:cNvSpPr>
          <p:nvPr>
            <p:ph type="sldNum" sz="quarter" idx="5"/>
          </p:nvPr>
        </p:nvSpPr>
        <p:spPr/>
        <p:txBody>
          <a:bodyPr/>
          <a:lstStyle/>
          <a:p>
            <a:fld id="{D5D60BE1-F9BF-4FF6-9ED4-6E58D1340EF8}" type="slidenum">
              <a:rPr lang="en-US" smtClean="0"/>
              <a:t>3</a:t>
            </a:fld>
            <a:endParaRPr lang="en-US" dirty="0"/>
          </a:p>
        </p:txBody>
      </p:sp>
    </p:spTree>
    <p:extLst>
      <p:ext uri="{BB962C8B-B14F-4D97-AF65-F5344CB8AC3E}">
        <p14:creationId xmlns:p14="http://schemas.microsoft.com/office/powerpoint/2010/main" val="1639240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77420-A9C9-7B36-1620-E839FDC37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08445-21DE-0662-546E-A85F75A75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AE152-B27F-C6CF-0B4B-D441E2BBD015}"/>
              </a:ext>
            </a:extLst>
          </p:cNvPr>
          <p:cNvSpPr>
            <a:spLocks noGrp="1"/>
          </p:cNvSpPr>
          <p:nvPr>
            <p:ph type="body" idx="1"/>
          </p:nvPr>
        </p:nvSpPr>
        <p:spPr/>
        <p:txBody>
          <a:bodyPr/>
          <a:lstStyle/>
          <a:p>
            <a:pPr marL="0" indent="0">
              <a:buFont typeface="Arial" panose="020B0604020202020204" pitchFamily="34" charset="0"/>
              <a:buNone/>
            </a:pPr>
            <a:r>
              <a:rPr lang="en-US" dirty="0"/>
              <a:t>There are several sources of uncertainty that impact the precision and accuracy of our natural-origin escapement estimates:</a:t>
            </a:r>
          </a:p>
          <a:p>
            <a:pPr marL="171450" indent="-171450">
              <a:buFont typeface="Arial" panose="020B0604020202020204" pitchFamily="34" charset="0"/>
              <a:buChar char="•"/>
            </a:pPr>
            <a:r>
              <a:rPr lang="en-US" dirty="0"/>
              <a:t>Currently, we do not report the uncertainty of our escapement estimates. I don’t want to keep hammering on this point, but we can, and we should, be publishing this metric. This is probably the easiest update that we could implement that could have huge downstream effects for SFCS modeling efforts. Of course it’s a little beyond my influence to implement, but I think if we had a good management push we could make it happen.</a:t>
            </a:r>
          </a:p>
          <a:p>
            <a:pPr marL="171450" indent="-171450">
              <a:buFont typeface="Arial" panose="020B0604020202020204" pitchFamily="34" charset="0"/>
              <a:buChar char="•"/>
            </a:pPr>
            <a:r>
              <a:rPr lang="en-US" dirty="0"/>
              <a:t>There is inherent uncertainty in the recovery of fish at non-hatchery locations. We can’t get hands on all the fish available at to carcass or angler surveys, but increasing fish recovery rate decreases uncertainty in estimate of fish abundance and tagged fish abundance.</a:t>
            </a:r>
          </a:p>
          <a:p>
            <a:pPr marL="171450" indent="-171450">
              <a:buFont typeface="Arial" panose="020B0604020202020204" pitchFamily="34" charset="0"/>
              <a:buChar char="•"/>
            </a:pPr>
            <a:r>
              <a:rPr lang="en-US" dirty="0"/>
              <a:t>Our hatchery release tagging rate is also a source of uncertainty and increasing the tagging rate decreases uncertainty in estimate of natural-origin abundance.</a:t>
            </a:r>
          </a:p>
          <a:p>
            <a:pPr marL="171450" indent="-171450">
              <a:buFont typeface="Arial" panose="020B0604020202020204" pitchFamily="34" charset="0"/>
              <a:buChar char="•"/>
            </a:pPr>
            <a:r>
              <a:rPr lang="en-US" dirty="0"/>
              <a:t>The number of scales we select for aging also impacts the precision of our cohort estimates, so increasing scale subsampling decreases uncertainty in age estimates. This is the focus of our work here.</a:t>
            </a:r>
          </a:p>
          <a:p>
            <a:pPr marL="171450" indent="-171450">
              <a:buFont typeface="Arial" panose="020B0604020202020204" pitchFamily="34" charset="0"/>
              <a:buChar char="•"/>
            </a:pPr>
            <a:r>
              <a:rPr lang="en-US" dirty="0"/>
              <a:t>Finally, there is uncertainty in the scale aging process, which is addressed through bias correction using confusion matrices, which will not be discussed here.</a:t>
            </a:r>
          </a:p>
        </p:txBody>
      </p:sp>
      <p:sp>
        <p:nvSpPr>
          <p:cNvPr id="4" name="Slide Number Placeholder 3">
            <a:extLst>
              <a:ext uri="{FF2B5EF4-FFF2-40B4-BE49-F238E27FC236}">
                <a16:creationId xmlns:a16="http://schemas.microsoft.com/office/drawing/2014/main" id="{55381224-79D7-409E-CA82-5BDB54666BEE}"/>
              </a:ext>
            </a:extLst>
          </p:cNvPr>
          <p:cNvSpPr>
            <a:spLocks noGrp="1"/>
          </p:cNvSpPr>
          <p:nvPr>
            <p:ph type="sldNum" sz="quarter" idx="5"/>
          </p:nvPr>
        </p:nvSpPr>
        <p:spPr/>
        <p:txBody>
          <a:bodyPr/>
          <a:lstStyle/>
          <a:p>
            <a:fld id="{D5D60BE1-F9BF-4FF6-9ED4-6E58D1340EF8}" type="slidenum">
              <a:rPr lang="en-US" smtClean="0"/>
              <a:t>4</a:t>
            </a:fld>
            <a:endParaRPr lang="en-US" dirty="0"/>
          </a:p>
        </p:txBody>
      </p:sp>
    </p:spTree>
    <p:extLst>
      <p:ext uri="{BB962C8B-B14F-4D97-AF65-F5344CB8AC3E}">
        <p14:creationId xmlns:p14="http://schemas.microsoft.com/office/powerpoint/2010/main" val="365836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F07A7-39C7-D869-B3E9-F855C2CDE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5E2D6-D86C-C311-763E-1CDE18A5E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999AD-5CC4-19B8-B4B9-400C075B8895}"/>
              </a:ext>
            </a:extLst>
          </p:cNvPr>
          <p:cNvSpPr>
            <a:spLocks noGrp="1"/>
          </p:cNvSpPr>
          <p:nvPr>
            <p:ph type="body" idx="1"/>
          </p:nvPr>
        </p:nvSpPr>
        <p:spPr/>
        <p:txBody>
          <a:bodyPr/>
          <a:lstStyle/>
          <a:p>
            <a:pPr marL="0" indent="0">
              <a:buNone/>
            </a:pPr>
            <a:r>
              <a:rPr lang="en-US" dirty="0"/>
              <a:t>To better understand how the uncertainty of tag-rate, theta, and scale samples impacts our estimates there are two equations worth reviewing. </a:t>
            </a:r>
            <a:br>
              <a:rPr lang="en-US" dirty="0"/>
            </a:br>
            <a:br>
              <a:rPr lang="en-US" dirty="0"/>
            </a:br>
            <a:r>
              <a:rPr lang="en-US" dirty="0"/>
              <a:t>The first is our estimate of the abundance of untagged fish in each age class a, which is calculated by multiplying our estimate of the abundance of total untagged fish in the population by the proportion of each age-class from the aging of untagged scales. This estimate of untagged fish for each age-class is influenced by the uncertainty around our sampling, so lower theta and tag-rate values makes our estimate less certain, as well as the uncertainty from our scale subsample, so a smaller scale sample size makes our estimate less certain.</a:t>
            </a:r>
            <a:br>
              <a:rPr lang="en-US" dirty="0"/>
            </a:br>
            <a:br>
              <a:rPr lang="en-US" dirty="0"/>
            </a:br>
            <a:r>
              <a:rPr lang="en-US" dirty="0"/>
              <a:t>We then take that estimate for the abundance of untagged fish for age-class a and subtract from it the estimate of abundance of untagged hatchery-origin fish at that age-class, which also get its uncertainty from theta and the tag rate.</a:t>
            </a:r>
            <a:br>
              <a:rPr lang="en-US" dirty="0"/>
            </a:br>
            <a:br>
              <a:rPr lang="en-US" dirty="0"/>
            </a:br>
            <a:r>
              <a:rPr lang="en-US" dirty="0"/>
              <a:t>So our scale sample size impacts our estimate of the proportion of each age-class among the untagged fish in the population, our theta and tag rate affect our estimate of untagged fish abundance and hatchery-origin abundance. Altogether they impact our estimate of abundance or proportion of natural-origin fish in each age-class.</a:t>
            </a:r>
          </a:p>
        </p:txBody>
      </p:sp>
      <p:sp>
        <p:nvSpPr>
          <p:cNvPr id="4" name="Slide Number Placeholder 3">
            <a:extLst>
              <a:ext uri="{FF2B5EF4-FFF2-40B4-BE49-F238E27FC236}">
                <a16:creationId xmlns:a16="http://schemas.microsoft.com/office/drawing/2014/main" id="{0AB5117F-030D-0D17-11C4-4A6D7A578213}"/>
              </a:ext>
            </a:extLst>
          </p:cNvPr>
          <p:cNvSpPr>
            <a:spLocks noGrp="1"/>
          </p:cNvSpPr>
          <p:nvPr>
            <p:ph type="sldNum" sz="quarter" idx="5"/>
          </p:nvPr>
        </p:nvSpPr>
        <p:spPr/>
        <p:txBody>
          <a:bodyPr/>
          <a:lstStyle/>
          <a:p>
            <a:fld id="{D5D60BE1-F9BF-4FF6-9ED4-6E58D1340EF8}" type="slidenum">
              <a:rPr lang="en-US" smtClean="0"/>
              <a:t>5</a:t>
            </a:fld>
            <a:endParaRPr lang="en-US" dirty="0"/>
          </a:p>
        </p:txBody>
      </p:sp>
    </p:spTree>
    <p:extLst>
      <p:ext uri="{BB962C8B-B14F-4D97-AF65-F5344CB8AC3E}">
        <p14:creationId xmlns:p14="http://schemas.microsoft.com/office/powerpoint/2010/main" val="1233722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D252D-CB5A-B358-43C9-F2D5EB743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7D783-28E4-C547-FDDA-FCF9C4EB3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2E013-A1C9-74C7-B345-49D6A5609CF8}"/>
              </a:ext>
            </a:extLst>
          </p:cNvPr>
          <p:cNvSpPr>
            <a:spLocks noGrp="1"/>
          </p:cNvSpPr>
          <p:nvPr>
            <p:ph type="body" idx="1"/>
          </p:nvPr>
        </p:nvSpPr>
        <p:spPr/>
        <p:txBody>
          <a:bodyPr/>
          <a:lstStyle/>
          <a:p>
            <a:pPr marL="0" indent="0">
              <a:buNone/>
            </a:pPr>
            <a:r>
              <a:rPr lang="en-US" sz="1200" dirty="0"/>
              <a:t>I’m not going to go through the whole process of the analysis and simulations I ran, but the will instead briefly cover the results that we discussed at our last meeting and the follow up notes I sent later.</a:t>
            </a:r>
          </a:p>
          <a:p>
            <a:pPr marL="0" indent="0">
              <a:buNone/>
            </a:pPr>
            <a:r>
              <a:rPr lang="en-US" sz="1200" dirty="0"/>
              <a:t>After running a bunch of bootstrapped simulations using methods based on Emily Chens work, I found that the most accurate method to select scales for aging is to weight the number of scales needed from each sampling location by their contribution to the total basin wide number of untagged fish. These scales from across survey locations are then pooled together for a basin-wide estimate.</a:t>
            </a:r>
          </a:p>
        </p:txBody>
      </p:sp>
      <p:sp>
        <p:nvSpPr>
          <p:cNvPr id="4" name="Slide Number Placeholder 3">
            <a:extLst>
              <a:ext uri="{FF2B5EF4-FFF2-40B4-BE49-F238E27FC236}">
                <a16:creationId xmlns:a16="http://schemas.microsoft.com/office/drawing/2014/main" id="{EB010BAF-7464-DB62-5376-0BE5371A3B07}"/>
              </a:ext>
            </a:extLst>
          </p:cNvPr>
          <p:cNvSpPr>
            <a:spLocks noGrp="1"/>
          </p:cNvSpPr>
          <p:nvPr>
            <p:ph type="sldNum" sz="quarter" idx="5"/>
          </p:nvPr>
        </p:nvSpPr>
        <p:spPr/>
        <p:txBody>
          <a:bodyPr/>
          <a:lstStyle/>
          <a:p>
            <a:fld id="{D5D60BE1-F9BF-4FF6-9ED4-6E58D1340EF8}" type="slidenum">
              <a:rPr lang="en-US" smtClean="0"/>
              <a:t>6</a:t>
            </a:fld>
            <a:endParaRPr lang="en-US" dirty="0"/>
          </a:p>
        </p:txBody>
      </p:sp>
    </p:spTree>
    <p:extLst>
      <p:ext uri="{BB962C8B-B14F-4D97-AF65-F5344CB8AC3E}">
        <p14:creationId xmlns:p14="http://schemas.microsoft.com/office/powerpoint/2010/main" val="312506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59A1-C8B0-73AD-742D-A6D6108C2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73F01-96AB-8742-5471-4AC046B31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13C05-3491-21D2-9938-5F87C4CEE429}"/>
              </a:ext>
            </a:extLst>
          </p:cNvPr>
          <p:cNvSpPr>
            <a:spLocks noGrp="1"/>
          </p:cNvSpPr>
          <p:nvPr>
            <p:ph type="body" idx="1"/>
          </p:nvPr>
        </p:nvSpPr>
        <p:spPr/>
        <p:txBody>
          <a:bodyPr/>
          <a:lstStyle/>
          <a:p>
            <a:r>
              <a:rPr lang="en-US" dirty="0"/>
              <a:t>Running a bunch of different simulations using this method, I found that 500 scales is a good minimum that provides an unbiased estimate within a 10% margin of error that accurately includes the true values around 95% of the time.</a:t>
            </a:r>
          </a:p>
          <a:p>
            <a:r>
              <a:rPr lang="en-US" dirty="0"/>
              <a:t>Proportion estimate coverage = in what proportion of our simulations was the true value within the estimated confidence intervals?</a:t>
            </a:r>
          </a:p>
        </p:txBody>
      </p:sp>
      <p:sp>
        <p:nvSpPr>
          <p:cNvPr id="4" name="Slide Number Placeholder 3">
            <a:extLst>
              <a:ext uri="{FF2B5EF4-FFF2-40B4-BE49-F238E27FC236}">
                <a16:creationId xmlns:a16="http://schemas.microsoft.com/office/drawing/2014/main" id="{239FB671-2564-C7E9-014B-C1D0B511A0C4}"/>
              </a:ext>
            </a:extLst>
          </p:cNvPr>
          <p:cNvSpPr>
            <a:spLocks noGrp="1"/>
          </p:cNvSpPr>
          <p:nvPr>
            <p:ph type="sldNum" sz="quarter" idx="5"/>
          </p:nvPr>
        </p:nvSpPr>
        <p:spPr/>
        <p:txBody>
          <a:bodyPr/>
          <a:lstStyle/>
          <a:p>
            <a:fld id="{D5D60BE1-F9BF-4FF6-9ED4-6E58D1340EF8}" type="slidenum">
              <a:rPr lang="en-US" smtClean="0"/>
              <a:t>7</a:t>
            </a:fld>
            <a:endParaRPr lang="en-US" dirty="0"/>
          </a:p>
        </p:txBody>
      </p:sp>
    </p:spTree>
    <p:extLst>
      <p:ext uri="{BB962C8B-B14F-4D97-AF65-F5344CB8AC3E}">
        <p14:creationId xmlns:p14="http://schemas.microsoft.com/office/powerpoint/2010/main" val="3854322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81B81-C57F-DB2B-91F5-FB44A0923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B17A1-03DA-041C-D46F-6107995CC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8BC6B-A6BC-09A3-0BD0-D2AB459FABA9}"/>
              </a:ext>
            </a:extLst>
          </p:cNvPr>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A5127DFA-50C2-ADE8-3885-2190B1FC0C73}"/>
              </a:ext>
            </a:extLst>
          </p:cNvPr>
          <p:cNvSpPr>
            <a:spLocks noGrp="1"/>
          </p:cNvSpPr>
          <p:nvPr>
            <p:ph type="sldNum" sz="quarter" idx="5"/>
          </p:nvPr>
        </p:nvSpPr>
        <p:spPr/>
        <p:txBody>
          <a:bodyPr/>
          <a:lstStyle/>
          <a:p>
            <a:fld id="{D5D60BE1-F9BF-4FF6-9ED4-6E58D1340EF8}" type="slidenum">
              <a:rPr lang="en-US" smtClean="0"/>
              <a:t>8</a:t>
            </a:fld>
            <a:endParaRPr lang="en-US" dirty="0"/>
          </a:p>
        </p:txBody>
      </p:sp>
    </p:spTree>
    <p:extLst>
      <p:ext uri="{BB962C8B-B14F-4D97-AF65-F5344CB8AC3E}">
        <p14:creationId xmlns:p14="http://schemas.microsoft.com/office/powerpoint/2010/main" val="1466171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471F-CA0B-71F8-009E-E33E215D8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364F4-39F1-1080-CF09-6C1A1C9AE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5AFD7-6D69-3C0D-22F8-0A9E57478F00}"/>
              </a:ext>
            </a:extLst>
          </p:cNvPr>
          <p:cNvSpPr>
            <a:spLocks noGrp="1"/>
          </p:cNvSpPr>
          <p:nvPr>
            <p:ph type="body" idx="1"/>
          </p:nvPr>
        </p:nvSpPr>
        <p:spPr/>
        <p:txBody>
          <a:bodyPr/>
          <a:lstStyle/>
          <a:p>
            <a:r>
              <a:rPr lang="en-US" dirty="0"/>
              <a:t>The next question before implementation is how many scales does each region need to collect to contribute to the basin estimate?</a:t>
            </a:r>
          </a:p>
          <a:p>
            <a:r>
              <a:rPr lang="en-US" dirty="0"/>
              <a:t>Based on historical tag counts and k-draws replications I estimated a target number of scales to collect for nine-different sampling regions. This is based on the 95th percentile proportional contribution to the basin-wide untagged population from each location. These estimates represent a relative maximum that surveys should aim to collect and pass on to pooled aging.</a:t>
            </a:r>
          </a:p>
        </p:txBody>
      </p:sp>
      <p:sp>
        <p:nvSpPr>
          <p:cNvPr id="4" name="Slide Number Placeholder 3">
            <a:extLst>
              <a:ext uri="{FF2B5EF4-FFF2-40B4-BE49-F238E27FC236}">
                <a16:creationId xmlns:a16="http://schemas.microsoft.com/office/drawing/2014/main" id="{420A3FCB-88AE-FB30-097D-C0EDAE622DBA}"/>
              </a:ext>
            </a:extLst>
          </p:cNvPr>
          <p:cNvSpPr>
            <a:spLocks noGrp="1"/>
          </p:cNvSpPr>
          <p:nvPr>
            <p:ph type="sldNum" sz="quarter" idx="5"/>
          </p:nvPr>
        </p:nvSpPr>
        <p:spPr/>
        <p:txBody>
          <a:bodyPr/>
          <a:lstStyle/>
          <a:p>
            <a:fld id="{D5D60BE1-F9BF-4FF6-9ED4-6E58D1340EF8}" type="slidenum">
              <a:rPr lang="en-US" smtClean="0"/>
              <a:t>9</a:t>
            </a:fld>
            <a:endParaRPr lang="en-US" dirty="0"/>
          </a:p>
        </p:txBody>
      </p:sp>
    </p:spTree>
    <p:extLst>
      <p:ext uri="{BB962C8B-B14F-4D97-AF65-F5344CB8AC3E}">
        <p14:creationId xmlns:p14="http://schemas.microsoft.com/office/powerpoint/2010/main" val="1026559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D3E9-5D06-F10A-4A3E-7232EA288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B87EA-46B9-FB3F-4E30-A672456AA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F6A75-E888-B27C-784A-86DFFDF530F8}"/>
              </a:ext>
            </a:extLst>
          </p:cNvPr>
          <p:cNvSpPr>
            <a:spLocks noGrp="1"/>
          </p:cNvSpPr>
          <p:nvPr>
            <p:ph type="body" idx="1"/>
          </p:nvPr>
        </p:nvSpPr>
        <p:spPr/>
        <p:txBody>
          <a:bodyPr/>
          <a:lstStyle/>
          <a:p>
            <a:r>
              <a:rPr lang="en-US" dirty="0"/>
              <a:t>Weekly balance example: if for a given location we collect 50 scales each week for 10 weeks, for a total of 500 scales. At the end of the season we only need 200 scales, so we select 20 scales from each week. But what if the peak of the run is at the mid-point of the survey season, and age 2 fish mostly return in those middle two weeks, but the age 3 and 4 fish are evenly distributed across the survey period. We could end up underestimating the proportion of age 2 fish in the population.</a:t>
            </a:r>
          </a:p>
        </p:txBody>
      </p:sp>
      <p:sp>
        <p:nvSpPr>
          <p:cNvPr id="4" name="Slide Number Placeholder 3">
            <a:extLst>
              <a:ext uri="{FF2B5EF4-FFF2-40B4-BE49-F238E27FC236}">
                <a16:creationId xmlns:a16="http://schemas.microsoft.com/office/drawing/2014/main" id="{3B0461A1-2FC4-4A57-3F4B-77B6AEA65EF0}"/>
              </a:ext>
            </a:extLst>
          </p:cNvPr>
          <p:cNvSpPr>
            <a:spLocks noGrp="1"/>
          </p:cNvSpPr>
          <p:nvPr>
            <p:ph type="sldNum" sz="quarter" idx="5"/>
          </p:nvPr>
        </p:nvSpPr>
        <p:spPr/>
        <p:txBody>
          <a:bodyPr/>
          <a:lstStyle/>
          <a:p>
            <a:fld id="{D5D60BE1-F9BF-4FF6-9ED4-6E58D1340EF8}" type="slidenum">
              <a:rPr lang="en-US" smtClean="0"/>
              <a:t>10</a:t>
            </a:fld>
            <a:endParaRPr lang="en-US" dirty="0"/>
          </a:p>
        </p:txBody>
      </p:sp>
    </p:spTree>
    <p:extLst>
      <p:ext uri="{BB962C8B-B14F-4D97-AF65-F5344CB8AC3E}">
        <p14:creationId xmlns:p14="http://schemas.microsoft.com/office/powerpoint/2010/main" val="4099093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01D99-F9B5-2AD3-9CFD-2FBEB2F3A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6FEC2-27EE-F8D7-68A8-F074717C6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39F76D-F02B-9F2D-BB15-4C262299ACCB}"/>
              </a:ext>
            </a:extLst>
          </p:cNvPr>
          <p:cNvSpPr>
            <a:spLocks noGrp="1"/>
          </p:cNvSpPr>
          <p:nvPr>
            <p:ph type="body" idx="1"/>
          </p:nvPr>
        </p:nvSpPr>
        <p:spPr/>
        <p:txBody>
          <a:bodyPr/>
          <a:lstStyle/>
          <a:p>
            <a:r>
              <a:rPr lang="en-US" dirty="0"/>
              <a:t>Once the scales are collected for a given location, we need an estimate of the abundance of untagged fish for that location. Historically this was done using tag rate expansions, but that method did not incorporate uncertainty estimates. Here we can use the k-draw method laid out by E. Chen that allows us to describe the uncertainty in our estimate.</a:t>
            </a:r>
          </a:p>
          <a:p>
            <a:r>
              <a:rPr lang="en-US" dirty="0"/>
              <a:t>This requires:</a:t>
            </a:r>
          </a:p>
          <a:p>
            <a:pPr marL="228600" indent="-228600">
              <a:buFont typeface="+mj-lt"/>
              <a:buAutoNum type="arabicPeriod"/>
            </a:pPr>
            <a:r>
              <a:rPr lang="en-US" dirty="0"/>
              <a:t>the number of tagged fish in each age class</a:t>
            </a:r>
          </a:p>
          <a:p>
            <a:pPr marL="228600" indent="-228600">
              <a:buFont typeface="+mj-lt"/>
              <a:buAutoNum type="arabicPeriod"/>
            </a:pPr>
            <a:r>
              <a:rPr lang="en-US" dirty="0"/>
              <a:t>an estimate of the locations total abundance, which can give us our sampling rate (theta)</a:t>
            </a:r>
          </a:p>
          <a:p>
            <a:pPr marL="228600" indent="-228600">
              <a:buFont typeface="+mj-lt"/>
              <a:buAutoNum type="arabicPeriod"/>
            </a:pPr>
            <a:r>
              <a:rPr lang="en-US" dirty="0"/>
              <a:t>The tagging rate for the recovered fish cohorts. Note that there may be multiple tagging rates for each location if fish from different hatcheries/cohorts are recovered.</a:t>
            </a:r>
          </a:p>
          <a:p>
            <a:pPr marL="228600" indent="-228600">
              <a:buFont typeface="+mj-lt"/>
              <a:buAutoNum type="arabicPeriod"/>
            </a:pPr>
            <a:endParaRPr lang="en-US" dirty="0"/>
          </a:p>
          <a:p>
            <a:pPr marL="0" indent="0">
              <a:buFont typeface="+mj-lt"/>
              <a:buNone/>
            </a:pPr>
            <a:r>
              <a:rPr lang="en-US" dirty="0"/>
              <a:t>This estimate of untagged fish abundance could easily be done at the local level, or by a basin-wide coordinator for each location.</a:t>
            </a:r>
          </a:p>
        </p:txBody>
      </p:sp>
      <p:sp>
        <p:nvSpPr>
          <p:cNvPr id="4" name="Slide Number Placeholder 3">
            <a:extLst>
              <a:ext uri="{FF2B5EF4-FFF2-40B4-BE49-F238E27FC236}">
                <a16:creationId xmlns:a16="http://schemas.microsoft.com/office/drawing/2014/main" id="{13E3177F-ED4A-8DD4-8AEC-21190A8CC372}"/>
              </a:ext>
            </a:extLst>
          </p:cNvPr>
          <p:cNvSpPr>
            <a:spLocks noGrp="1"/>
          </p:cNvSpPr>
          <p:nvPr>
            <p:ph type="sldNum" sz="quarter" idx="5"/>
          </p:nvPr>
        </p:nvSpPr>
        <p:spPr/>
        <p:txBody>
          <a:bodyPr/>
          <a:lstStyle/>
          <a:p>
            <a:fld id="{D5D60BE1-F9BF-4FF6-9ED4-6E58D1340EF8}" type="slidenum">
              <a:rPr lang="en-US" smtClean="0"/>
              <a:t>11</a:t>
            </a:fld>
            <a:endParaRPr lang="en-US" dirty="0"/>
          </a:p>
        </p:txBody>
      </p:sp>
    </p:spTree>
    <p:extLst>
      <p:ext uri="{BB962C8B-B14F-4D97-AF65-F5344CB8AC3E}">
        <p14:creationId xmlns:p14="http://schemas.microsoft.com/office/powerpoint/2010/main" val="3137474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42CBE-76D8-E04D-7CAD-FAA4929EA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E2211-91D2-DAB9-9F85-BE1E55C10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527E1-3277-6B38-DD1A-21A245C66DE2}"/>
              </a:ext>
            </a:extLst>
          </p:cNvPr>
          <p:cNvSpPr>
            <a:spLocks noGrp="1"/>
          </p:cNvSpPr>
          <p:nvPr>
            <p:ph type="body" idx="1"/>
          </p:nvPr>
        </p:nvSpPr>
        <p:spPr/>
        <p:txBody>
          <a:bodyPr/>
          <a:lstStyle/>
          <a:p>
            <a:r>
              <a:rPr lang="en-US" dirty="0"/>
              <a:t>Once each location has produced an estimate of the abundance of untagged fish for their survey, we can sum those across the entire Sac River basin. This allows us to calculate each locations proportional contribution to the basins untagged population.</a:t>
            </a:r>
          </a:p>
          <a:p>
            <a:endParaRPr lang="en-US" dirty="0"/>
          </a:p>
          <a:p>
            <a:r>
              <a:rPr lang="en-US" dirty="0"/>
              <a:t>Of course this requires all the survey locations to report in their estimates, so it will require some amount of coordination across the basin.</a:t>
            </a:r>
          </a:p>
        </p:txBody>
      </p:sp>
      <p:sp>
        <p:nvSpPr>
          <p:cNvPr id="4" name="Slide Number Placeholder 3">
            <a:extLst>
              <a:ext uri="{FF2B5EF4-FFF2-40B4-BE49-F238E27FC236}">
                <a16:creationId xmlns:a16="http://schemas.microsoft.com/office/drawing/2014/main" id="{69AA6D38-893B-CD46-42A0-869EDC9910D2}"/>
              </a:ext>
            </a:extLst>
          </p:cNvPr>
          <p:cNvSpPr>
            <a:spLocks noGrp="1"/>
          </p:cNvSpPr>
          <p:nvPr>
            <p:ph type="sldNum" sz="quarter" idx="5"/>
          </p:nvPr>
        </p:nvSpPr>
        <p:spPr/>
        <p:txBody>
          <a:bodyPr/>
          <a:lstStyle/>
          <a:p>
            <a:fld id="{D5D60BE1-F9BF-4FF6-9ED4-6E58D1340EF8}" type="slidenum">
              <a:rPr lang="en-US" smtClean="0"/>
              <a:t>12</a:t>
            </a:fld>
            <a:endParaRPr lang="en-US" dirty="0"/>
          </a:p>
        </p:txBody>
      </p:sp>
    </p:spTree>
    <p:extLst>
      <p:ext uri="{BB962C8B-B14F-4D97-AF65-F5344CB8AC3E}">
        <p14:creationId xmlns:p14="http://schemas.microsoft.com/office/powerpoint/2010/main" val="600416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9A281-0DC7-B597-B18F-7ED5DF24B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AE4EA-8ECD-0E53-BC45-E628A1B97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25A2D-2D2A-C29E-5E95-0ACA45711693}"/>
              </a:ext>
            </a:extLst>
          </p:cNvPr>
          <p:cNvSpPr>
            <a:spLocks noGrp="1"/>
          </p:cNvSpPr>
          <p:nvPr>
            <p:ph type="body" idx="1"/>
          </p:nvPr>
        </p:nvSpPr>
        <p:spPr/>
        <p:txBody>
          <a:bodyPr/>
          <a:lstStyle/>
          <a:p>
            <a:r>
              <a:rPr lang="en-US" dirty="0"/>
              <a:t>Next, we can calculate the number of scales to age from each location as part of the pooled basin wide estimate. This is calculated as the proportion of each locations contribution to untagged fish in the basin multiplied by our target scale sample size of 500.</a:t>
            </a:r>
          </a:p>
        </p:txBody>
      </p:sp>
      <p:sp>
        <p:nvSpPr>
          <p:cNvPr id="4" name="Slide Number Placeholder 3">
            <a:extLst>
              <a:ext uri="{FF2B5EF4-FFF2-40B4-BE49-F238E27FC236}">
                <a16:creationId xmlns:a16="http://schemas.microsoft.com/office/drawing/2014/main" id="{7C0A82E9-48DE-9EA3-D600-E41FD47C66DB}"/>
              </a:ext>
            </a:extLst>
          </p:cNvPr>
          <p:cNvSpPr>
            <a:spLocks noGrp="1"/>
          </p:cNvSpPr>
          <p:nvPr>
            <p:ph type="sldNum" sz="quarter" idx="5"/>
          </p:nvPr>
        </p:nvSpPr>
        <p:spPr/>
        <p:txBody>
          <a:bodyPr/>
          <a:lstStyle/>
          <a:p>
            <a:fld id="{D5D60BE1-F9BF-4FF6-9ED4-6E58D1340EF8}" type="slidenum">
              <a:rPr lang="en-US" smtClean="0"/>
              <a:t>13</a:t>
            </a:fld>
            <a:endParaRPr lang="en-US" dirty="0"/>
          </a:p>
        </p:txBody>
      </p:sp>
    </p:spTree>
    <p:extLst>
      <p:ext uri="{BB962C8B-B14F-4D97-AF65-F5344CB8AC3E}">
        <p14:creationId xmlns:p14="http://schemas.microsoft.com/office/powerpoint/2010/main" val="3520438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964B5-4C2F-58A9-514C-F72F7B677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022FD-6600-527B-3D6C-8D23115C4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E47BC-517B-6B85-49F4-8940027B6DD5}"/>
              </a:ext>
            </a:extLst>
          </p:cNvPr>
          <p:cNvSpPr>
            <a:spLocks noGrp="1"/>
          </p:cNvSpPr>
          <p:nvPr>
            <p:ph type="body" idx="1"/>
          </p:nvPr>
        </p:nvSpPr>
        <p:spPr/>
        <p:txBody>
          <a:bodyPr/>
          <a:lstStyle/>
          <a:p>
            <a:r>
              <a:rPr lang="en-US" dirty="0"/>
              <a:t>When all 500 scales are collected and pooled from across the basin, they can be aged and corrected for aging bias.  Then using this subsample of aged scales we can estimate the abundance of natural origin fish for each age-class for the whole Sac R. basin.</a:t>
            </a:r>
          </a:p>
        </p:txBody>
      </p:sp>
      <p:sp>
        <p:nvSpPr>
          <p:cNvPr id="4" name="Slide Number Placeholder 3">
            <a:extLst>
              <a:ext uri="{FF2B5EF4-FFF2-40B4-BE49-F238E27FC236}">
                <a16:creationId xmlns:a16="http://schemas.microsoft.com/office/drawing/2014/main" id="{BB0EA812-1709-A1DA-3157-8110308B622C}"/>
              </a:ext>
            </a:extLst>
          </p:cNvPr>
          <p:cNvSpPr>
            <a:spLocks noGrp="1"/>
          </p:cNvSpPr>
          <p:nvPr>
            <p:ph type="sldNum" sz="quarter" idx="5"/>
          </p:nvPr>
        </p:nvSpPr>
        <p:spPr/>
        <p:txBody>
          <a:bodyPr/>
          <a:lstStyle/>
          <a:p>
            <a:fld id="{D5D60BE1-F9BF-4FF6-9ED4-6E58D1340EF8}" type="slidenum">
              <a:rPr lang="en-US" smtClean="0"/>
              <a:t>14</a:t>
            </a:fld>
            <a:endParaRPr lang="en-US" dirty="0"/>
          </a:p>
        </p:txBody>
      </p:sp>
    </p:spTree>
    <p:extLst>
      <p:ext uri="{BB962C8B-B14F-4D97-AF65-F5344CB8AC3E}">
        <p14:creationId xmlns:p14="http://schemas.microsoft.com/office/powerpoint/2010/main" val="3494508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6C8A1-A309-D39E-6421-D253C979A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AFABE-C270-DF67-7AFE-65CDB0DEF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44A5B-D01C-443B-81CB-2A2F30E10DE6}"/>
              </a:ext>
            </a:extLst>
          </p:cNvPr>
          <p:cNvSpPr>
            <a:spLocks noGrp="1"/>
          </p:cNvSpPr>
          <p:nvPr>
            <p:ph type="body" idx="1"/>
          </p:nvPr>
        </p:nvSpPr>
        <p:spPr/>
        <p:txBody>
          <a:bodyPr/>
          <a:lstStyle/>
          <a:p>
            <a:pPr marL="0" indent="0">
              <a:buNone/>
            </a:pPr>
            <a:endParaRPr lang="en-US" sz="1200" dirty="0"/>
          </a:p>
        </p:txBody>
      </p:sp>
      <p:sp>
        <p:nvSpPr>
          <p:cNvPr id="4" name="Slide Number Placeholder 3">
            <a:extLst>
              <a:ext uri="{FF2B5EF4-FFF2-40B4-BE49-F238E27FC236}">
                <a16:creationId xmlns:a16="http://schemas.microsoft.com/office/drawing/2014/main" id="{BB6901DF-3CE5-D76B-B2D5-4F0EAC6A962B}"/>
              </a:ext>
            </a:extLst>
          </p:cNvPr>
          <p:cNvSpPr>
            <a:spLocks noGrp="1"/>
          </p:cNvSpPr>
          <p:nvPr>
            <p:ph type="sldNum" sz="quarter" idx="5"/>
          </p:nvPr>
        </p:nvSpPr>
        <p:spPr/>
        <p:txBody>
          <a:bodyPr/>
          <a:lstStyle/>
          <a:p>
            <a:fld id="{D5D60BE1-F9BF-4FF6-9ED4-6E58D1340EF8}" type="slidenum">
              <a:rPr lang="en-US" smtClean="0"/>
              <a:t>15</a:t>
            </a:fld>
            <a:endParaRPr lang="en-US" dirty="0"/>
          </a:p>
        </p:txBody>
      </p:sp>
    </p:spTree>
    <p:extLst>
      <p:ext uri="{BB962C8B-B14F-4D97-AF65-F5344CB8AC3E}">
        <p14:creationId xmlns:p14="http://schemas.microsoft.com/office/powerpoint/2010/main" val="3096408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A3CDD-FD26-9D23-C8EB-76A16C749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762EE-8DC1-C21A-62AF-25027FEBF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A9836-8537-2695-1A3F-C30197930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AD302-865A-08FB-FF59-236EF081D1B1}"/>
              </a:ext>
            </a:extLst>
          </p:cNvPr>
          <p:cNvSpPr>
            <a:spLocks noGrp="1"/>
          </p:cNvSpPr>
          <p:nvPr>
            <p:ph type="sldNum" sz="quarter" idx="5"/>
          </p:nvPr>
        </p:nvSpPr>
        <p:spPr/>
        <p:txBody>
          <a:bodyPr/>
          <a:lstStyle/>
          <a:p>
            <a:fld id="{D5D60BE1-F9BF-4FF6-9ED4-6E58D1340EF8}" type="slidenum">
              <a:rPr lang="en-US" smtClean="0"/>
              <a:t>16</a:t>
            </a:fld>
            <a:endParaRPr lang="en-US" dirty="0"/>
          </a:p>
        </p:txBody>
      </p:sp>
    </p:spTree>
    <p:extLst>
      <p:ext uri="{BB962C8B-B14F-4D97-AF65-F5344CB8AC3E}">
        <p14:creationId xmlns:p14="http://schemas.microsoft.com/office/powerpoint/2010/main" val="2823279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A3DC-4D2B-1E07-F568-9F58AC585C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48639B-5EA9-7462-AAD7-D3EA471E0F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67D2F2-88B6-F1F8-2375-1C5F76755478}"/>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5" name="Footer Placeholder 4">
            <a:extLst>
              <a:ext uri="{FF2B5EF4-FFF2-40B4-BE49-F238E27FC236}">
                <a16:creationId xmlns:a16="http://schemas.microsoft.com/office/drawing/2014/main" id="{CB6FF5AD-BA5A-A7A4-C2F9-ADEFD82FB0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A7A56-E394-CE53-AB6D-F44ED928140D}"/>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95604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AAD04-4769-43A1-ADC5-0D24FA4197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F6C36C-B940-82A1-E64E-1CA5C91C22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2E30D-3768-1B21-9B57-9B87588BF18C}"/>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5" name="Footer Placeholder 4">
            <a:extLst>
              <a:ext uri="{FF2B5EF4-FFF2-40B4-BE49-F238E27FC236}">
                <a16:creationId xmlns:a16="http://schemas.microsoft.com/office/drawing/2014/main" id="{459B9115-6271-B5DB-2AD8-C116ACB64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19F010-7B23-63A7-4E26-FC272CAF2A31}"/>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03746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BAAE-6CDB-E63D-F739-C3FE7D6AD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25D5AA-6FED-4D89-464A-B3129CC76A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619088-87C4-C5EA-EF36-FA138CA0B79E}"/>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5" name="Footer Placeholder 4">
            <a:extLst>
              <a:ext uri="{FF2B5EF4-FFF2-40B4-BE49-F238E27FC236}">
                <a16:creationId xmlns:a16="http://schemas.microsoft.com/office/drawing/2014/main" id="{77645D67-B110-384B-2CF3-FC3C4068D6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65409-2CEA-E85A-2C39-4BB8AA495E09}"/>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185320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F388F-D660-3E3E-62E1-139EDF9FB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F6B7A-54E3-1328-38DE-CE964FBDC6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673EB-992B-6012-7D60-220B3B52D3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490FFE-08D7-A997-8129-9B92B509DC9C}"/>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6" name="Footer Placeholder 5">
            <a:extLst>
              <a:ext uri="{FF2B5EF4-FFF2-40B4-BE49-F238E27FC236}">
                <a16:creationId xmlns:a16="http://schemas.microsoft.com/office/drawing/2014/main" id="{5E1E37DD-75EB-13E7-536D-5A72BBDE0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11FC6-EBA0-A1E4-DC5F-9C8FA1F74B11}"/>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070469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6D0A-A068-A489-C49D-26FC1D418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F85639-F27D-D167-67DC-78FC4DC559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79003-9531-421D-BEF6-AFECF1592B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6A801D-981D-A912-5296-4F87074BE8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9B3F3C-7DAF-F10B-372F-986B095EE3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DF1D8-078A-11E7-7D44-DCF7DE85F0F4}"/>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8" name="Footer Placeholder 7">
            <a:extLst>
              <a:ext uri="{FF2B5EF4-FFF2-40B4-BE49-F238E27FC236}">
                <a16:creationId xmlns:a16="http://schemas.microsoft.com/office/drawing/2014/main" id="{DF839D2A-34BA-7997-95C2-8CE08F1B74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4E6EFC-8A26-A9B3-B583-B82500083CF5}"/>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30978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9084-107A-E12C-8450-1FF822E0E4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B681D4-C54E-9E56-BCC7-0426240027F4}"/>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4" name="Footer Placeholder 3">
            <a:extLst>
              <a:ext uri="{FF2B5EF4-FFF2-40B4-BE49-F238E27FC236}">
                <a16:creationId xmlns:a16="http://schemas.microsoft.com/office/drawing/2014/main" id="{F083D991-8FDE-D21E-63A4-1A27F8195F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815824-5CE5-5204-8735-7D5D0C0CEA62}"/>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944507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DC82B-DD2B-2B80-AE4E-49DB449D0139}"/>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3" name="Footer Placeholder 2">
            <a:extLst>
              <a:ext uri="{FF2B5EF4-FFF2-40B4-BE49-F238E27FC236}">
                <a16:creationId xmlns:a16="http://schemas.microsoft.com/office/drawing/2014/main" id="{358E36DE-1903-3D30-94EE-23C4CC004C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C3888C-1047-179E-62A5-709546DB2ECA}"/>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127938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85C0F-D7D5-9A36-2868-6E5F9DA62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E5E167-7B3E-FDD6-90F5-C4FF4EBD98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49A288-1C03-BE96-15CE-B6F5A00FE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618ADD-8F25-EE21-11DD-F04AFEC8B2A2}"/>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6" name="Footer Placeholder 5">
            <a:extLst>
              <a:ext uri="{FF2B5EF4-FFF2-40B4-BE49-F238E27FC236}">
                <a16:creationId xmlns:a16="http://schemas.microsoft.com/office/drawing/2014/main" id="{5C394911-94A5-1310-DC4C-896CAE414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FC2BE9-377C-8DEC-8A78-5B99C5D49204}"/>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978107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17EB9-349C-5C47-540B-BB200EBD0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B65B17-4789-C223-7F1C-25152EFC6F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6D7EBD-812E-3793-8EED-645AB4413D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BDAB83-3705-983F-7683-FF8C438487F1}"/>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6" name="Footer Placeholder 5">
            <a:extLst>
              <a:ext uri="{FF2B5EF4-FFF2-40B4-BE49-F238E27FC236}">
                <a16:creationId xmlns:a16="http://schemas.microsoft.com/office/drawing/2014/main" id="{9EDF4EFA-B29C-97CB-D639-CFCDE97255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4131F-9A28-8760-745E-DB98EB43DB45}"/>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2709000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0FD74-6CF0-7719-9D3F-94A42DB85E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32EB90-AAB7-A86A-0703-C8EA7E4FE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045AE4-87E1-1EA6-BEA0-8838D03AB519}"/>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5" name="Footer Placeholder 4">
            <a:extLst>
              <a:ext uri="{FF2B5EF4-FFF2-40B4-BE49-F238E27FC236}">
                <a16:creationId xmlns:a16="http://schemas.microsoft.com/office/drawing/2014/main" id="{1B626BDF-9FCA-C0BC-404B-483B85846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7145A-48B4-BE02-675E-86FB8FBBA93B}"/>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3789838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7AC1B0-69E3-B10C-F9CE-5F1FEE98B8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D082DD-1D2C-98BB-C003-929F97A8B0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705374-5CE3-7522-A91C-06D65B6551E2}"/>
              </a:ext>
            </a:extLst>
          </p:cNvPr>
          <p:cNvSpPr>
            <a:spLocks noGrp="1"/>
          </p:cNvSpPr>
          <p:nvPr>
            <p:ph type="dt" sz="half" idx="10"/>
          </p:nvPr>
        </p:nvSpPr>
        <p:spPr/>
        <p:txBody>
          <a:bodyPr/>
          <a:lstStyle/>
          <a:p>
            <a:fld id="{EE894A0D-C85C-4780-B778-2D041B1589AC}" type="datetimeFigureOut">
              <a:rPr lang="en-US" smtClean="0"/>
              <a:t>6/12/2026</a:t>
            </a:fld>
            <a:endParaRPr lang="en-US"/>
          </a:p>
        </p:txBody>
      </p:sp>
      <p:sp>
        <p:nvSpPr>
          <p:cNvPr id="5" name="Footer Placeholder 4">
            <a:extLst>
              <a:ext uri="{FF2B5EF4-FFF2-40B4-BE49-F238E27FC236}">
                <a16:creationId xmlns:a16="http://schemas.microsoft.com/office/drawing/2014/main" id="{210F9DAE-3EFF-3190-EF94-111229F9A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395FA-3C42-9766-EDB7-66D598C8A27F}"/>
              </a:ext>
            </a:extLst>
          </p:cNvPr>
          <p:cNvSpPr>
            <a:spLocks noGrp="1"/>
          </p:cNvSpPr>
          <p:nvPr>
            <p:ph type="sldNum" sz="quarter" idx="12"/>
          </p:nvPr>
        </p:nvSpPr>
        <p:spPr/>
        <p:txBody>
          <a:bodyPr/>
          <a:lstStyle/>
          <a:p>
            <a:fld id="{3C3890DA-B637-4160-B51B-7CCB840AFB39}" type="slidenum">
              <a:rPr lang="en-US" smtClean="0"/>
              <a:t>‹#›</a:t>
            </a:fld>
            <a:endParaRPr lang="en-US"/>
          </a:p>
        </p:txBody>
      </p:sp>
    </p:spTree>
    <p:extLst>
      <p:ext uri="{BB962C8B-B14F-4D97-AF65-F5344CB8AC3E}">
        <p14:creationId xmlns:p14="http://schemas.microsoft.com/office/powerpoint/2010/main" val="439192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BD3AD18-64E1-6059-61D0-0BBC7B928175}"/>
              </a:ext>
            </a:extLst>
          </p:cNvPr>
          <p:cNvSpPr>
            <a:spLocks noGrp="1"/>
          </p:cNvSpPr>
          <p:nvPr>
            <p:ph type="pic" sz="quarter" idx="13" hasCustomPrompt="1"/>
          </p:nvPr>
        </p:nvSpPr>
        <p:spPr>
          <a:xfrm>
            <a:off x="0" y="0"/>
            <a:ext cx="12192000" cy="3144838"/>
          </a:xfrm>
        </p:spPr>
        <p:txBody>
          <a:bodyPr/>
          <a:lstStyle>
            <a:lvl1pPr marL="0" indent="0" algn="ctr">
              <a:lnSpc>
                <a:spcPct val="300000"/>
              </a:lnSpc>
              <a:buNone/>
              <a:tabLst>
                <a:tab pos="2230438" algn="l"/>
              </a:tabLst>
              <a:defRPr/>
            </a:lvl1pPr>
          </a:lstStyle>
          <a:p>
            <a:r>
              <a:rPr lang="en-US" dirty="0"/>
              <a:t>Insert Picture Here</a:t>
            </a:r>
          </a:p>
        </p:txBody>
      </p:sp>
      <p:sp>
        <p:nvSpPr>
          <p:cNvPr id="2" name="Title 1">
            <a:extLst>
              <a:ext uri="{FF2B5EF4-FFF2-40B4-BE49-F238E27FC236}">
                <a16:creationId xmlns:a16="http://schemas.microsoft.com/office/drawing/2014/main" id="{B2A8CD82-FE2C-848E-7E3C-C3106B0319AF}"/>
              </a:ext>
            </a:extLst>
          </p:cNvPr>
          <p:cNvSpPr>
            <a:spLocks noGrp="1"/>
          </p:cNvSpPr>
          <p:nvPr>
            <p:ph type="ctrTitle" hasCustomPrompt="1"/>
          </p:nvPr>
        </p:nvSpPr>
        <p:spPr>
          <a:xfrm>
            <a:off x="1181100" y="3889003"/>
            <a:ext cx="9829800" cy="909637"/>
          </a:xfrm>
        </p:spPr>
        <p:txBody>
          <a:bodyPr anchor="b">
            <a:normAutofit/>
          </a:bodyPr>
          <a:lstStyle>
            <a:lvl1pPr algn="ctr">
              <a:defRPr sz="4800" b="1" cap="all" baseline="0"/>
            </a:lvl1pPr>
          </a:lstStyle>
          <a:p>
            <a:r>
              <a:rPr lang="en-US" dirty="0"/>
              <a:t>CLICK TO EDIT TITLE</a:t>
            </a:r>
          </a:p>
        </p:txBody>
      </p:sp>
      <p:sp>
        <p:nvSpPr>
          <p:cNvPr id="3" name="Subtitle 2">
            <a:extLst>
              <a:ext uri="{FF2B5EF4-FFF2-40B4-BE49-F238E27FC236}">
                <a16:creationId xmlns:a16="http://schemas.microsoft.com/office/drawing/2014/main" id="{D7B0454C-6DB7-B79C-A5BF-F3073BA4478F}"/>
              </a:ext>
            </a:extLst>
          </p:cNvPr>
          <p:cNvSpPr>
            <a:spLocks noGrp="1"/>
          </p:cNvSpPr>
          <p:nvPr>
            <p:ph type="subTitle" idx="1"/>
          </p:nvPr>
        </p:nvSpPr>
        <p:spPr>
          <a:xfrm>
            <a:off x="1524000" y="4816507"/>
            <a:ext cx="9144000" cy="365125"/>
          </a:xfrm>
        </p:spPr>
        <p:txBody>
          <a:bodyPr/>
          <a:lstStyle>
            <a:lvl1pPr marL="0" indent="0" algn="ctr">
              <a:buNone/>
              <a:defRPr sz="2400" i="1">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Text Placeholder 10">
            <a:extLst>
              <a:ext uri="{FF2B5EF4-FFF2-40B4-BE49-F238E27FC236}">
                <a16:creationId xmlns:a16="http://schemas.microsoft.com/office/drawing/2014/main" id="{E93D7AE0-7DBD-A848-246A-F08E23C88C9E}"/>
              </a:ext>
            </a:extLst>
          </p:cNvPr>
          <p:cNvSpPr>
            <a:spLocks noGrp="1"/>
          </p:cNvSpPr>
          <p:nvPr>
            <p:ph type="body" sz="quarter" idx="14" hasCustomPrompt="1"/>
          </p:nvPr>
        </p:nvSpPr>
        <p:spPr>
          <a:xfrm>
            <a:off x="4365625" y="5513859"/>
            <a:ext cx="3460750" cy="289734"/>
          </a:xfrm>
        </p:spPr>
        <p:txBody>
          <a:bodyPr>
            <a:normAutofit/>
          </a:bodyPr>
          <a:lstStyle>
            <a:lvl1pPr marL="0" indent="0" algn="ctr">
              <a:buNone/>
              <a:defRPr sz="1800" b="1" cap="all" baseline="0">
                <a:solidFill>
                  <a:schemeClr val="tx1"/>
                </a:solidFill>
                <a:latin typeface="Century Gothic" panose="020B0502020202020204" pitchFamily="34" charset="0"/>
              </a:defRPr>
            </a:lvl1pPr>
          </a:lstStyle>
          <a:p>
            <a:pPr lvl="0"/>
            <a:r>
              <a:rPr lang="en-US" dirty="0"/>
              <a:t>PRESENTED BY:</a:t>
            </a:r>
          </a:p>
        </p:txBody>
      </p:sp>
      <p:sp>
        <p:nvSpPr>
          <p:cNvPr id="13" name="Text Placeholder 12">
            <a:extLst>
              <a:ext uri="{FF2B5EF4-FFF2-40B4-BE49-F238E27FC236}">
                <a16:creationId xmlns:a16="http://schemas.microsoft.com/office/drawing/2014/main" id="{458A1B98-64AE-7F0D-0D2A-3C7A5C0BBD86}"/>
              </a:ext>
            </a:extLst>
          </p:cNvPr>
          <p:cNvSpPr>
            <a:spLocks noGrp="1"/>
          </p:cNvSpPr>
          <p:nvPr>
            <p:ph type="body" sz="quarter" idx="15" hasCustomPrompt="1"/>
          </p:nvPr>
        </p:nvSpPr>
        <p:spPr>
          <a:xfrm>
            <a:off x="2415382" y="5821460"/>
            <a:ext cx="7361237" cy="289735"/>
          </a:xfrm>
        </p:spPr>
        <p:txBody>
          <a:bodyPr>
            <a:normAutofit/>
          </a:bodyPr>
          <a:lstStyle>
            <a:lvl1pPr marL="0" indent="0" algn="ctr">
              <a:buNone/>
              <a:defRPr sz="1400">
                <a:solidFill>
                  <a:schemeClr val="tx1"/>
                </a:solidFill>
                <a:latin typeface="Century Gothic" panose="020B0502020202020204" pitchFamily="34" charset="0"/>
              </a:defRPr>
            </a:lvl1pPr>
          </a:lstStyle>
          <a:p>
            <a:pPr lvl="0"/>
            <a:r>
              <a:rPr lang="en-US" dirty="0"/>
              <a:t>First, Last Name – California Department of Fish and Wildlife</a:t>
            </a:r>
          </a:p>
        </p:txBody>
      </p:sp>
      <p:sp>
        <p:nvSpPr>
          <p:cNvPr id="14" name="Rectangle 13">
            <a:extLst>
              <a:ext uri="{FF2B5EF4-FFF2-40B4-BE49-F238E27FC236}">
                <a16:creationId xmlns:a16="http://schemas.microsoft.com/office/drawing/2014/main" id="{0242A69D-4275-F414-2C61-02683FA56216}"/>
              </a:ext>
              <a:ext uri="{C183D7F6-B498-43B3-948B-1728B52AA6E4}">
                <adec:decorative xmlns:adec="http://schemas.microsoft.com/office/drawing/2017/decorative" val="1"/>
              </a:ext>
            </a:extLst>
          </p:cNvPr>
          <p:cNvSpPr/>
          <p:nvPr userDrawn="1"/>
        </p:nvSpPr>
        <p:spPr>
          <a:xfrm>
            <a:off x="0" y="6705600"/>
            <a:ext cx="12192000" cy="152400"/>
          </a:xfrm>
          <a:prstGeom prst="rect">
            <a:avLst/>
          </a:prstGeom>
          <a:solidFill>
            <a:srgbClr val="1E7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2086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59BC-34CD-F546-199B-7C111FEF7272}"/>
              </a:ext>
            </a:extLst>
          </p:cNvPr>
          <p:cNvSpPr>
            <a:spLocks noGrp="1"/>
          </p:cNvSpPr>
          <p:nvPr>
            <p:ph type="title" hasCustomPrompt="1"/>
          </p:nvPr>
        </p:nvSpPr>
        <p:spPr>
          <a:xfrm>
            <a:off x="380998" y="437908"/>
            <a:ext cx="11421291" cy="760412"/>
          </a:xfrm>
        </p:spPr>
        <p:txBody>
          <a:bodyPr/>
          <a:lstStyle/>
          <a:p>
            <a:r>
              <a:rPr lang="en-US" dirty="0"/>
              <a:t>Click to edit title </a:t>
            </a:r>
          </a:p>
        </p:txBody>
      </p:sp>
      <p:sp>
        <p:nvSpPr>
          <p:cNvPr id="3" name="Content Placeholder 2">
            <a:extLst>
              <a:ext uri="{FF2B5EF4-FFF2-40B4-BE49-F238E27FC236}">
                <a16:creationId xmlns:a16="http://schemas.microsoft.com/office/drawing/2014/main" id="{D6765F90-C306-58CE-BEA8-25FB6AEBDE58}"/>
              </a:ext>
            </a:extLst>
          </p:cNvPr>
          <p:cNvSpPr>
            <a:spLocks noGrp="1"/>
          </p:cNvSpPr>
          <p:nvPr>
            <p:ph idx="1"/>
          </p:nvPr>
        </p:nvSpPr>
        <p:spPr>
          <a:xfrm>
            <a:off x="380998" y="1631599"/>
            <a:ext cx="3643540" cy="4769198"/>
          </a:xfrm>
        </p:spPr>
        <p:txBody>
          <a:bodyPr>
            <a:normAutofit/>
          </a:bodyPr>
          <a:lstStyle>
            <a:lvl1pPr>
              <a:defRPr sz="2400">
                <a:solidFill>
                  <a:srgbClr val="1E718F"/>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12">
            <a:extLst>
              <a:ext uri="{FF2B5EF4-FFF2-40B4-BE49-F238E27FC236}">
                <a16:creationId xmlns:a16="http://schemas.microsoft.com/office/drawing/2014/main" id="{4C7A9B63-5A41-C3DC-F351-2409C184475E}"/>
              </a:ext>
            </a:extLst>
          </p:cNvPr>
          <p:cNvSpPr>
            <a:spLocks noGrp="1"/>
          </p:cNvSpPr>
          <p:nvPr>
            <p:ph type="pic" sz="quarter" idx="10" hasCustomPrompt="1"/>
          </p:nvPr>
        </p:nvSpPr>
        <p:spPr>
          <a:xfrm>
            <a:off x="4281487" y="1631599"/>
            <a:ext cx="7910513" cy="4746975"/>
          </a:xfrm>
        </p:spPr>
        <p:txBody>
          <a:bodyPr/>
          <a:lstStyle>
            <a:lvl1pPr marL="0" indent="0">
              <a:buNone/>
              <a:defRPr/>
            </a:lvl1pPr>
          </a:lstStyle>
          <a:p>
            <a:r>
              <a:rPr lang="en-US" dirty="0"/>
              <a:t>Insert Picture</a:t>
            </a:r>
          </a:p>
        </p:txBody>
      </p:sp>
      <p:sp>
        <p:nvSpPr>
          <p:cNvPr id="9" name="Rectangle 8">
            <a:extLst>
              <a:ext uri="{FF2B5EF4-FFF2-40B4-BE49-F238E27FC236}">
                <a16:creationId xmlns:a16="http://schemas.microsoft.com/office/drawing/2014/main" id="{24CE80EE-C114-B206-6249-128EB26A5467}"/>
              </a:ext>
              <a:ext uri="{C183D7F6-B498-43B3-948B-1728B52AA6E4}">
                <adec:decorative xmlns:adec="http://schemas.microsoft.com/office/drawing/2017/decorative" val="1"/>
              </a:ext>
            </a:extLst>
          </p:cNvPr>
          <p:cNvSpPr/>
          <p:nvPr userDrawn="1"/>
        </p:nvSpPr>
        <p:spPr>
          <a:xfrm>
            <a:off x="0" y="6705600"/>
            <a:ext cx="12192000" cy="152400"/>
          </a:xfrm>
          <a:prstGeom prst="rect">
            <a:avLst/>
          </a:prstGeom>
          <a:solidFill>
            <a:srgbClr val="1E7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6977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CDC9D4-E20F-A9B8-ADF3-0E24AC935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7A7647-919C-749A-F62A-BDDD0737A4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2AEDA-C3E8-CA05-AD02-2CACE6CF2B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894A0D-C85C-4780-B778-2D041B1589AC}" type="datetimeFigureOut">
              <a:rPr lang="en-US" smtClean="0"/>
              <a:t>6/12/2026</a:t>
            </a:fld>
            <a:endParaRPr lang="en-US"/>
          </a:p>
        </p:txBody>
      </p:sp>
      <p:sp>
        <p:nvSpPr>
          <p:cNvPr id="5" name="Footer Placeholder 4">
            <a:extLst>
              <a:ext uri="{FF2B5EF4-FFF2-40B4-BE49-F238E27FC236}">
                <a16:creationId xmlns:a16="http://schemas.microsoft.com/office/drawing/2014/main" id="{70E68292-A4C9-797D-3A8B-8FEDB5568D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609C62-5445-81C7-8A86-CB526C6BE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3890DA-B637-4160-B51B-7CCB840AFB39}" type="slidenum">
              <a:rPr lang="en-US" smtClean="0"/>
              <a:t>‹#›</a:t>
            </a:fld>
            <a:endParaRPr lang="en-US"/>
          </a:p>
        </p:txBody>
      </p:sp>
    </p:spTree>
    <p:extLst>
      <p:ext uri="{BB962C8B-B14F-4D97-AF65-F5344CB8AC3E}">
        <p14:creationId xmlns:p14="http://schemas.microsoft.com/office/powerpoint/2010/main" val="3955416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rthurbarros-CDFW/CR_sampling"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50.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9.png"/><Relationship Id="rId4" Type="http://schemas.openxmlformats.org/officeDocument/2006/relationships/image" Target="../media/image5.svg"/><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2FC03835-5BB8-D71E-9395-6C6C05BB4ADA}"/>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t="18437" b="25731"/>
          <a:stretch/>
        </p:blipFill>
        <p:spPr>
          <a:xfrm>
            <a:off x="0" y="0"/>
            <a:ext cx="12192000" cy="3144838"/>
          </a:xfrm>
        </p:spPr>
      </p:pic>
      <p:pic>
        <p:nvPicPr>
          <p:cNvPr id="9" name="Picture 8" descr="California Fish and Wildlife Logo">
            <a:extLst>
              <a:ext uri="{FF2B5EF4-FFF2-40B4-BE49-F238E27FC236}">
                <a16:creationId xmlns:a16="http://schemas.microsoft.com/office/drawing/2014/main" id="{05BEA135-73FE-53A2-FE81-A29C0E9F1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016" y="2191216"/>
            <a:ext cx="1233966" cy="1628836"/>
          </a:xfrm>
          <a:prstGeom prst="rect">
            <a:avLst/>
          </a:prstGeom>
        </p:spPr>
      </p:pic>
      <p:sp>
        <p:nvSpPr>
          <p:cNvPr id="2" name="Title 1">
            <a:extLst>
              <a:ext uri="{FF2B5EF4-FFF2-40B4-BE49-F238E27FC236}">
                <a16:creationId xmlns:a16="http://schemas.microsoft.com/office/drawing/2014/main" id="{9439641B-5D2F-B0E9-1A5A-A2062A4786FC}"/>
              </a:ext>
            </a:extLst>
          </p:cNvPr>
          <p:cNvSpPr>
            <a:spLocks noGrp="1"/>
          </p:cNvSpPr>
          <p:nvPr>
            <p:ph type="ctrTitle"/>
          </p:nvPr>
        </p:nvSpPr>
        <p:spPr>
          <a:xfrm>
            <a:off x="1181098" y="4206021"/>
            <a:ext cx="9829800" cy="909637"/>
          </a:xfrm>
        </p:spPr>
        <p:txBody>
          <a:bodyPr>
            <a:normAutofit fontScale="90000"/>
          </a:bodyPr>
          <a:lstStyle/>
          <a:p>
            <a:r>
              <a:rPr lang="en-US" dirty="0">
                <a:solidFill>
                  <a:srgbClr val="1E718F"/>
                </a:solidFill>
                <a:latin typeface="Century Gothic" panose="020B0502020202020204" pitchFamily="34" charset="0"/>
              </a:rPr>
              <a:t>Scale sampling and analysis for cohort reconstruction</a:t>
            </a:r>
          </a:p>
        </p:txBody>
      </p:sp>
      <p:sp>
        <p:nvSpPr>
          <p:cNvPr id="7" name="Subtitle 6">
            <a:extLst>
              <a:ext uri="{FF2B5EF4-FFF2-40B4-BE49-F238E27FC236}">
                <a16:creationId xmlns:a16="http://schemas.microsoft.com/office/drawing/2014/main" id="{8BE11D55-20E6-FF15-A042-C53183279989}"/>
              </a:ext>
            </a:extLst>
          </p:cNvPr>
          <p:cNvSpPr>
            <a:spLocks noGrp="1"/>
          </p:cNvSpPr>
          <p:nvPr>
            <p:ph type="subTitle" idx="1"/>
          </p:nvPr>
        </p:nvSpPr>
        <p:spPr>
          <a:xfrm>
            <a:off x="1412589" y="5336054"/>
            <a:ext cx="9366819" cy="909637"/>
          </a:xfrm>
        </p:spPr>
        <p:txBody>
          <a:bodyPr vert="horz" lIns="91440" tIns="45720" rIns="91440" bIns="45720" rtlCol="0" anchor="t">
            <a:normAutofit/>
          </a:bodyPr>
          <a:lstStyle/>
          <a:p>
            <a:r>
              <a:rPr lang="en-US" dirty="0">
                <a:latin typeface="Century Gothic"/>
              </a:rPr>
              <a:t>June 12</a:t>
            </a:r>
            <a:r>
              <a:rPr lang="en-US" baseline="30000" dirty="0">
                <a:latin typeface="Century Gothic"/>
              </a:rPr>
              <a:t>th</a:t>
            </a:r>
            <a:r>
              <a:rPr lang="en-US" dirty="0">
                <a:latin typeface="Century Gothic"/>
              </a:rPr>
              <a:t>, 2026</a:t>
            </a:r>
          </a:p>
        </p:txBody>
      </p:sp>
    </p:spTree>
    <p:extLst>
      <p:ext uri="{BB962C8B-B14F-4D97-AF65-F5344CB8AC3E}">
        <p14:creationId xmlns:p14="http://schemas.microsoft.com/office/powerpoint/2010/main" val="2638691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75E83-1C94-B6FB-0D47-9A4CF3B8A8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2B29527-A963-7DA4-2902-BB5160FE297D}"/>
              </a:ext>
            </a:extLst>
          </p:cNvPr>
          <p:cNvSpPr>
            <a:spLocks noGrp="1"/>
          </p:cNvSpPr>
          <p:nvPr>
            <p:ph type="title"/>
          </p:nvPr>
        </p:nvSpPr>
        <p:spPr/>
        <p:txBody>
          <a:bodyPr/>
          <a:lstStyle/>
          <a:p>
            <a:r>
              <a:rPr lang="en-US" b="1" dirty="0">
                <a:solidFill>
                  <a:srgbClr val="1E718F"/>
                </a:solidFill>
                <a:latin typeface="Century Gothic" panose="020B0502020202020204" pitchFamily="34" charset="0"/>
              </a:rPr>
              <a:t>Outline</a:t>
            </a:r>
          </a:p>
        </p:txBody>
      </p:sp>
      <p:cxnSp>
        <p:nvCxnSpPr>
          <p:cNvPr id="7" name="Straight Connector 6">
            <a:extLst>
              <a:ext uri="{FF2B5EF4-FFF2-40B4-BE49-F238E27FC236}">
                <a16:creationId xmlns:a16="http://schemas.microsoft.com/office/drawing/2014/main" id="{69CF4FFA-8E3B-6618-2F09-24FD2C1E5837}"/>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BB0CE9E0-BADF-3898-7CF2-49A36036A131}"/>
              </a:ext>
            </a:extLst>
          </p:cNvPr>
          <p:cNvSpPr>
            <a:spLocks noGrp="1"/>
          </p:cNvSpPr>
          <p:nvPr>
            <p:ph idx="1"/>
          </p:nvPr>
        </p:nvSpPr>
        <p:spPr>
          <a:xfrm>
            <a:off x="380997" y="1405289"/>
            <a:ext cx="11515827" cy="4995508"/>
          </a:xfrm>
        </p:spPr>
        <p:txBody>
          <a:bodyPr vert="horz" lIns="91440" tIns="45720" rIns="91440" bIns="45720" rtlCol="0" anchor="t">
            <a:normAutofit/>
          </a:bodyPr>
          <a:lstStyle/>
          <a:p>
            <a:r>
              <a:rPr lang="en-US" sz="3200" b="1" dirty="0"/>
              <a:t>Review of sample size determination</a:t>
            </a:r>
          </a:p>
          <a:p>
            <a:r>
              <a:rPr lang="en-US" sz="3200" b="1" dirty="0"/>
              <a:t>Scale selection methods</a:t>
            </a:r>
          </a:p>
          <a:p>
            <a:pPr marL="971550" lvl="1" indent="-514350">
              <a:buFont typeface="+mj-lt"/>
              <a:buAutoNum type="arabicPeriod"/>
            </a:pPr>
            <a:r>
              <a:rPr lang="en-US" sz="2800" dirty="0"/>
              <a:t>Scale collection from escapement surveys.</a:t>
            </a:r>
          </a:p>
          <a:p>
            <a:pPr marL="971550" lvl="1" indent="-514350">
              <a:buFont typeface="+mj-lt"/>
              <a:buAutoNum type="arabicPeriod"/>
            </a:pPr>
            <a:r>
              <a:rPr lang="en-US" sz="2800" dirty="0"/>
              <a:t>Estimating survey location abundance.</a:t>
            </a:r>
          </a:p>
          <a:p>
            <a:pPr marL="971550" lvl="1" indent="-514350">
              <a:buFont typeface="+mj-lt"/>
              <a:buAutoNum type="arabicPeriod"/>
            </a:pPr>
            <a:r>
              <a:rPr lang="en-US" sz="2800" dirty="0"/>
              <a:t>Estimating locations contribution to basin abundance.</a:t>
            </a:r>
          </a:p>
          <a:p>
            <a:pPr marL="971550" lvl="1" indent="-514350">
              <a:buFont typeface="+mj-lt"/>
              <a:buAutoNum type="arabicPeriod"/>
            </a:pPr>
            <a:r>
              <a:rPr lang="en-US" sz="2800" dirty="0"/>
              <a:t>Selection of scales for aging.</a:t>
            </a:r>
          </a:p>
          <a:p>
            <a:pPr marL="971550" lvl="1" indent="-514350">
              <a:buFont typeface="+mj-lt"/>
              <a:buAutoNum type="arabicPeriod"/>
            </a:pPr>
            <a:r>
              <a:rPr lang="en-US" sz="2800" dirty="0"/>
              <a:t>Pooling and aging scales from across the basin.</a:t>
            </a:r>
          </a:p>
          <a:p>
            <a:pPr marL="0" indent="0">
              <a:buNone/>
            </a:pPr>
            <a:endParaRPr lang="en-US" sz="3200" dirty="0"/>
          </a:p>
          <a:p>
            <a:pPr marL="0" indent="0">
              <a:buNone/>
            </a:pPr>
            <a:r>
              <a:rPr lang="en-US" sz="3200" dirty="0"/>
              <a:t>GitHub: </a:t>
            </a:r>
            <a:r>
              <a:rPr lang="en-US" sz="3200" dirty="0">
                <a:hlinkClick r:id="rId3"/>
              </a:rPr>
              <a:t>https://github.com/arthurbarros-CDFW/CR_sampling</a:t>
            </a:r>
            <a:endParaRPr lang="en-US" sz="3200" dirty="0"/>
          </a:p>
        </p:txBody>
      </p:sp>
    </p:spTree>
    <p:extLst>
      <p:ext uri="{BB962C8B-B14F-4D97-AF65-F5344CB8AC3E}">
        <p14:creationId xmlns:p14="http://schemas.microsoft.com/office/powerpoint/2010/main" val="1615530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E0D86-3EAB-20D6-A372-B37D77BA0AD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AE11993-6D95-653B-4C4F-0E3EE812DD89}"/>
              </a:ext>
            </a:extLst>
          </p:cNvPr>
          <p:cNvSpPr>
            <a:spLocks noGrp="1"/>
          </p:cNvSpPr>
          <p:nvPr>
            <p:ph type="title"/>
          </p:nvPr>
        </p:nvSpPr>
        <p:spPr/>
        <p:txBody>
          <a:bodyPr>
            <a:normAutofit fontScale="90000"/>
          </a:bodyPr>
          <a:lstStyle/>
          <a:p>
            <a:r>
              <a:rPr lang="en-US" b="1" dirty="0">
                <a:solidFill>
                  <a:srgbClr val="1E718F"/>
                </a:solidFill>
                <a:latin typeface="Century Gothic" panose="020B0502020202020204" pitchFamily="34" charset="0"/>
              </a:rPr>
              <a:t>Cohort Reconstruction (CR) in the Sac Basin</a:t>
            </a:r>
          </a:p>
        </p:txBody>
      </p:sp>
      <p:cxnSp>
        <p:nvCxnSpPr>
          <p:cNvPr id="7" name="Straight Connector 6">
            <a:extLst>
              <a:ext uri="{FF2B5EF4-FFF2-40B4-BE49-F238E27FC236}">
                <a16:creationId xmlns:a16="http://schemas.microsoft.com/office/drawing/2014/main" id="{92B19884-BBD2-BFAB-8F8B-7FBD3A44966D}"/>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370E7FC5-99B6-5FCC-A7A6-23DA03A4F434}"/>
              </a:ext>
            </a:extLst>
          </p:cNvPr>
          <p:cNvSpPr>
            <a:spLocks noGrp="1"/>
          </p:cNvSpPr>
          <p:nvPr>
            <p:ph idx="1"/>
          </p:nvPr>
        </p:nvSpPr>
        <p:spPr>
          <a:xfrm>
            <a:off x="380997" y="1405289"/>
            <a:ext cx="11515827" cy="4995508"/>
          </a:xfrm>
        </p:spPr>
        <p:txBody>
          <a:bodyPr vert="horz" lIns="91440" tIns="45720" rIns="91440" bIns="45720" rtlCol="0" anchor="t">
            <a:normAutofit/>
          </a:bodyPr>
          <a:lstStyle/>
          <a:p>
            <a:r>
              <a:rPr lang="en-US" sz="3200" b="1" dirty="0"/>
              <a:t>Context</a:t>
            </a:r>
            <a:r>
              <a:rPr lang="en-US" sz="3200" dirty="0"/>
              <a:t>: efforts are underway to implement age-structured Cohort Reconstruction (CR) for the Sacramento R. basin to replace/compliment the Sacramento Index.</a:t>
            </a:r>
          </a:p>
          <a:p>
            <a:endParaRPr lang="en-US" sz="3200" dirty="0"/>
          </a:p>
          <a:p>
            <a:r>
              <a:rPr lang="en-US" sz="3200" b="1" dirty="0"/>
              <a:t>Challenge</a:t>
            </a:r>
            <a:r>
              <a:rPr lang="en-US" sz="3200" dirty="0"/>
              <a:t>: accurately estimating natural-origin Sacramento River fall-run Chinook Salmon (SFCS) escapement by age.</a:t>
            </a:r>
          </a:p>
          <a:p>
            <a:endParaRPr lang="en-US" sz="3200" dirty="0"/>
          </a:p>
          <a:p>
            <a:r>
              <a:rPr lang="en-US" sz="3200" b="1" dirty="0"/>
              <a:t>Initial question</a:t>
            </a:r>
            <a:r>
              <a:rPr lang="en-US" sz="3200" dirty="0"/>
              <a:t>: How many scales are needed to accurately estimate natural-origin age-class proportions?</a:t>
            </a:r>
          </a:p>
        </p:txBody>
      </p:sp>
    </p:spTree>
    <p:extLst>
      <p:ext uri="{BB962C8B-B14F-4D97-AF65-F5344CB8AC3E}">
        <p14:creationId xmlns:p14="http://schemas.microsoft.com/office/powerpoint/2010/main" val="897170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84A4-9AFE-395E-905A-32024A9FB55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6077962-F62F-3A39-78CD-D921CF3B76F4}"/>
              </a:ext>
            </a:extLst>
          </p:cNvPr>
          <p:cNvSpPr>
            <a:spLocks noGrp="1"/>
          </p:cNvSpPr>
          <p:nvPr>
            <p:ph type="title"/>
          </p:nvPr>
        </p:nvSpPr>
        <p:spPr/>
        <p:txBody>
          <a:bodyPr/>
          <a:lstStyle/>
          <a:p>
            <a:r>
              <a:rPr lang="en-US" b="1" dirty="0">
                <a:solidFill>
                  <a:srgbClr val="1E718F"/>
                </a:solidFill>
                <a:latin typeface="Century Gothic" panose="020B0502020202020204" pitchFamily="34" charset="0"/>
              </a:rPr>
              <a:t>CR sources of uncertainty</a:t>
            </a:r>
          </a:p>
        </p:txBody>
      </p:sp>
      <p:cxnSp>
        <p:nvCxnSpPr>
          <p:cNvPr id="7" name="Straight Connector 6">
            <a:extLst>
              <a:ext uri="{FF2B5EF4-FFF2-40B4-BE49-F238E27FC236}">
                <a16:creationId xmlns:a16="http://schemas.microsoft.com/office/drawing/2014/main" id="{89E94846-8439-88D8-BDB2-39E71636B2BE}"/>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03EDCEA6-71C3-998C-6FB7-B20E31E40947}"/>
                  </a:ext>
                </a:extLst>
              </p:cNvPr>
              <p:cNvSpPr>
                <a:spLocks noGrp="1"/>
              </p:cNvSpPr>
              <p:nvPr>
                <p:ph idx="1"/>
              </p:nvPr>
            </p:nvSpPr>
            <p:spPr>
              <a:xfrm>
                <a:off x="380997" y="1405289"/>
                <a:ext cx="11515827" cy="4995508"/>
              </a:xfrm>
            </p:spPr>
            <p:txBody>
              <a:bodyPr vert="horz" lIns="91440" tIns="45720" rIns="91440" bIns="45720" rtlCol="0" anchor="t">
                <a:normAutofit/>
              </a:bodyPr>
              <a:lstStyle/>
              <a:p>
                <a:r>
                  <a:rPr lang="en-US" sz="3200" dirty="0"/>
                  <a:t>Escapement estimates (</a:t>
                </a:r>
                <a14:m>
                  <m:oMath xmlns:m="http://schemas.openxmlformats.org/officeDocument/2006/math">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oMath>
                </a14:m>
                <a:r>
                  <a:rPr lang="en-US" sz="3200" dirty="0"/>
                  <a:t>, unreported, unpublished).</a:t>
                </a:r>
              </a:p>
              <a:p>
                <a:r>
                  <a:rPr lang="en-US" sz="3200" dirty="0"/>
                  <a:t>Fish recovery rate (</a:t>
                </a:r>
                <a14:m>
                  <m:oMath xmlns:m="http://schemas.openxmlformats.org/officeDocument/2006/math">
                    <m:r>
                      <a:rPr lang="en-US" sz="3200" i="1">
                        <a:latin typeface="Cambria Math" panose="02040503050406030204" pitchFamily="18" charset="0"/>
                        <a:ea typeface="Cambria Math" panose="02040503050406030204" pitchFamily="18" charset="0"/>
                      </a:rPr>
                      <m:t>𝜃</m:t>
                    </m:r>
                  </m:oMath>
                </a14:m>
                <a:r>
                  <a:rPr lang="en-US" sz="3200" dirty="0"/>
                  <a:t>).</a:t>
                </a:r>
              </a:p>
              <a:p>
                <a:pPr lvl="1"/>
                <a14:m>
                  <m:oMath xmlns:m="http://schemas.openxmlformats.org/officeDocument/2006/math">
                    <m:r>
                      <a:rPr lang="en-US" sz="2800" i="1">
                        <a:latin typeface="Cambria Math" panose="02040503050406030204" pitchFamily="18" charset="0"/>
                      </a:rPr>
                      <m:t>𝑘</m:t>
                    </m:r>
                    <m:r>
                      <a:rPr lang="en-US" sz="2800" i="1">
                        <a:latin typeface="Cambria Math" panose="02040503050406030204" pitchFamily="18" charset="0"/>
                      </a:rPr>
                      <m:t> ~ </m:t>
                    </m:r>
                    <m:r>
                      <a:rPr lang="en-US" sz="2800" i="1">
                        <a:latin typeface="Cambria Math" panose="02040503050406030204" pitchFamily="18" charset="0"/>
                      </a:rPr>
                      <m:t>𝑁𝐵</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𝜃</m:t>
                        </m:r>
                      </m:e>
                    </m:d>
                  </m:oMath>
                </a14:m>
                <a:r>
                  <a:rPr lang="en-US" sz="2800" dirty="0"/>
                  <a:t> expansion of recovered tags to estimate number of unrecovered tagged fish.</a:t>
                </a:r>
              </a:p>
              <a:p>
                <a:r>
                  <a:rPr lang="en-US" sz="3200" dirty="0"/>
                  <a:t>Tag-rate expansion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𝑝𝑟𝑜𝑑</m:t>
                        </m:r>
                      </m:sub>
                    </m:sSub>
                  </m:oMath>
                </a14:m>
                <a:r>
                  <a:rPr lang="en-US" sz="3200" dirty="0"/>
                  <a:t>).</a:t>
                </a:r>
              </a:p>
              <a:p>
                <a:pPr lvl="1"/>
                <a:r>
                  <a:rPr lang="en-US" sz="2800" dirty="0"/>
                  <a:t>Used to estimate total hatchery-origin abundance.</a:t>
                </a:r>
              </a:p>
              <a:p>
                <a:r>
                  <a:rPr lang="en-US" sz="3200" b="1" dirty="0"/>
                  <a:t>Scale subsampling </a:t>
                </a:r>
                <a:r>
                  <a:rPr lang="en-US" sz="3200" dirty="0"/>
                  <a:t>(</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𝑛</m:t>
                        </m:r>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oMath>
                </a14:m>
                <a:r>
                  <a:rPr lang="en-US" sz="3200" dirty="0"/>
                  <a:t>).</a:t>
                </a:r>
              </a:p>
              <a:p>
                <a:pPr lvl="1"/>
                <a:r>
                  <a:rPr lang="en-US" sz="2800" dirty="0"/>
                  <a:t>Used to estimate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r>
                          <a:rPr lang="en-US" sz="2800" i="1">
                            <a:latin typeface="Cambria Math" panose="02040503050406030204" pitchFamily="18" charset="0"/>
                          </a:rPr>
                          <m:t>,</m:t>
                        </m:r>
                        <m:r>
                          <a:rPr lang="en-US" sz="2800" i="1">
                            <a:latin typeface="Cambria Math" panose="02040503050406030204" pitchFamily="18" charset="0"/>
                          </a:rPr>
                          <m:t>𝑎</m:t>
                        </m:r>
                      </m:sub>
                    </m:sSub>
                  </m:oMath>
                </a14:m>
                <a:r>
                  <a:rPr lang="en-US" sz="2800" dirty="0"/>
                  <a:t>, proportion of each age-class for all untagged fish.</a:t>
                </a:r>
              </a:p>
              <a:p>
                <a:r>
                  <a:rPr lang="en-US" sz="3200" dirty="0"/>
                  <a:t>Scale aging bias and correction (unreported here).</a:t>
                </a:r>
              </a:p>
            </p:txBody>
          </p:sp>
        </mc:Choice>
        <mc:Fallback xmlns="">
          <p:sp>
            <p:nvSpPr>
              <p:cNvPr id="2" name="Content Placeholder 8">
                <a:extLst>
                  <a:ext uri="{FF2B5EF4-FFF2-40B4-BE49-F238E27FC236}">
                    <a16:creationId xmlns:a16="http://schemas.microsoft.com/office/drawing/2014/main" id="{03EDCEA6-71C3-998C-6FB7-B20E31E40947}"/>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164" t="-2198" b="-3663"/>
                </a:stretch>
              </a:blipFill>
            </p:spPr>
            <p:txBody>
              <a:bodyPr/>
              <a:lstStyle/>
              <a:p>
                <a:r>
                  <a:rPr lang="en-US">
                    <a:noFill/>
                  </a:rPr>
                  <a:t> </a:t>
                </a:r>
              </a:p>
            </p:txBody>
          </p:sp>
        </mc:Fallback>
      </mc:AlternateContent>
    </p:spTree>
    <p:extLst>
      <p:ext uri="{BB962C8B-B14F-4D97-AF65-F5344CB8AC3E}">
        <p14:creationId xmlns:p14="http://schemas.microsoft.com/office/powerpoint/2010/main" val="1420847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8C582-C464-AD2D-2B3D-BC3BF7BAAE6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13013C9-28B5-08C6-F030-8A22CB33D7EA}"/>
              </a:ext>
            </a:extLst>
          </p:cNvPr>
          <p:cNvSpPr>
            <a:spLocks noGrp="1"/>
          </p:cNvSpPr>
          <p:nvPr>
            <p:ph type="title"/>
          </p:nvPr>
        </p:nvSpPr>
        <p:spPr/>
        <p:txBody>
          <a:bodyPr/>
          <a:lstStyle/>
          <a:p>
            <a:r>
              <a:rPr lang="en-US" b="1" dirty="0">
                <a:solidFill>
                  <a:srgbClr val="1E718F"/>
                </a:solidFill>
                <a:latin typeface="Century Gothic" panose="020B0502020202020204" pitchFamily="34" charset="0"/>
              </a:rPr>
              <a:t>How uncertainty is incorporated</a:t>
            </a:r>
          </a:p>
        </p:txBody>
      </p:sp>
      <p:cxnSp>
        <p:nvCxnSpPr>
          <p:cNvPr id="7" name="Straight Connector 6">
            <a:extLst>
              <a:ext uri="{FF2B5EF4-FFF2-40B4-BE49-F238E27FC236}">
                <a16:creationId xmlns:a16="http://schemas.microsoft.com/office/drawing/2014/main" id="{63FCF546-6BB7-5969-D2D6-64B3404567B6}"/>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E72631D0-529C-4E72-2FF0-E608AAE246D8}"/>
                  </a:ext>
                </a:extLst>
              </p:cNvPr>
              <p:cNvSpPr>
                <a:spLocks noGrp="1"/>
              </p:cNvSpPr>
              <p:nvPr>
                <p:ph idx="1"/>
              </p:nvPr>
            </p:nvSpPr>
            <p:spPr>
              <a:xfrm>
                <a:off x="380997" y="2300515"/>
                <a:ext cx="11515827" cy="4100282"/>
              </a:xfrm>
            </p:spPr>
            <p:txBody>
              <a:bodyPr vert="horz" lIns="91440" tIns="45720" rIns="91440" bIns="45720" rtlCol="0" anchor="t">
                <a:normAutofit/>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r>
                                <a:rPr lang="en-US" sz="3200" i="1">
                                  <a:latin typeface="Cambria Math" panose="02040503050406030204" pitchFamily="18" charset="0"/>
                                </a:rPr>
                                <m:t>,</m:t>
                              </m:r>
                              <m:r>
                                <a:rPr lang="en-US" sz="3200" i="1">
                                  <a:latin typeface="Cambria Math" panose="02040503050406030204" pitchFamily="18" charset="0"/>
                                </a:rPr>
                                <m:t>𝑎</m:t>
                              </m:r>
                            </m:sub>
                          </m:sSub>
                          <m:r>
                            <a:rPr lang="en-US" sz="3200" b="0" i="1" smtClean="0">
                              <a:latin typeface="Cambria Math" panose="02040503050406030204" pitchFamily="18" charset="0"/>
                            </a:rPr>
                            <m:t>=</m:t>
                          </m:r>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b="0" i="1" smtClean="0">
                              <a:latin typeface="Cambria Math" panose="02040503050406030204" pitchFamily="18" charset="0"/>
                            </a:rPr>
                            <m:t>𝑁𝑂</m:t>
                          </m:r>
                          <m:r>
                            <a:rPr lang="en-US" sz="3200" b="0" i="1" smtClean="0">
                              <a:latin typeface="Cambria Math" panose="02040503050406030204" pitchFamily="18" charset="0"/>
                            </a:rPr>
                            <m:t>−</m:t>
                          </m:r>
                          <m:r>
                            <a:rPr lang="en-US" sz="3200" b="0" i="1" smtClean="0">
                              <a:latin typeface="Cambria Math" panose="02040503050406030204" pitchFamily="18" charset="0"/>
                            </a:rPr>
                            <m:t>𝐶𝑊𝑇</m:t>
                          </m:r>
                          <m:r>
                            <a:rPr lang="en-US" sz="3200" b="0" i="1" smtClean="0">
                              <a:latin typeface="Cambria Math" panose="02040503050406030204" pitchFamily="18" charset="0"/>
                            </a:rPr>
                            <m:t>,</m:t>
                          </m:r>
                          <m:r>
                            <a:rPr lang="en-US" sz="3200" i="1">
                              <a:latin typeface="Cambria Math" panose="02040503050406030204" pitchFamily="18" charset="0"/>
                            </a:rPr>
                            <m:t>𝑎</m:t>
                          </m:r>
                        </m:sub>
                      </m:sSub>
                    </m:oMath>
                  </m:oMathPara>
                </a14:m>
                <a:endParaRPr lang="en-US" sz="3200" dirty="0"/>
              </a:p>
              <a:p>
                <a:pPr marL="0" indent="0" algn="ctr">
                  <a:buNone/>
                </a:pPr>
                <a:endParaRPr lang="en-US" sz="3200" dirty="0"/>
              </a:p>
              <a:p>
                <a:pPr marL="0" indent="0" algn="ctr">
                  <a:buNone/>
                </a:pPr>
                <a:endParaRPr lang="en-US" sz="3200" dirty="0"/>
              </a:p>
              <a:p>
                <a:pPr marL="0" indent="0" algn="ctr">
                  <a:buNone/>
                </a:pPr>
                <a:endParaRPr lang="en-US" sz="3200" dirty="0"/>
              </a:p>
              <a:p>
                <a:pPr marL="0" indent="0" algn="ctr">
                  <a:buNone/>
                </a:pPr>
                <a:endParaRPr lang="en-US" sz="3200" dirty="0"/>
              </a:p>
              <a:p>
                <a:pPr marL="0" indent="0" algn="ctr">
                  <a:buNone/>
                </a:pP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𝑛𝑜</m:t>
                        </m:r>
                        <m:r>
                          <a:rPr lang="en-US" sz="3200" i="1">
                            <a:latin typeface="Cambria Math" panose="02040503050406030204" pitchFamily="18" charset="0"/>
                          </a:rPr>
                          <m:t>,</m:t>
                        </m:r>
                        <m:r>
                          <a:rPr lang="en-US" sz="3200" i="1">
                            <a:latin typeface="Cambria Math" panose="02040503050406030204" pitchFamily="18" charset="0"/>
                          </a:rPr>
                          <m:t>𝑎</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r>
                          <a:rPr lang="en-US" sz="3200" i="1">
                            <a:latin typeface="Cambria Math" panose="02040503050406030204" pitchFamily="18" charset="0"/>
                          </a:rPr>
                          <m:t>,</m:t>
                        </m:r>
                        <m:r>
                          <a:rPr lang="en-US" sz="3200" i="1">
                            <a:latin typeface="Cambria Math" panose="02040503050406030204" pitchFamily="18" charset="0"/>
                          </a:rPr>
                          <m:t>𝑎</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𝑁</m:t>
                            </m:r>
                          </m:e>
                        </m:acc>
                      </m:e>
                      <m:sub>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r>
                          <a:rPr lang="en-US" sz="3200" i="1">
                            <a:latin typeface="Cambria Math" panose="02040503050406030204" pitchFamily="18" charset="0"/>
                          </a:rPr>
                          <m:t>,</m:t>
                        </m:r>
                        <m:r>
                          <a:rPr lang="en-US" sz="3200" i="1">
                            <a:latin typeface="Cambria Math" panose="02040503050406030204" pitchFamily="18" charset="0"/>
                          </a:rPr>
                          <m:t>h𝑜</m:t>
                        </m:r>
                        <m:r>
                          <a:rPr lang="en-US" sz="3200" i="1">
                            <a:latin typeface="Cambria Math" panose="02040503050406030204" pitchFamily="18" charset="0"/>
                          </a:rPr>
                          <m:t>,</m:t>
                        </m:r>
                        <m:r>
                          <a:rPr lang="en-US" sz="3200" i="1">
                            <a:latin typeface="Cambria Math" panose="02040503050406030204" pitchFamily="18" charset="0"/>
                          </a:rPr>
                          <m:t>𝑎</m:t>
                        </m:r>
                      </m:sub>
                    </m:sSub>
                  </m:oMath>
                </a14:m>
                <a:r>
                  <a:rPr lang="en-US" sz="3200" dirty="0"/>
                  <a:t> </a:t>
                </a:r>
              </a:p>
            </p:txBody>
          </p:sp>
        </mc:Choice>
        <mc:Fallback xmlns="">
          <p:sp>
            <p:nvSpPr>
              <p:cNvPr id="2" name="Content Placeholder 8">
                <a:extLst>
                  <a:ext uri="{FF2B5EF4-FFF2-40B4-BE49-F238E27FC236}">
                    <a16:creationId xmlns:a16="http://schemas.microsoft.com/office/drawing/2014/main" id="{E72631D0-529C-4E72-2FF0-E608AAE246D8}"/>
                  </a:ext>
                </a:extLst>
              </p:cNvPr>
              <p:cNvSpPr>
                <a:spLocks noGrp="1" noRot="1" noChangeAspect="1" noMove="1" noResize="1" noEditPoints="1" noAdjustHandles="1" noChangeArrowheads="1" noChangeShapeType="1" noTextEdit="1"/>
              </p:cNvSpPr>
              <p:nvPr>
                <p:ph idx="1"/>
              </p:nvPr>
            </p:nvSpPr>
            <p:spPr>
              <a:xfrm>
                <a:off x="380997" y="2300515"/>
                <a:ext cx="11515827" cy="4100282"/>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D457CD-64C6-5D2D-1E51-4E348A942E48}"/>
                  </a:ext>
                </a:extLst>
              </p:cNvPr>
              <p:cNvSpPr txBox="1"/>
              <p:nvPr/>
            </p:nvSpPr>
            <p:spPr>
              <a:xfrm>
                <a:off x="2450007" y="3300046"/>
                <a:ext cx="2046514" cy="923330"/>
              </a:xfrm>
              <a:prstGeom prst="rect">
                <a:avLst/>
              </a:prstGeom>
              <a:noFill/>
            </p:spPr>
            <p:txBody>
              <a:bodyPr wrap="square" rtlCol="0">
                <a:spAutoFit/>
              </a:bodyPr>
              <a:lstStyle/>
              <a:p>
                <a:pPr algn="ctr"/>
                <a:r>
                  <a:rPr lang="en-US" dirty="0"/>
                  <a:t>abundance of untagged fish for age-class </a:t>
                </a:r>
                <a14:m>
                  <m:oMath xmlns:m="http://schemas.openxmlformats.org/officeDocument/2006/math">
                    <m:r>
                      <a:rPr lang="en-US" i="1">
                        <a:latin typeface="Cambria Math" panose="02040503050406030204" pitchFamily="18" charset="0"/>
                      </a:rPr>
                      <m:t>𝑎</m:t>
                    </m:r>
                  </m:oMath>
                </a14:m>
                <a:endParaRPr lang="en-US" dirty="0"/>
              </a:p>
            </p:txBody>
          </p:sp>
        </mc:Choice>
        <mc:Fallback xmlns="">
          <p:sp>
            <p:nvSpPr>
              <p:cNvPr id="5" name="TextBox 4">
                <a:extLst>
                  <a:ext uri="{FF2B5EF4-FFF2-40B4-BE49-F238E27FC236}">
                    <a16:creationId xmlns:a16="http://schemas.microsoft.com/office/drawing/2014/main" id="{6FD457CD-64C6-5D2D-1E51-4E348A942E48}"/>
                  </a:ext>
                </a:extLst>
              </p:cNvPr>
              <p:cNvSpPr txBox="1">
                <a:spLocks noRot="1" noChangeAspect="1" noMove="1" noResize="1" noEditPoints="1" noAdjustHandles="1" noChangeArrowheads="1" noChangeShapeType="1" noTextEdit="1"/>
              </p:cNvSpPr>
              <p:nvPr/>
            </p:nvSpPr>
            <p:spPr>
              <a:xfrm>
                <a:off x="2450007" y="3300046"/>
                <a:ext cx="2046514" cy="923330"/>
              </a:xfrm>
              <a:prstGeom prst="rect">
                <a:avLst/>
              </a:prstGeom>
              <a:blipFill>
                <a:blip r:embed="rId4"/>
                <a:stretch>
                  <a:fillRect t="-2632" b="-9868"/>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08C790FB-5318-C718-F905-E7C83AB4855B}"/>
              </a:ext>
            </a:extLst>
          </p:cNvPr>
          <p:cNvCxnSpPr>
            <a:cxnSpLocks/>
          </p:cNvCxnSpPr>
          <p:nvPr/>
        </p:nvCxnSpPr>
        <p:spPr>
          <a:xfrm flipV="1">
            <a:off x="3597026" y="2859314"/>
            <a:ext cx="108412" cy="42493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A8915AB-2132-520D-A589-CB613CBF03E3}"/>
                  </a:ext>
                </a:extLst>
              </p:cNvPr>
              <p:cNvSpPr txBox="1"/>
              <p:nvPr/>
            </p:nvSpPr>
            <p:spPr>
              <a:xfrm>
                <a:off x="4851035" y="1162898"/>
                <a:ext cx="3538585" cy="1221745"/>
              </a:xfrm>
              <a:prstGeom prst="rect">
                <a:avLst/>
              </a:prstGeom>
              <a:noFill/>
            </p:spPr>
            <p:txBody>
              <a:bodyPr wrap="square" rtlCol="0">
                <a:spAutoFit/>
              </a:bodyPr>
              <a:lstStyle/>
              <a:p>
                <a:pPr algn="ctr"/>
                <a:r>
                  <a:rPr lang="en-US" dirty="0"/>
                  <a:t>abundance of untagged fish derives uncertainty from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 ~ </m:t>
                    </m:r>
                    <m:r>
                      <a:rPr lang="en-US" i="1">
                        <a:latin typeface="Cambria Math" panose="02040503050406030204" pitchFamily="18" charset="0"/>
                      </a:rPr>
                      <m:t>𝑁𝐵</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𝜃</m:t>
                        </m:r>
                      </m:e>
                    </m:d>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𝑝𝑟𝑜𝑑</m:t>
                        </m:r>
                      </m:sub>
                    </m:sSub>
                  </m:oMath>
                </a14:m>
                <a:r>
                  <a:rPr lang="en-US" dirty="0"/>
                  <a:t> (tag rate)</a:t>
                </a:r>
              </a:p>
              <a:p>
                <a:pPr algn="ctr"/>
                <a:endParaRPr lang="en-US" dirty="0"/>
              </a:p>
            </p:txBody>
          </p:sp>
        </mc:Choice>
        <mc:Fallback xmlns="">
          <p:sp>
            <p:nvSpPr>
              <p:cNvPr id="11" name="TextBox 10">
                <a:extLst>
                  <a:ext uri="{FF2B5EF4-FFF2-40B4-BE49-F238E27FC236}">
                    <a16:creationId xmlns:a16="http://schemas.microsoft.com/office/drawing/2014/main" id="{3A8915AB-2132-520D-A589-CB613CBF03E3}"/>
                  </a:ext>
                </a:extLst>
              </p:cNvPr>
              <p:cNvSpPr txBox="1">
                <a:spLocks noRot="1" noChangeAspect="1" noMove="1" noResize="1" noEditPoints="1" noAdjustHandles="1" noChangeArrowheads="1" noChangeShapeType="1" noTextEdit="1"/>
              </p:cNvSpPr>
              <p:nvPr/>
            </p:nvSpPr>
            <p:spPr>
              <a:xfrm>
                <a:off x="4851035" y="1162898"/>
                <a:ext cx="3538585" cy="1221745"/>
              </a:xfrm>
              <a:prstGeom prst="rect">
                <a:avLst/>
              </a:prstGeom>
              <a:blipFill>
                <a:blip r:embed="rId5"/>
                <a:stretch>
                  <a:fillRect t="-2500"/>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04B47030-8F54-CF33-5ED8-BA0A30E05D10}"/>
              </a:ext>
            </a:extLst>
          </p:cNvPr>
          <p:cNvCxnSpPr>
            <a:cxnSpLocks/>
          </p:cNvCxnSpPr>
          <p:nvPr/>
        </p:nvCxnSpPr>
        <p:spPr>
          <a:xfrm flipH="1">
            <a:off x="5914571" y="2101331"/>
            <a:ext cx="3144" cy="3733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AE5E566-C814-DE4B-B74C-327472504658}"/>
                  </a:ext>
                </a:extLst>
              </p:cNvPr>
              <p:cNvSpPr txBox="1"/>
              <p:nvPr/>
            </p:nvSpPr>
            <p:spPr>
              <a:xfrm>
                <a:off x="9850310" y="1271956"/>
                <a:ext cx="2290890" cy="1754326"/>
              </a:xfrm>
              <a:prstGeom prst="rect">
                <a:avLst/>
              </a:prstGeom>
              <a:noFill/>
            </p:spPr>
            <p:txBody>
              <a:bodyPr wrap="square" rtlCol="0">
                <a:spAutoFit/>
              </a:bodyPr>
              <a:lstStyle/>
              <a:p>
                <a:pPr algn="ctr"/>
                <a:r>
                  <a:rPr lang="en-US" dirty="0"/>
                  <a:t>proportions of age-class </a:t>
                </a:r>
                <a14:m>
                  <m:oMath xmlns:m="http://schemas.openxmlformats.org/officeDocument/2006/math">
                    <m:r>
                      <a:rPr lang="en-US" i="1">
                        <a:latin typeface="Cambria Math" panose="02040503050406030204" pitchFamily="18" charset="0"/>
                      </a:rPr>
                      <m:t>𝑎</m:t>
                    </m:r>
                  </m:oMath>
                </a14:m>
                <a:r>
                  <a:rPr lang="en-US" dirty="0"/>
                  <a:t> of the untagged recoveries</a:t>
                </a:r>
              </a:p>
              <a:p>
                <a:pPr algn="ctr"/>
                <a:r>
                  <a:rPr lang="en-US" dirty="0"/>
                  <a:t>derives uncertainty from scale sampling and aging</a:t>
                </a:r>
              </a:p>
            </p:txBody>
          </p:sp>
        </mc:Choice>
        <mc:Fallback xmlns="">
          <p:sp>
            <p:nvSpPr>
              <p:cNvPr id="15" name="TextBox 14">
                <a:extLst>
                  <a:ext uri="{FF2B5EF4-FFF2-40B4-BE49-F238E27FC236}">
                    <a16:creationId xmlns:a16="http://schemas.microsoft.com/office/drawing/2014/main" id="{6AE5E566-C814-DE4B-B74C-327472504658}"/>
                  </a:ext>
                </a:extLst>
              </p:cNvPr>
              <p:cNvSpPr txBox="1">
                <a:spLocks noRot="1" noChangeAspect="1" noMove="1" noResize="1" noEditPoints="1" noAdjustHandles="1" noChangeArrowheads="1" noChangeShapeType="1" noTextEdit="1"/>
              </p:cNvSpPr>
              <p:nvPr/>
            </p:nvSpPr>
            <p:spPr>
              <a:xfrm>
                <a:off x="9850310" y="1271956"/>
                <a:ext cx="2290890" cy="1754326"/>
              </a:xfrm>
              <a:prstGeom prst="rect">
                <a:avLst/>
              </a:prstGeom>
              <a:blipFill>
                <a:blip r:embed="rId6"/>
                <a:stretch>
                  <a:fillRect t="-1742" r="-1330" b="-5226"/>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BA69EC5D-D358-DBAE-51B0-953A928DB371}"/>
              </a:ext>
            </a:extLst>
          </p:cNvPr>
          <p:cNvCxnSpPr>
            <a:cxnSpLocks/>
          </p:cNvCxnSpPr>
          <p:nvPr/>
        </p:nvCxnSpPr>
        <p:spPr>
          <a:xfrm flipH="1">
            <a:off x="9078686" y="2300515"/>
            <a:ext cx="885371" cy="2467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35E9DE5-416B-1072-04B3-B155ADDC1A4B}"/>
                  </a:ext>
                </a:extLst>
              </p:cNvPr>
              <p:cNvSpPr txBox="1"/>
              <p:nvPr/>
            </p:nvSpPr>
            <p:spPr>
              <a:xfrm>
                <a:off x="478130" y="5676651"/>
                <a:ext cx="2046514" cy="923330"/>
              </a:xfrm>
              <a:prstGeom prst="rect">
                <a:avLst/>
              </a:prstGeom>
              <a:noFill/>
            </p:spPr>
            <p:txBody>
              <a:bodyPr wrap="square" rtlCol="0">
                <a:spAutoFit/>
              </a:bodyPr>
              <a:lstStyle/>
              <a:p>
                <a:pPr algn="ctr"/>
                <a:r>
                  <a:rPr lang="en-US" dirty="0"/>
                  <a:t>abundance of natural-origin fish at age-class </a:t>
                </a:r>
                <a14:m>
                  <m:oMath xmlns:m="http://schemas.openxmlformats.org/officeDocument/2006/math">
                    <m:r>
                      <a:rPr lang="en-US" i="1">
                        <a:latin typeface="Cambria Math" panose="02040503050406030204" pitchFamily="18" charset="0"/>
                      </a:rPr>
                      <m:t>𝑎</m:t>
                    </m:r>
                  </m:oMath>
                </a14:m>
                <a:endParaRPr lang="en-US" dirty="0"/>
              </a:p>
            </p:txBody>
          </p:sp>
        </mc:Choice>
        <mc:Fallback xmlns="">
          <p:sp>
            <p:nvSpPr>
              <p:cNvPr id="21" name="TextBox 20">
                <a:extLst>
                  <a:ext uri="{FF2B5EF4-FFF2-40B4-BE49-F238E27FC236}">
                    <a16:creationId xmlns:a16="http://schemas.microsoft.com/office/drawing/2014/main" id="{E35E9DE5-416B-1072-04B3-B155ADDC1A4B}"/>
                  </a:ext>
                </a:extLst>
              </p:cNvPr>
              <p:cNvSpPr txBox="1">
                <a:spLocks noRot="1" noChangeAspect="1" noMove="1" noResize="1" noEditPoints="1" noAdjustHandles="1" noChangeArrowheads="1" noChangeShapeType="1" noTextEdit="1"/>
              </p:cNvSpPr>
              <p:nvPr/>
            </p:nvSpPr>
            <p:spPr>
              <a:xfrm>
                <a:off x="478130" y="5676651"/>
                <a:ext cx="2046514" cy="923330"/>
              </a:xfrm>
              <a:prstGeom prst="rect">
                <a:avLst/>
              </a:prstGeom>
              <a:blipFill>
                <a:blip r:embed="rId7"/>
                <a:stretch>
                  <a:fillRect t="-2632" r="-1190" b="-9868"/>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8DA8505F-E60F-F4B1-710D-CA53CD243EE2}"/>
              </a:ext>
            </a:extLst>
          </p:cNvPr>
          <p:cNvCxnSpPr>
            <a:cxnSpLocks/>
          </p:cNvCxnSpPr>
          <p:nvPr/>
        </p:nvCxnSpPr>
        <p:spPr>
          <a:xfrm flipV="1">
            <a:off x="2300514" y="5676651"/>
            <a:ext cx="994229" cy="2887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4DE1B43-418D-57B8-926C-09EC0574A412}"/>
              </a:ext>
            </a:extLst>
          </p:cNvPr>
          <p:cNvCxnSpPr>
            <a:cxnSpLocks/>
          </p:cNvCxnSpPr>
          <p:nvPr/>
        </p:nvCxnSpPr>
        <p:spPr>
          <a:xfrm>
            <a:off x="3536460" y="4202667"/>
            <a:ext cx="1710454" cy="11548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0792104-2F01-5FA5-F8A0-765F4ED23918}"/>
                  </a:ext>
                </a:extLst>
              </p:cNvPr>
              <p:cNvSpPr txBox="1"/>
              <p:nvPr/>
            </p:nvSpPr>
            <p:spPr>
              <a:xfrm>
                <a:off x="7296328" y="3681403"/>
                <a:ext cx="3538585" cy="1221745"/>
              </a:xfrm>
              <a:prstGeom prst="rect">
                <a:avLst/>
              </a:prstGeom>
              <a:noFill/>
            </p:spPr>
            <p:txBody>
              <a:bodyPr wrap="square" rtlCol="0">
                <a:spAutoFit/>
              </a:bodyPr>
              <a:lstStyle/>
              <a:p>
                <a:pPr algn="ctr"/>
                <a:r>
                  <a:rPr lang="en-US" dirty="0"/>
                  <a:t>abundance of untagged hatchery-origin fish at age-class </a:t>
                </a:r>
                <a14:m>
                  <m:oMath xmlns:m="http://schemas.openxmlformats.org/officeDocument/2006/math">
                    <m:r>
                      <a:rPr lang="en-US" i="1">
                        <a:latin typeface="Cambria Math" panose="02040503050406030204" pitchFamily="18" charset="0"/>
                      </a:rPr>
                      <m:t>𝑎</m:t>
                    </m:r>
                  </m:oMath>
                </a14:m>
                <a:r>
                  <a:rPr lang="en-US" dirty="0"/>
                  <a:t> derives uncertainty from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 ~ </m:t>
                    </m:r>
                    <m:r>
                      <a:rPr lang="en-US" i="1">
                        <a:latin typeface="Cambria Math" panose="02040503050406030204" pitchFamily="18" charset="0"/>
                      </a:rPr>
                      <m:t>𝑁𝐵</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𝜃</m:t>
                        </m:r>
                      </m:e>
                    </m:d>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𝑝𝑟𝑜𝑑</m:t>
                        </m:r>
                      </m:sub>
                    </m:sSub>
                  </m:oMath>
                </a14:m>
                <a:endParaRPr lang="en-US" dirty="0"/>
              </a:p>
            </p:txBody>
          </p:sp>
        </mc:Choice>
        <mc:Fallback xmlns="">
          <p:sp>
            <p:nvSpPr>
              <p:cNvPr id="35" name="TextBox 34">
                <a:extLst>
                  <a:ext uri="{FF2B5EF4-FFF2-40B4-BE49-F238E27FC236}">
                    <a16:creationId xmlns:a16="http://schemas.microsoft.com/office/drawing/2014/main" id="{60792104-2F01-5FA5-F8A0-765F4ED23918}"/>
                  </a:ext>
                </a:extLst>
              </p:cNvPr>
              <p:cNvSpPr txBox="1">
                <a:spLocks noRot="1" noChangeAspect="1" noMove="1" noResize="1" noEditPoints="1" noAdjustHandles="1" noChangeArrowheads="1" noChangeShapeType="1" noTextEdit="1"/>
              </p:cNvSpPr>
              <p:nvPr/>
            </p:nvSpPr>
            <p:spPr>
              <a:xfrm>
                <a:off x="7296328" y="3681403"/>
                <a:ext cx="3538585" cy="1221745"/>
              </a:xfrm>
              <a:prstGeom prst="rect">
                <a:avLst/>
              </a:prstGeom>
              <a:blipFill>
                <a:blip r:embed="rId8"/>
                <a:stretch>
                  <a:fillRect l="-1207" t="-2500" r="-1207" b="-6500"/>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D55DEE1C-A44A-3715-A233-ECFB83A79A96}"/>
              </a:ext>
            </a:extLst>
          </p:cNvPr>
          <p:cNvCxnSpPr>
            <a:cxnSpLocks/>
          </p:cNvCxnSpPr>
          <p:nvPr/>
        </p:nvCxnSpPr>
        <p:spPr>
          <a:xfrm flipH="1">
            <a:off x="7750629" y="4624775"/>
            <a:ext cx="172331" cy="68535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8225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1223-E6C3-CCC9-FF37-B95408863B8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1B0C58-74E9-AD34-4E08-1BCCE22C0C8D}"/>
              </a:ext>
            </a:extLst>
          </p:cNvPr>
          <p:cNvSpPr>
            <a:spLocks noGrp="1"/>
          </p:cNvSpPr>
          <p:nvPr>
            <p:ph type="title"/>
          </p:nvPr>
        </p:nvSpPr>
        <p:spPr>
          <a:xfrm>
            <a:off x="49695" y="54698"/>
            <a:ext cx="11421291" cy="760412"/>
          </a:xfrm>
        </p:spPr>
        <p:txBody>
          <a:bodyPr>
            <a:normAutofit/>
          </a:bodyPr>
          <a:lstStyle/>
          <a:p>
            <a:r>
              <a:rPr lang="en-US" b="1" dirty="0">
                <a:solidFill>
                  <a:srgbClr val="1E718F"/>
                </a:solidFill>
                <a:latin typeface="Century Gothic" panose="020B0502020202020204" pitchFamily="34" charset="0"/>
              </a:rPr>
              <a:t>Weighted pooling of untagged scales</a:t>
            </a:r>
          </a:p>
        </p:txBody>
      </p:sp>
      <p:cxnSp>
        <p:nvCxnSpPr>
          <p:cNvPr id="9" name="Straight Connector 8">
            <a:extLst>
              <a:ext uri="{FF2B5EF4-FFF2-40B4-BE49-F238E27FC236}">
                <a16:creationId xmlns:a16="http://schemas.microsoft.com/office/drawing/2014/main" id="{37E38EA5-F8EA-4CA8-6439-3B844ED5716B}"/>
              </a:ext>
              <a:ext uri="{C183D7F6-B498-43B3-948B-1728B52AA6E4}">
                <adec:decorative xmlns:adec="http://schemas.microsoft.com/office/drawing/2017/decorative" val="1"/>
              </a:ext>
            </a:extLst>
          </p:cNvPr>
          <p:cNvCxnSpPr>
            <a:cxnSpLocks/>
          </p:cNvCxnSpPr>
          <p:nvPr/>
        </p:nvCxnSpPr>
        <p:spPr>
          <a:xfrm>
            <a:off x="381000" y="837028"/>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AA095850-845C-36C9-EDF8-1791C5796383}"/>
              </a:ext>
            </a:extLst>
          </p:cNvPr>
          <p:cNvGrpSpPr/>
          <p:nvPr/>
        </p:nvGrpSpPr>
        <p:grpSpPr>
          <a:xfrm>
            <a:off x="939660" y="1236765"/>
            <a:ext cx="2016369" cy="1278707"/>
            <a:chOff x="234462" y="1839630"/>
            <a:chExt cx="2016369" cy="1278707"/>
          </a:xfrm>
        </p:grpSpPr>
        <p:sp>
          <p:nvSpPr>
            <p:cNvPr id="3" name="Oval 2">
              <a:extLst>
                <a:ext uri="{FF2B5EF4-FFF2-40B4-BE49-F238E27FC236}">
                  <a16:creationId xmlns:a16="http://schemas.microsoft.com/office/drawing/2014/main" id="{574B7156-7918-26B1-C696-C93B798BD5D2}"/>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Fish outline">
              <a:extLst>
                <a:ext uri="{FF2B5EF4-FFF2-40B4-BE49-F238E27FC236}">
                  <a16:creationId xmlns:a16="http://schemas.microsoft.com/office/drawing/2014/main" id="{BCE1B632-5756-5BED-5760-3A1E1F1AA4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028" y="2149168"/>
              <a:ext cx="664758" cy="664758"/>
            </a:xfrm>
            <a:prstGeom prst="rect">
              <a:avLst/>
            </a:prstGeom>
          </p:spPr>
        </p:pic>
        <p:pic>
          <p:nvPicPr>
            <p:cNvPr id="6" name="Graphic 5" descr="Fish with solid fill">
              <a:extLst>
                <a:ext uri="{FF2B5EF4-FFF2-40B4-BE49-F238E27FC236}">
                  <a16:creationId xmlns:a16="http://schemas.microsoft.com/office/drawing/2014/main" id="{A75B5B56-CCAB-8BFA-FA64-5F82D6C2FB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996" y="1839630"/>
              <a:ext cx="760409" cy="760409"/>
            </a:xfrm>
            <a:prstGeom prst="rect">
              <a:avLst/>
            </a:prstGeom>
          </p:spPr>
        </p:pic>
        <p:pic>
          <p:nvPicPr>
            <p:cNvPr id="7" name="Graphic 6" descr="Fish with solid fill">
              <a:extLst>
                <a:ext uri="{FF2B5EF4-FFF2-40B4-BE49-F238E27FC236}">
                  <a16:creationId xmlns:a16="http://schemas.microsoft.com/office/drawing/2014/main" id="{FC5F3A6D-5A53-5A68-E7B6-610326D1DF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2315270"/>
              <a:ext cx="760409" cy="760409"/>
            </a:xfrm>
            <a:prstGeom prst="rect">
              <a:avLst/>
            </a:prstGeom>
          </p:spPr>
        </p:pic>
        <p:pic>
          <p:nvPicPr>
            <p:cNvPr id="10" name="Graphic 9" descr="Fish with solid fill">
              <a:extLst>
                <a:ext uri="{FF2B5EF4-FFF2-40B4-BE49-F238E27FC236}">
                  <a16:creationId xmlns:a16="http://schemas.microsoft.com/office/drawing/2014/main" id="{84BD4BB9-FE37-78A0-47F2-9439C8F3C1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1958732"/>
              <a:ext cx="760409" cy="760409"/>
            </a:xfrm>
            <a:prstGeom prst="rect">
              <a:avLst/>
            </a:prstGeom>
          </p:spPr>
        </p:pic>
        <p:pic>
          <p:nvPicPr>
            <p:cNvPr id="11" name="Graphic 10" descr="Fish outline">
              <a:extLst>
                <a:ext uri="{FF2B5EF4-FFF2-40B4-BE49-F238E27FC236}">
                  <a16:creationId xmlns:a16="http://schemas.microsoft.com/office/drawing/2014/main" id="{83C0832A-0479-C3C7-26E1-27136950DF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4652" y="2380926"/>
              <a:ext cx="664758" cy="664758"/>
            </a:xfrm>
            <a:prstGeom prst="rect">
              <a:avLst/>
            </a:prstGeom>
          </p:spPr>
        </p:pic>
      </p:grpSp>
      <p:grpSp>
        <p:nvGrpSpPr>
          <p:cNvPr id="12" name="Group 11">
            <a:extLst>
              <a:ext uri="{FF2B5EF4-FFF2-40B4-BE49-F238E27FC236}">
                <a16:creationId xmlns:a16="http://schemas.microsoft.com/office/drawing/2014/main" id="{2CD69E33-644B-C49D-781A-0F498911C392}"/>
              </a:ext>
            </a:extLst>
          </p:cNvPr>
          <p:cNvGrpSpPr/>
          <p:nvPr/>
        </p:nvGrpSpPr>
        <p:grpSpPr>
          <a:xfrm>
            <a:off x="3564164" y="1265784"/>
            <a:ext cx="2016369" cy="1273580"/>
            <a:chOff x="234462" y="1844757"/>
            <a:chExt cx="2016369" cy="1273580"/>
          </a:xfrm>
        </p:grpSpPr>
        <p:sp>
          <p:nvSpPr>
            <p:cNvPr id="13" name="Oval 12">
              <a:extLst>
                <a:ext uri="{FF2B5EF4-FFF2-40B4-BE49-F238E27FC236}">
                  <a16:creationId xmlns:a16="http://schemas.microsoft.com/office/drawing/2014/main" id="{A32C5DC1-98FE-D9DC-737B-9A6D9F23F095}"/>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Fish outline">
              <a:extLst>
                <a:ext uri="{FF2B5EF4-FFF2-40B4-BE49-F238E27FC236}">
                  <a16:creationId xmlns:a16="http://schemas.microsoft.com/office/drawing/2014/main" id="{8568026B-CE6C-64F7-9CEB-966B086F8B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028" y="2149168"/>
              <a:ext cx="664758" cy="664758"/>
            </a:xfrm>
            <a:prstGeom prst="rect">
              <a:avLst/>
            </a:prstGeom>
          </p:spPr>
        </p:pic>
        <p:pic>
          <p:nvPicPr>
            <p:cNvPr id="15" name="Graphic 14" descr="Fish with solid fill">
              <a:extLst>
                <a:ext uri="{FF2B5EF4-FFF2-40B4-BE49-F238E27FC236}">
                  <a16:creationId xmlns:a16="http://schemas.microsoft.com/office/drawing/2014/main" id="{0B57AF77-D3A1-F4F0-9198-2B23CDF354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6989" y="1844757"/>
              <a:ext cx="760409" cy="760409"/>
            </a:xfrm>
            <a:prstGeom prst="rect">
              <a:avLst/>
            </a:prstGeom>
          </p:spPr>
        </p:pic>
        <p:pic>
          <p:nvPicPr>
            <p:cNvPr id="16" name="Graphic 15" descr="Fish with solid fill">
              <a:extLst>
                <a:ext uri="{FF2B5EF4-FFF2-40B4-BE49-F238E27FC236}">
                  <a16:creationId xmlns:a16="http://schemas.microsoft.com/office/drawing/2014/main" id="{FB123F9F-133F-ED69-01C2-05496065A7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2343853"/>
              <a:ext cx="760409" cy="760409"/>
            </a:xfrm>
            <a:prstGeom prst="rect">
              <a:avLst/>
            </a:prstGeom>
          </p:spPr>
        </p:pic>
        <p:pic>
          <p:nvPicPr>
            <p:cNvPr id="17" name="Graphic 16" descr="Fish outline">
              <a:extLst>
                <a:ext uri="{FF2B5EF4-FFF2-40B4-BE49-F238E27FC236}">
                  <a16:creationId xmlns:a16="http://schemas.microsoft.com/office/drawing/2014/main" id="{6694385D-50C0-4A21-D23D-B1CAD97F73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492" y="2441857"/>
              <a:ext cx="664758" cy="664758"/>
            </a:xfrm>
            <a:prstGeom prst="rect">
              <a:avLst/>
            </a:prstGeom>
          </p:spPr>
        </p:pic>
      </p:grpSp>
      <p:grpSp>
        <p:nvGrpSpPr>
          <p:cNvPr id="18" name="Group 17">
            <a:extLst>
              <a:ext uri="{FF2B5EF4-FFF2-40B4-BE49-F238E27FC236}">
                <a16:creationId xmlns:a16="http://schemas.microsoft.com/office/drawing/2014/main" id="{428C9621-C275-048F-6A3A-861A909861AD}"/>
              </a:ext>
            </a:extLst>
          </p:cNvPr>
          <p:cNvGrpSpPr/>
          <p:nvPr/>
        </p:nvGrpSpPr>
        <p:grpSpPr>
          <a:xfrm>
            <a:off x="6157762" y="1279243"/>
            <a:ext cx="2016369" cy="1230922"/>
            <a:chOff x="234462" y="1887415"/>
            <a:chExt cx="2016369" cy="1230922"/>
          </a:xfrm>
        </p:grpSpPr>
        <p:sp>
          <p:nvSpPr>
            <p:cNvPr id="19" name="Oval 18">
              <a:extLst>
                <a:ext uri="{FF2B5EF4-FFF2-40B4-BE49-F238E27FC236}">
                  <a16:creationId xmlns:a16="http://schemas.microsoft.com/office/drawing/2014/main" id="{64F5561E-A614-4EC4-05A5-9FCB47418DC6}"/>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Fish outline">
              <a:extLst>
                <a:ext uri="{FF2B5EF4-FFF2-40B4-BE49-F238E27FC236}">
                  <a16:creationId xmlns:a16="http://schemas.microsoft.com/office/drawing/2014/main" id="{CFD73FE7-8969-261D-8183-E8661A844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028" y="2149168"/>
              <a:ext cx="664758" cy="664758"/>
            </a:xfrm>
            <a:prstGeom prst="rect">
              <a:avLst/>
            </a:prstGeom>
          </p:spPr>
        </p:pic>
        <p:pic>
          <p:nvPicPr>
            <p:cNvPr id="21" name="Graphic 20" descr="Fish with solid fill">
              <a:extLst>
                <a:ext uri="{FF2B5EF4-FFF2-40B4-BE49-F238E27FC236}">
                  <a16:creationId xmlns:a16="http://schemas.microsoft.com/office/drawing/2014/main" id="{12FFDEAE-A8D1-9CE4-0DFF-E5D2EC1734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2315270"/>
              <a:ext cx="760409" cy="760409"/>
            </a:xfrm>
            <a:prstGeom prst="rect">
              <a:avLst/>
            </a:prstGeom>
          </p:spPr>
        </p:pic>
        <p:pic>
          <p:nvPicPr>
            <p:cNvPr id="22" name="Graphic 21" descr="Fish with solid fill">
              <a:extLst>
                <a:ext uri="{FF2B5EF4-FFF2-40B4-BE49-F238E27FC236}">
                  <a16:creationId xmlns:a16="http://schemas.microsoft.com/office/drawing/2014/main" id="{EFE2B515-21CA-BCD1-D2C1-C699160C38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1958732"/>
              <a:ext cx="760409" cy="760409"/>
            </a:xfrm>
            <a:prstGeom prst="rect">
              <a:avLst/>
            </a:prstGeom>
          </p:spPr>
        </p:pic>
        <p:pic>
          <p:nvPicPr>
            <p:cNvPr id="23" name="Graphic 22" descr="Fish outline">
              <a:extLst>
                <a:ext uri="{FF2B5EF4-FFF2-40B4-BE49-F238E27FC236}">
                  <a16:creationId xmlns:a16="http://schemas.microsoft.com/office/drawing/2014/main" id="{F4494FBD-DDDB-9A72-33F4-573F4B3763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861" y="2436578"/>
              <a:ext cx="664758" cy="664758"/>
            </a:xfrm>
            <a:prstGeom prst="rect">
              <a:avLst/>
            </a:prstGeom>
          </p:spPr>
        </p:pic>
      </p:grpSp>
      <p:grpSp>
        <p:nvGrpSpPr>
          <p:cNvPr id="24" name="Group 23">
            <a:extLst>
              <a:ext uri="{FF2B5EF4-FFF2-40B4-BE49-F238E27FC236}">
                <a16:creationId xmlns:a16="http://schemas.microsoft.com/office/drawing/2014/main" id="{67148659-6C0C-18DC-D76E-4718A1423DA5}"/>
              </a:ext>
            </a:extLst>
          </p:cNvPr>
          <p:cNvGrpSpPr/>
          <p:nvPr/>
        </p:nvGrpSpPr>
        <p:grpSpPr>
          <a:xfrm>
            <a:off x="8852743" y="1234021"/>
            <a:ext cx="2016369" cy="1278707"/>
            <a:chOff x="234462" y="1839630"/>
            <a:chExt cx="2016369" cy="1278707"/>
          </a:xfrm>
        </p:grpSpPr>
        <p:sp>
          <p:nvSpPr>
            <p:cNvPr id="25" name="Oval 24">
              <a:extLst>
                <a:ext uri="{FF2B5EF4-FFF2-40B4-BE49-F238E27FC236}">
                  <a16:creationId xmlns:a16="http://schemas.microsoft.com/office/drawing/2014/main" id="{68A35A53-B039-ADED-BC19-61E96C5AAA02}"/>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Fish outline">
              <a:extLst>
                <a:ext uri="{FF2B5EF4-FFF2-40B4-BE49-F238E27FC236}">
                  <a16:creationId xmlns:a16="http://schemas.microsoft.com/office/drawing/2014/main" id="{99BE9AC5-8128-3158-32F5-D46C04E25C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028" y="2149168"/>
              <a:ext cx="664758" cy="664758"/>
            </a:xfrm>
            <a:prstGeom prst="rect">
              <a:avLst/>
            </a:prstGeom>
          </p:spPr>
        </p:pic>
        <p:pic>
          <p:nvPicPr>
            <p:cNvPr id="27" name="Graphic 26" descr="Fish with solid fill">
              <a:extLst>
                <a:ext uri="{FF2B5EF4-FFF2-40B4-BE49-F238E27FC236}">
                  <a16:creationId xmlns:a16="http://schemas.microsoft.com/office/drawing/2014/main" id="{36A0847B-ED3E-356B-A2A8-3DB1CEB564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996" y="1839630"/>
              <a:ext cx="760409" cy="760409"/>
            </a:xfrm>
            <a:prstGeom prst="rect">
              <a:avLst/>
            </a:prstGeom>
          </p:spPr>
        </p:pic>
        <p:pic>
          <p:nvPicPr>
            <p:cNvPr id="28" name="Graphic 27" descr="Fish with solid fill">
              <a:extLst>
                <a:ext uri="{FF2B5EF4-FFF2-40B4-BE49-F238E27FC236}">
                  <a16:creationId xmlns:a16="http://schemas.microsoft.com/office/drawing/2014/main" id="{0AFDB39F-F1E2-8DC9-0F76-3C639394EB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2315270"/>
              <a:ext cx="760409" cy="760409"/>
            </a:xfrm>
            <a:prstGeom prst="rect">
              <a:avLst/>
            </a:prstGeom>
          </p:spPr>
        </p:pic>
        <p:pic>
          <p:nvPicPr>
            <p:cNvPr id="29" name="Graphic 28" descr="Fish with solid fill">
              <a:extLst>
                <a:ext uri="{FF2B5EF4-FFF2-40B4-BE49-F238E27FC236}">
                  <a16:creationId xmlns:a16="http://schemas.microsoft.com/office/drawing/2014/main" id="{006BF466-6964-92D9-47AC-DB595942D2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1958732"/>
              <a:ext cx="760409" cy="760409"/>
            </a:xfrm>
            <a:prstGeom prst="rect">
              <a:avLst/>
            </a:prstGeom>
          </p:spPr>
        </p:pic>
      </p:grpSp>
      <p:sp>
        <p:nvSpPr>
          <p:cNvPr id="30" name="TextBox 29">
            <a:extLst>
              <a:ext uri="{FF2B5EF4-FFF2-40B4-BE49-F238E27FC236}">
                <a16:creationId xmlns:a16="http://schemas.microsoft.com/office/drawing/2014/main" id="{51C0CDD0-E440-2E83-A22F-DCB0E7415A9A}"/>
              </a:ext>
            </a:extLst>
          </p:cNvPr>
          <p:cNvSpPr txBox="1"/>
          <p:nvPr/>
        </p:nvSpPr>
        <p:spPr>
          <a:xfrm>
            <a:off x="1636663" y="903484"/>
            <a:ext cx="618940" cy="369332"/>
          </a:xfrm>
          <a:prstGeom prst="rect">
            <a:avLst/>
          </a:prstGeom>
          <a:noFill/>
        </p:spPr>
        <p:txBody>
          <a:bodyPr wrap="square" rtlCol="0">
            <a:spAutoFit/>
          </a:bodyPr>
          <a:lstStyle/>
          <a:p>
            <a:pPr algn="ctr"/>
            <a:r>
              <a:rPr lang="en-US" dirty="0"/>
              <a:t>L1</a:t>
            </a:r>
          </a:p>
        </p:txBody>
      </p:sp>
      <p:sp>
        <p:nvSpPr>
          <p:cNvPr id="31" name="TextBox 30">
            <a:extLst>
              <a:ext uri="{FF2B5EF4-FFF2-40B4-BE49-F238E27FC236}">
                <a16:creationId xmlns:a16="http://schemas.microsoft.com/office/drawing/2014/main" id="{CD791FD3-8B26-FF1E-442A-8FAE7E56211E}"/>
              </a:ext>
            </a:extLst>
          </p:cNvPr>
          <p:cNvSpPr txBox="1"/>
          <p:nvPr/>
        </p:nvSpPr>
        <p:spPr>
          <a:xfrm>
            <a:off x="4292751" y="915016"/>
            <a:ext cx="618940" cy="369332"/>
          </a:xfrm>
          <a:prstGeom prst="rect">
            <a:avLst/>
          </a:prstGeom>
          <a:noFill/>
        </p:spPr>
        <p:txBody>
          <a:bodyPr wrap="square" rtlCol="0">
            <a:spAutoFit/>
          </a:bodyPr>
          <a:lstStyle/>
          <a:p>
            <a:pPr algn="ctr"/>
            <a:r>
              <a:rPr lang="en-US" dirty="0"/>
              <a:t>L2</a:t>
            </a:r>
          </a:p>
        </p:txBody>
      </p:sp>
      <p:sp>
        <p:nvSpPr>
          <p:cNvPr id="32" name="TextBox 31">
            <a:extLst>
              <a:ext uri="{FF2B5EF4-FFF2-40B4-BE49-F238E27FC236}">
                <a16:creationId xmlns:a16="http://schemas.microsoft.com/office/drawing/2014/main" id="{FCB6B8AF-16A6-B218-CABD-F658302B717B}"/>
              </a:ext>
            </a:extLst>
          </p:cNvPr>
          <p:cNvSpPr txBox="1"/>
          <p:nvPr/>
        </p:nvSpPr>
        <p:spPr>
          <a:xfrm>
            <a:off x="6845605" y="906285"/>
            <a:ext cx="618940" cy="369332"/>
          </a:xfrm>
          <a:prstGeom prst="rect">
            <a:avLst/>
          </a:prstGeom>
          <a:noFill/>
        </p:spPr>
        <p:txBody>
          <a:bodyPr wrap="square" rtlCol="0">
            <a:spAutoFit/>
          </a:bodyPr>
          <a:lstStyle/>
          <a:p>
            <a:pPr algn="ctr"/>
            <a:r>
              <a:rPr lang="en-US" dirty="0"/>
              <a:t>L3</a:t>
            </a:r>
          </a:p>
        </p:txBody>
      </p:sp>
      <p:sp>
        <p:nvSpPr>
          <p:cNvPr id="33" name="TextBox 32">
            <a:extLst>
              <a:ext uri="{FF2B5EF4-FFF2-40B4-BE49-F238E27FC236}">
                <a16:creationId xmlns:a16="http://schemas.microsoft.com/office/drawing/2014/main" id="{696E23B6-21CC-809B-6380-759B6557E455}"/>
              </a:ext>
            </a:extLst>
          </p:cNvPr>
          <p:cNvSpPr txBox="1"/>
          <p:nvPr/>
        </p:nvSpPr>
        <p:spPr>
          <a:xfrm>
            <a:off x="9510805" y="896452"/>
            <a:ext cx="618940" cy="369332"/>
          </a:xfrm>
          <a:prstGeom prst="rect">
            <a:avLst/>
          </a:prstGeom>
          <a:noFill/>
        </p:spPr>
        <p:txBody>
          <a:bodyPr wrap="square" rtlCol="0">
            <a:spAutoFit/>
          </a:bodyPr>
          <a:lstStyle/>
          <a:p>
            <a:pPr algn="ctr"/>
            <a:r>
              <a:rPr lang="en-US" dirty="0"/>
              <a:t>L4</a:t>
            </a:r>
          </a:p>
        </p:txBody>
      </p:sp>
      <p:cxnSp>
        <p:nvCxnSpPr>
          <p:cNvPr id="34" name="Straight Arrow Connector 33">
            <a:extLst>
              <a:ext uri="{FF2B5EF4-FFF2-40B4-BE49-F238E27FC236}">
                <a16:creationId xmlns:a16="http://schemas.microsoft.com/office/drawing/2014/main" id="{7C26514F-0D08-891F-0353-A02795CDC034}"/>
              </a:ext>
            </a:extLst>
          </p:cNvPr>
          <p:cNvCxnSpPr>
            <a:cxnSpLocks/>
          </p:cNvCxnSpPr>
          <p:nvPr/>
        </p:nvCxnSpPr>
        <p:spPr>
          <a:xfrm>
            <a:off x="5836207" y="3952739"/>
            <a:ext cx="0" cy="81617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088A3C2-C034-2E67-50C3-5F6C26B82C7C}"/>
              </a:ext>
            </a:extLst>
          </p:cNvPr>
          <p:cNvSpPr txBox="1"/>
          <p:nvPr/>
        </p:nvSpPr>
        <p:spPr>
          <a:xfrm>
            <a:off x="4558775" y="5859495"/>
            <a:ext cx="2674773" cy="830997"/>
          </a:xfrm>
          <a:prstGeom prst="rect">
            <a:avLst/>
          </a:prstGeom>
          <a:noFill/>
        </p:spPr>
        <p:txBody>
          <a:bodyPr wrap="square">
            <a:spAutoFit/>
          </a:bodyPr>
          <a:lstStyle/>
          <a:p>
            <a:pPr marL="0" indent="0" algn="ctr">
              <a:buNone/>
            </a:pPr>
            <a:r>
              <a:rPr lang="en-US" sz="2400" dirty="0"/>
              <a:t>Basin-wide estimate</a:t>
            </a:r>
          </a:p>
        </p:txBody>
      </p:sp>
      <p:sp>
        <p:nvSpPr>
          <p:cNvPr id="36" name="TextBox 35">
            <a:extLst>
              <a:ext uri="{FF2B5EF4-FFF2-40B4-BE49-F238E27FC236}">
                <a16:creationId xmlns:a16="http://schemas.microsoft.com/office/drawing/2014/main" id="{6E03A8A8-4C8E-AA2A-9CD6-9EF14A042692}"/>
              </a:ext>
            </a:extLst>
          </p:cNvPr>
          <p:cNvSpPr txBox="1"/>
          <p:nvPr/>
        </p:nvSpPr>
        <p:spPr>
          <a:xfrm>
            <a:off x="10918213" y="1698205"/>
            <a:ext cx="1151494" cy="369332"/>
          </a:xfrm>
          <a:prstGeom prst="rect">
            <a:avLst/>
          </a:prstGeom>
          <a:noFill/>
        </p:spPr>
        <p:txBody>
          <a:bodyPr wrap="square" rtlCol="0">
            <a:spAutoFit/>
          </a:bodyPr>
          <a:lstStyle/>
          <a:p>
            <a:pPr algn="ctr"/>
            <a:r>
              <a:rPr lang="en-US" dirty="0"/>
              <a:t>recovery</a:t>
            </a:r>
          </a:p>
        </p:txBody>
      </p:sp>
      <p:cxnSp>
        <p:nvCxnSpPr>
          <p:cNvPr id="37" name="Straight Connector 36">
            <a:extLst>
              <a:ext uri="{FF2B5EF4-FFF2-40B4-BE49-F238E27FC236}">
                <a16:creationId xmlns:a16="http://schemas.microsoft.com/office/drawing/2014/main" id="{89C4664B-8EE2-F6BD-C3E1-4F4DBBDE5D61}"/>
              </a:ext>
            </a:extLst>
          </p:cNvPr>
          <p:cNvCxnSpPr>
            <a:cxnSpLocks/>
          </p:cNvCxnSpPr>
          <p:nvPr/>
        </p:nvCxnSpPr>
        <p:spPr>
          <a:xfrm>
            <a:off x="1785112" y="3952739"/>
            <a:ext cx="8208691"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26DE078-F27A-8105-14D3-03EE671BDD11}"/>
              </a:ext>
            </a:extLst>
          </p:cNvPr>
          <p:cNvCxnSpPr>
            <a:cxnSpLocks/>
          </p:cNvCxnSpPr>
          <p:nvPr/>
        </p:nvCxnSpPr>
        <p:spPr>
          <a:xfrm>
            <a:off x="1817569" y="2677886"/>
            <a:ext cx="0" cy="1274853"/>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2600E3A-D74D-EBBA-BD58-3B414F815363}"/>
              </a:ext>
            </a:extLst>
          </p:cNvPr>
          <p:cNvCxnSpPr>
            <a:cxnSpLocks/>
          </p:cNvCxnSpPr>
          <p:nvPr/>
        </p:nvCxnSpPr>
        <p:spPr>
          <a:xfrm>
            <a:off x="4558775" y="2735943"/>
            <a:ext cx="0" cy="1216796"/>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45F95E1-A5FA-8BDE-170C-4B74B29CD620}"/>
              </a:ext>
            </a:extLst>
          </p:cNvPr>
          <p:cNvCxnSpPr>
            <a:cxnSpLocks/>
          </p:cNvCxnSpPr>
          <p:nvPr/>
        </p:nvCxnSpPr>
        <p:spPr>
          <a:xfrm>
            <a:off x="7112731" y="2677886"/>
            <a:ext cx="0" cy="1274853"/>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3B9EA13-AF3A-CC1F-2748-047ABF23F6DC}"/>
              </a:ext>
            </a:extLst>
          </p:cNvPr>
          <p:cNvCxnSpPr>
            <a:cxnSpLocks/>
          </p:cNvCxnSpPr>
          <p:nvPr/>
        </p:nvCxnSpPr>
        <p:spPr>
          <a:xfrm>
            <a:off x="9972783" y="2670629"/>
            <a:ext cx="0" cy="128211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F21EFCF5-FD18-7AEA-D67B-DCDA54535E84}"/>
              </a:ext>
            </a:extLst>
          </p:cNvPr>
          <p:cNvSpPr txBox="1"/>
          <p:nvPr/>
        </p:nvSpPr>
        <p:spPr>
          <a:xfrm>
            <a:off x="5580533" y="4122582"/>
            <a:ext cx="2003072" cy="646331"/>
          </a:xfrm>
          <a:prstGeom prst="rect">
            <a:avLst/>
          </a:prstGeom>
          <a:noFill/>
        </p:spPr>
        <p:txBody>
          <a:bodyPr wrap="square" rtlCol="0">
            <a:spAutoFit/>
          </a:bodyPr>
          <a:lstStyle/>
          <a:p>
            <a:pPr algn="ctr"/>
            <a:r>
              <a:rPr lang="en-US" dirty="0"/>
              <a:t>Pooled scale-sampling</a:t>
            </a:r>
          </a:p>
        </p:txBody>
      </p:sp>
      <p:pic>
        <p:nvPicPr>
          <p:cNvPr id="43" name="Picture 42">
            <a:extLst>
              <a:ext uri="{FF2B5EF4-FFF2-40B4-BE49-F238E27FC236}">
                <a16:creationId xmlns:a16="http://schemas.microsoft.com/office/drawing/2014/main" id="{C4855295-9BD0-D6F9-5659-0B20EABD6298}"/>
              </a:ext>
            </a:extLst>
          </p:cNvPr>
          <p:cNvPicPr>
            <a:picLocks noChangeAspect="1"/>
          </p:cNvPicPr>
          <p:nvPr/>
        </p:nvPicPr>
        <p:blipFill>
          <a:blip r:embed="rId7"/>
          <a:stretch>
            <a:fillRect/>
          </a:stretch>
        </p:blipFill>
        <p:spPr>
          <a:xfrm>
            <a:off x="5074074" y="4768913"/>
            <a:ext cx="1273141" cy="1219219"/>
          </a:xfrm>
          <a:prstGeom prst="rect">
            <a:avLst/>
          </a:prstGeom>
        </p:spPr>
      </p:pic>
      <p:sp>
        <p:nvSpPr>
          <p:cNvPr id="55" name="TextBox 54">
            <a:extLst>
              <a:ext uri="{FF2B5EF4-FFF2-40B4-BE49-F238E27FC236}">
                <a16:creationId xmlns:a16="http://schemas.microsoft.com/office/drawing/2014/main" id="{2E662AC1-51AE-BB06-B528-0D9644514645}"/>
              </a:ext>
            </a:extLst>
          </p:cNvPr>
          <p:cNvSpPr txBox="1"/>
          <p:nvPr/>
        </p:nvSpPr>
        <p:spPr>
          <a:xfrm>
            <a:off x="4858737" y="2973170"/>
            <a:ext cx="1924214" cy="646331"/>
          </a:xfrm>
          <a:prstGeom prst="rect">
            <a:avLst/>
          </a:prstGeom>
          <a:noFill/>
        </p:spPr>
        <p:txBody>
          <a:bodyPr wrap="square" rtlCol="0">
            <a:spAutoFit/>
          </a:bodyPr>
          <a:lstStyle/>
          <a:p>
            <a:pPr algn="ctr"/>
            <a:r>
              <a:rPr lang="en-US" dirty="0"/>
              <a:t>Weight scale samples</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6D70486-FB67-A0FA-D6CB-A987BAA73CE4}"/>
                  </a:ext>
                </a:extLst>
              </p:cNvPr>
              <p:cNvSpPr txBox="1"/>
              <p:nvPr/>
            </p:nvSpPr>
            <p:spPr>
              <a:xfrm>
                <a:off x="7391086" y="2927260"/>
                <a:ext cx="3290512" cy="740267"/>
              </a:xfrm>
              <a:prstGeom prst="rect">
                <a:avLst/>
              </a:prstGeom>
              <a:solidFill>
                <a:schemeClr val="bg1"/>
              </a:solid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𝑆𝑐𝑎𝑙𝑒</m:t>
                      </m:r>
                      <m:r>
                        <a:rPr lang="en-US" b="0" i="1" smtClean="0">
                          <a:latin typeface="Cambria Math" panose="02040503050406030204" pitchFamily="18" charset="0"/>
                        </a:rPr>
                        <m:t> </m:t>
                      </m:r>
                      <m:r>
                        <a:rPr lang="en-US" b="0" i="1" smtClean="0">
                          <a:latin typeface="Cambria Math" panose="02040503050406030204" pitchFamily="18" charset="0"/>
                        </a:rPr>
                        <m:t>𝑤𝑒𝑖𝑔h𝑡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𝑁</m:t>
                                  </m:r>
                                </m:e>
                              </m:acc>
                            </m:e>
                            <m:sub>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𝑁𝑂</m:t>
                              </m:r>
                              <m:r>
                                <a:rPr lang="en-US" b="0" i="1" smtClean="0">
                                  <a:latin typeface="Cambria Math" panose="02040503050406030204" pitchFamily="18" charset="0"/>
                                </a:rPr>
                                <m:t>−</m:t>
                              </m:r>
                              <m:r>
                                <a:rPr lang="en-US" b="0" i="1" smtClean="0">
                                  <a:latin typeface="Cambria Math" panose="02040503050406030204" pitchFamily="18" charset="0"/>
                                </a:rPr>
                                <m:t>𝐶𝑊𝑇</m:t>
                              </m:r>
                            </m:sub>
                          </m:sSub>
                        </m:num>
                        <m:den>
                          <m:nary>
                            <m:naryPr>
                              <m:chr m:val="∑"/>
                              <m:subHide m:val="on"/>
                              <m:supHide m:val="on"/>
                              <m:ctrlPr>
                                <a:rPr lang="en-US" b="0" i="1" smtClean="0">
                                  <a:latin typeface="Cambria Math" panose="02040503050406030204" pitchFamily="18" charset="0"/>
                                </a:rPr>
                              </m:ctrlPr>
                            </m:naryPr>
                            <m:sub/>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𝑁</m:t>
                                      </m:r>
                                    </m:e>
                                  </m:acc>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𝑁𝑂</m:t>
                                  </m:r>
                                  <m:r>
                                    <a:rPr lang="en-US" i="1">
                                      <a:latin typeface="Cambria Math" panose="02040503050406030204" pitchFamily="18" charset="0"/>
                                    </a:rPr>
                                    <m:t>−</m:t>
                                  </m:r>
                                  <m:r>
                                    <a:rPr lang="en-US" i="1">
                                      <a:latin typeface="Cambria Math" panose="02040503050406030204" pitchFamily="18" charset="0"/>
                                    </a:rPr>
                                    <m:t>𝐶𝑊𝑇</m:t>
                                  </m:r>
                                </m:sub>
                              </m:sSub>
                            </m:e>
                          </m:nary>
                        </m:den>
                      </m:f>
                    </m:oMath>
                  </m:oMathPara>
                </a14:m>
                <a:endParaRPr lang="en-US" dirty="0"/>
              </a:p>
            </p:txBody>
          </p:sp>
        </mc:Choice>
        <mc:Fallback xmlns="">
          <p:sp>
            <p:nvSpPr>
              <p:cNvPr id="56" name="TextBox 55">
                <a:extLst>
                  <a:ext uri="{FF2B5EF4-FFF2-40B4-BE49-F238E27FC236}">
                    <a16:creationId xmlns:a16="http://schemas.microsoft.com/office/drawing/2014/main" id="{16D70486-FB67-A0FA-D6CB-A987BAA73CE4}"/>
                  </a:ext>
                </a:extLst>
              </p:cNvPr>
              <p:cNvSpPr txBox="1">
                <a:spLocks noRot="1" noChangeAspect="1" noMove="1" noResize="1" noEditPoints="1" noAdjustHandles="1" noChangeArrowheads="1" noChangeShapeType="1" noTextEdit="1"/>
              </p:cNvSpPr>
              <p:nvPr/>
            </p:nvSpPr>
            <p:spPr>
              <a:xfrm>
                <a:off x="7391086" y="2927260"/>
                <a:ext cx="3290512" cy="740267"/>
              </a:xfrm>
              <a:prstGeom prst="rect">
                <a:avLst/>
              </a:prstGeom>
              <a:blipFill>
                <a:blip r:embed="rId8"/>
                <a:stretch>
                  <a:fillRect/>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003766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CEE5-B6B3-ACBE-5B60-3EBAA502BA4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905B5B-D1BD-CA40-A6B9-1B64F869510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82" t="6276" r="886" b="803"/>
          <a:stretch>
            <a:fillRect/>
          </a:stretch>
        </p:blipFill>
        <p:spPr>
          <a:xfrm>
            <a:off x="797710" y="211521"/>
            <a:ext cx="10596580" cy="6434958"/>
          </a:xfrm>
          <a:prstGeom prst="rect">
            <a:avLst/>
          </a:prstGeom>
          <a:ln>
            <a:noFill/>
          </a:ln>
        </p:spPr>
      </p:pic>
    </p:spTree>
    <p:extLst>
      <p:ext uri="{BB962C8B-B14F-4D97-AF65-F5344CB8AC3E}">
        <p14:creationId xmlns:p14="http://schemas.microsoft.com/office/powerpoint/2010/main" val="2108404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790A0-ABA3-991E-D5D9-4D02AD366CF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535E4E-6499-1387-762D-EE4D2E3FB674}"/>
              </a:ext>
            </a:extLst>
          </p:cNvPr>
          <p:cNvSpPr>
            <a:spLocks noGrp="1"/>
          </p:cNvSpPr>
          <p:nvPr>
            <p:ph type="title"/>
          </p:nvPr>
        </p:nvSpPr>
        <p:spPr/>
        <p:txBody>
          <a:bodyPr/>
          <a:lstStyle/>
          <a:p>
            <a:r>
              <a:rPr lang="en-US" b="1" dirty="0">
                <a:solidFill>
                  <a:srgbClr val="1E718F"/>
                </a:solidFill>
                <a:latin typeface="Century Gothic" panose="020B0502020202020204" pitchFamily="34" charset="0"/>
              </a:rPr>
              <a:t>Scale collection outline</a:t>
            </a:r>
          </a:p>
        </p:txBody>
      </p:sp>
      <p:cxnSp>
        <p:nvCxnSpPr>
          <p:cNvPr id="7" name="Straight Connector 6">
            <a:extLst>
              <a:ext uri="{FF2B5EF4-FFF2-40B4-BE49-F238E27FC236}">
                <a16:creationId xmlns:a16="http://schemas.microsoft.com/office/drawing/2014/main" id="{455A63C2-4829-86AB-4B45-E614FF25C577}"/>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60EA6CAD-A323-89D3-164E-FC5297E5FA7E}"/>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514350" indent="-514350">
              <a:buFont typeface="+mj-lt"/>
              <a:buAutoNum type="arabicPeriod"/>
            </a:pPr>
            <a:r>
              <a:rPr lang="en-US" sz="3200" dirty="0"/>
              <a:t>Scale collection from escapement surveys.</a:t>
            </a:r>
          </a:p>
          <a:p>
            <a:pPr marL="514350" indent="-514350">
              <a:buFont typeface="+mj-lt"/>
              <a:buAutoNum type="arabicPeriod"/>
            </a:pPr>
            <a:r>
              <a:rPr lang="en-US" sz="3200" dirty="0"/>
              <a:t>Estimating survey location abundance.</a:t>
            </a:r>
          </a:p>
          <a:p>
            <a:pPr marL="514350" indent="-514350">
              <a:buFont typeface="+mj-lt"/>
              <a:buAutoNum type="arabicPeriod"/>
            </a:pPr>
            <a:r>
              <a:rPr lang="en-US" sz="3200" dirty="0"/>
              <a:t>Estimating locations contribution to basin abundance.</a:t>
            </a:r>
          </a:p>
          <a:p>
            <a:pPr marL="514350" indent="-514350">
              <a:buFont typeface="+mj-lt"/>
              <a:buAutoNum type="arabicPeriod"/>
            </a:pPr>
            <a:r>
              <a:rPr lang="en-US" sz="3200" dirty="0"/>
              <a:t>Selection of scales for aging.</a:t>
            </a:r>
          </a:p>
          <a:p>
            <a:pPr marL="514350" indent="-514350">
              <a:buFont typeface="+mj-lt"/>
              <a:buAutoNum type="arabicPeriod"/>
            </a:pPr>
            <a:r>
              <a:rPr lang="en-US" sz="3200" dirty="0"/>
              <a:t>Pooling and aging scales from across the basin.</a:t>
            </a:r>
          </a:p>
          <a:p>
            <a:endParaRPr lang="en-US" sz="3200" dirty="0"/>
          </a:p>
        </p:txBody>
      </p:sp>
    </p:spTree>
    <p:extLst>
      <p:ext uri="{BB962C8B-B14F-4D97-AF65-F5344CB8AC3E}">
        <p14:creationId xmlns:p14="http://schemas.microsoft.com/office/powerpoint/2010/main" val="80363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72CF-A4F3-27E1-8387-C2CAE4ACD60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1B20991-19C3-0F11-25F9-8C5F0AEFC374}"/>
              </a:ext>
            </a:extLst>
          </p:cNvPr>
          <p:cNvPicPr>
            <a:picLocks noChangeAspect="1"/>
          </p:cNvPicPr>
          <p:nvPr/>
        </p:nvPicPr>
        <p:blipFill>
          <a:blip r:embed="rId3">
            <a:extLst>
              <a:ext uri="{28A0092B-C50C-407E-A947-70E740481C1C}">
                <a14:useLocalDpi xmlns:a14="http://schemas.microsoft.com/office/drawing/2010/main" val="0"/>
              </a:ext>
            </a:extLst>
          </a:blip>
          <a:srcRect l="753" t="1543" r="672" b="1721"/>
          <a:stretch>
            <a:fillRect/>
          </a:stretch>
        </p:blipFill>
        <p:spPr>
          <a:xfrm>
            <a:off x="699898" y="178676"/>
            <a:ext cx="10792203" cy="6274676"/>
          </a:xfrm>
          <a:prstGeom prst="rect">
            <a:avLst/>
          </a:prstGeom>
        </p:spPr>
      </p:pic>
      <p:sp>
        <p:nvSpPr>
          <p:cNvPr id="8" name="Title 7">
            <a:extLst>
              <a:ext uri="{FF2B5EF4-FFF2-40B4-BE49-F238E27FC236}">
                <a16:creationId xmlns:a16="http://schemas.microsoft.com/office/drawing/2014/main" id="{24E5A3DA-8DB3-1C15-EA4B-A4F4F8791A5B}"/>
              </a:ext>
            </a:extLst>
          </p:cNvPr>
          <p:cNvSpPr>
            <a:spLocks noGrp="1"/>
          </p:cNvSpPr>
          <p:nvPr>
            <p:ph type="title"/>
          </p:nvPr>
        </p:nvSpPr>
        <p:spPr>
          <a:xfrm>
            <a:off x="699899" y="292924"/>
            <a:ext cx="4902115" cy="1020869"/>
          </a:xfrm>
          <a:solidFill>
            <a:schemeClr val="bg1"/>
          </a:solidFill>
        </p:spPr>
        <p:txBody>
          <a:bodyPr>
            <a:normAutofit fontScale="90000"/>
          </a:bodyPr>
          <a:lstStyle/>
          <a:p>
            <a:r>
              <a:rPr lang="en-US" b="1" dirty="0">
                <a:solidFill>
                  <a:srgbClr val="1E718F"/>
                </a:solidFill>
                <a:latin typeface="Century Gothic" panose="020B0502020202020204" pitchFamily="34" charset="0"/>
              </a:rPr>
              <a:t>1) Scale collection</a:t>
            </a:r>
          </a:p>
        </p:txBody>
      </p:sp>
    </p:spTree>
    <p:extLst>
      <p:ext uri="{BB962C8B-B14F-4D97-AF65-F5344CB8AC3E}">
        <p14:creationId xmlns:p14="http://schemas.microsoft.com/office/powerpoint/2010/main" val="1411648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7A2FB-D90B-838C-187C-F412E8B8955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59407D9-E196-669B-B0EB-9AC36D17B452}"/>
              </a:ext>
            </a:extLst>
          </p:cNvPr>
          <p:cNvSpPr>
            <a:spLocks noGrp="1"/>
          </p:cNvSpPr>
          <p:nvPr>
            <p:ph type="title"/>
          </p:nvPr>
        </p:nvSpPr>
        <p:spPr/>
        <p:txBody>
          <a:bodyPr/>
          <a:lstStyle/>
          <a:p>
            <a:r>
              <a:rPr lang="en-US" b="1" dirty="0">
                <a:solidFill>
                  <a:srgbClr val="1E718F"/>
                </a:solidFill>
                <a:latin typeface="Century Gothic" panose="020B0502020202020204" pitchFamily="34" charset="0"/>
              </a:rPr>
              <a:t>1) Scale collection</a:t>
            </a:r>
          </a:p>
        </p:txBody>
      </p:sp>
      <p:cxnSp>
        <p:nvCxnSpPr>
          <p:cNvPr id="7" name="Straight Connector 6">
            <a:extLst>
              <a:ext uri="{FF2B5EF4-FFF2-40B4-BE49-F238E27FC236}">
                <a16:creationId xmlns:a16="http://schemas.microsoft.com/office/drawing/2014/main" id="{5AD950EF-ACA4-EA19-7541-39209D54A02C}"/>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7E70A97B-CC45-4F0B-34FD-D503D10AFE9C}"/>
              </a:ext>
            </a:extLst>
          </p:cNvPr>
          <p:cNvSpPr>
            <a:spLocks noGrp="1"/>
          </p:cNvSpPr>
          <p:nvPr>
            <p:ph idx="1"/>
          </p:nvPr>
        </p:nvSpPr>
        <p:spPr>
          <a:xfrm>
            <a:off x="380997" y="1405289"/>
            <a:ext cx="11515827" cy="4995508"/>
          </a:xfrm>
        </p:spPr>
        <p:txBody>
          <a:bodyPr vert="horz" lIns="91440" tIns="45720" rIns="91440" bIns="45720" rtlCol="0" anchor="t">
            <a:normAutofit fontScale="92500" lnSpcReduction="20000"/>
          </a:bodyPr>
          <a:lstStyle/>
          <a:p>
            <a:pPr marL="0" indent="0">
              <a:buNone/>
            </a:pPr>
            <a:r>
              <a:rPr lang="en-US" sz="3200" b="1" dirty="0"/>
              <a:t>Important caveat:</a:t>
            </a:r>
          </a:p>
          <a:p>
            <a:r>
              <a:rPr lang="en-US" sz="3200" dirty="0"/>
              <a:t>Ensure surveys are not front-loading scale collection.</a:t>
            </a:r>
          </a:p>
          <a:p>
            <a:pPr lvl="1"/>
            <a:r>
              <a:rPr lang="en-US" sz="2800" dirty="0"/>
              <a:t>Example: For the Feather R. we need 211 scales from untagged fish. That could likely be collected in the first week or two, but “front-loading” the samples could bias age class estimates.</a:t>
            </a:r>
          </a:p>
          <a:p>
            <a:pPr lvl="1"/>
            <a:endParaRPr lang="en-US" sz="2800" dirty="0"/>
          </a:p>
          <a:p>
            <a:r>
              <a:rPr lang="en-US" sz="3200" dirty="0"/>
              <a:t>How best to do this?</a:t>
            </a:r>
          </a:p>
          <a:p>
            <a:pPr lvl="1"/>
            <a:r>
              <a:rPr lang="en-US" sz="2800" dirty="0"/>
              <a:t>Just collect scales from all untagged fish.</a:t>
            </a:r>
          </a:p>
          <a:p>
            <a:pPr lvl="2"/>
            <a:r>
              <a:rPr lang="en-US" sz="2600" dirty="0"/>
              <a:t>Inefficient, could be unwieldy in the hatcheries or rivers with large returns.</a:t>
            </a:r>
          </a:p>
          <a:p>
            <a:pPr lvl="1"/>
            <a:r>
              <a:rPr lang="en-US" sz="2800" dirty="0"/>
              <a:t>Ensure some minimum collected each week.</a:t>
            </a:r>
          </a:p>
          <a:p>
            <a:pPr lvl="2"/>
            <a:r>
              <a:rPr lang="en-US" sz="2600" dirty="0"/>
              <a:t>However, need to balance scale selection by weekly abundance. Otherwise, we can bias age-class estimates.</a:t>
            </a:r>
          </a:p>
          <a:p>
            <a:pPr lvl="1"/>
            <a:r>
              <a:rPr lang="en-US" sz="2800" dirty="0"/>
              <a:t>Consider collecting scales from every </a:t>
            </a:r>
            <a:r>
              <a:rPr lang="en-US" sz="2800" i="1" dirty="0"/>
              <a:t>k</a:t>
            </a:r>
            <a:r>
              <a:rPr lang="en-US" sz="2800" dirty="0"/>
              <a:t>-</a:t>
            </a:r>
            <a:r>
              <a:rPr lang="en-US" sz="2800" dirty="0" err="1"/>
              <a:t>th</a:t>
            </a:r>
            <a:r>
              <a:rPr lang="en-US" sz="2800" dirty="0"/>
              <a:t> fish encountered.</a:t>
            </a:r>
          </a:p>
          <a:p>
            <a:pPr lvl="1"/>
            <a:r>
              <a:rPr lang="en-US" sz="2800" dirty="0"/>
              <a:t>Record timing of every scale collected for later stratification </a:t>
            </a:r>
            <a:r>
              <a:rPr lang="en-US" sz="2800"/>
              <a:t>if necessary.</a:t>
            </a:r>
            <a:endParaRPr lang="en-US" sz="2800" dirty="0"/>
          </a:p>
        </p:txBody>
      </p:sp>
    </p:spTree>
    <p:extLst>
      <p:ext uri="{BB962C8B-B14F-4D97-AF65-F5344CB8AC3E}">
        <p14:creationId xmlns:p14="http://schemas.microsoft.com/office/powerpoint/2010/main" val="123010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E92F-23D0-A7AB-E0B4-D2088646F90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8BCE446-D769-2750-A87E-799EE21F3E8A}"/>
              </a:ext>
            </a:extLst>
          </p:cNvPr>
          <p:cNvSpPr>
            <a:spLocks noGrp="1"/>
          </p:cNvSpPr>
          <p:nvPr>
            <p:ph type="title"/>
          </p:nvPr>
        </p:nvSpPr>
        <p:spPr/>
        <p:txBody>
          <a:bodyPr/>
          <a:lstStyle/>
          <a:p>
            <a:r>
              <a:rPr lang="en-US" b="1" dirty="0">
                <a:solidFill>
                  <a:srgbClr val="1E718F"/>
                </a:solidFill>
                <a:latin typeface="Century Gothic" panose="020B0502020202020204" pitchFamily="34" charset="0"/>
              </a:rPr>
              <a:t>2) Estimate abundance of untagged fish</a:t>
            </a:r>
          </a:p>
        </p:txBody>
      </p:sp>
      <p:cxnSp>
        <p:nvCxnSpPr>
          <p:cNvPr id="7" name="Straight Connector 6">
            <a:extLst>
              <a:ext uri="{FF2B5EF4-FFF2-40B4-BE49-F238E27FC236}">
                <a16:creationId xmlns:a16="http://schemas.microsoft.com/office/drawing/2014/main" id="{F38C281A-C40B-87D0-30E2-942173D81798}"/>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8E815B92-B78A-4970-429E-1FCA8CFA00DE}"/>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0" indent="0">
                  <a:buNone/>
                </a:pPr>
                <a:r>
                  <a:rPr lang="en-US" sz="3200" dirty="0"/>
                  <a:t>For survey location estimate </a:t>
                </a:r>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b="0" i="1">
                                <a:latin typeface="Cambria Math" panose="02040503050406030204" pitchFamily="18" charset="0"/>
                              </a:rPr>
                              <m:t>𝑁</m:t>
                            </m:r>
                          </m:e>
                        </m:acc>
                      </m:e>
                      <m:sub>
                        <m:r>
                          <a:rPr lang="en-US" sz="2800" b="0" i="1" smtClean="0">
                            <a:latin typeface="Cambria Math" panose="02040503050406030204" pitchFamily="18" charset="0"/>
                          </a:rPr>
                          <m:t>𝐿</m:t>
                        </m:r>
                        <m:r>
                          <a:rPr lang="en-US" sz="2800" b="0" i="1" smtClean="0">
                            <a:latin typeface="Cambria Math" panose="02040503050406030204" pitchFamily="18" charset="0"/>
                          </a:rPr>
                          <m:t>,</m:t>
                        </m:r>
                        <m:r>
                          <a:rPr lang="en-US" sz="2800" b="0" i="1">
                            <a:latin typeface="Cambria Math" panose="02040503050406030204" pitchFamily="18" charset="0"/>
                          </a:rPr>
                          <m:t>𝑁𝑂</m:t>
                        </m:r>
                        <m:r>
                          <a:rPr lang="en-US" sz="2800" b="0" i="1">
                            <a:latin typeface="Cambria Math" panose="02040503050406030204" pitchFamily="18" charset="0"/>
                          </a:rPr>
                          <m:t>−</m:t>
                        </m:r>
                        <m:r>
                          <a:rPr lang="en-US" sz="2800" b="0" i="1">
                            <a:latin typeface="Cambria Math" panose="02040503050406030204" pitchFamily="18" charset="0"/>
                          </a:rPr>
                          <m:t>𝐶𝑊𝑇</m:t>
                        </m:r>
                      </m:sub>
                    </m:sSub>
                  </m:oMath>
                </a14:m>
                <a:endParaRPr lang="en-US" sz="2800" dirty="0"/>
              </a:p>
              <a:p>
                <a:r>
                  <a:rPr lang="en-US" sz="2800" dirty="0"/>
                  <a:t>Abundance of untagged fish</a:t>
                </a:r>
              </a:p>
              <a:p>
                <a:r>
                  <a:rPr lang="en-US" sz="2800" dirty="0"/>
                  <a:t>Estimated using 𝑘 ~ 𝑁𝐵(1,𝜃)</a:t>
                </a:r>
              </a:p>
              <a:p>
                <a:r>
                  <a:rPr lang="en-US" sz="2800" dirty="0"/>
                  <a:t>Requires: </a:t>
                </a:r>
              </a:p>
              <a:p>
                <a:pPr lvl="1"/>
                <a:r>
                  <a:rPr lang="en-US" sz="2400" dirty="0"/>
                  <a:t>Frequency of ages for all recovered fish with CWT.</a:t>
                </a:r>
              </a:p>
              <a:p>
                <a:pPr lvl="1"/>
                <a:r>
                  <a:rPr lang="en-US" sz="2400" dirty="0"/>
                  <a:t>Estimate of locations total abundance (</a:t>
                </a:r>
                <a14:m>
                  <m:oMath xmlns:m="http://schemas.openxmlformats.org/officeDocument/2006/math">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panose="02040503050406030204" pitchFamily="18" charset="0"/>
                              </a:rPr>
                              <m:t>𝑁</m:t>
                            </m:r>
                          </m:e>
                        </m:acc>
                      </m:e>
                      <m:sub>
                        <m:r>
                          <a:rPr lang="en-US" sz="2600" i="1">
                            <a:latin typeface="Cambria Math" panose="02040503050406030204" pitchFamily="18" charset="0"/>
                          </a:rPr>
                          <m:t>𝐿</m:t>
                        </m:r>
                      </m:sub>
                    </m:sSub>
                  </m:oMath>
                </a14:m>
                <a:r>
                  <a:rPr lang="en-US" sz="2400" dirty="0"/>
                  <a:t>) to estimate theta (𝜃).</a:t>
                </a:r>
              </a:p>
              <a:p>
                <a:pPr lvl="1"/>
                <a:r>
                  <a:rPr lang="en-US" sz="2400" dirty="0"/>
                  <a:t>Tagging rates for recovered fish cohorts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𝑝𝑟𝑜𝑑</m:t>
                        </m:r>
                      </m:sub>
                    </m:sSub>
                  </m:oMath>
                </a14:m>
                <a:r>
                  <a:rPr lang="en-US" sz="2400" dirty="0"/>
                  <a:t>).</a:t>
                </a:r>
                <a:endParaRPr lang="en-US" sz="2800" dirty="0"/>
              </a:p>
              <a:p>
                <a:r>
                  <a:rPr lang="en-US" sz="2800" dirty="0"/>
                  <a:t>This could be done at the location survey level or by a basin wide coordinator. Easily replicated in R or </a:t>
                </a:r>
                <a:r>
                  <a:rPr lang="en-US" sz="2800" dirty="0" err="1"/>
                  <a:t>RShiny</a:t>
                </a:r>
                <a:r>
                  <a:rPr lang="en-US" sz="2800" dirty="0"/>
                  <a:t> application.</a:t>
                </a:r>
              </a:p>
            </p:txBody>
          </p:sp>
        </mc:Choice>
        <mc:Fallback xmlns="">
          <p:sp>
            <p:nvSpPr>
              <p:cNvPr id="2" name="Content Placeholder 8">
                <a:extLst>
                  <a:ext uri="{FF2B5EF4-FFF2-40B4-BE49-F238E27FC236}">
                    <a16:creationId xmlns:a16="http://schemas.microsoft.com/office/drawing/2014/main" id="{8E815B92-B78A-4970-429E-1FCA8CFA00DE}"/>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323" t="-2442"/>
                </a:stretch>
              </a:blipFill>
            </p:spPr>
            <p:txBody>
              <a:bodyPr/>
              <a:lstStyle/>
              <a:p>
                <a:r>
                  <a:rPr lang="en-US">
                    <a:noFill/>
                  </a:rPr>
                  <a:t> </a:t>
                </a:r>
              </a:p>
            </p:txBody>
          </p:sp>
        </mc:Fallback>
      </mc:AlternateContent>
    </p:spTree>
    <p:extLst>
      <p:ext uri="{BB962C8B-B14F-4D97-AF65-F5344CB8AC3E}">
        <p14:creationId xmlns:p14="http://schemas.microsoft.com/office/powerpoint/2010/main" val="2552316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7DF5-080A-CA27-613A-DE2D8319EE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D9E3DA-DF11-4FD6-8D5E-2C5F39ECDD16}"/>
              </a:ext>
            </a:extLst>
          </p:cNvPr>
          <p:cNvSpPr>
            <a:spLocks noGrp="1"/>
          </p:cNvSpPr>
          <p:nvPr>
            <p:ph type="title"/>
          </p:nvPr>
        </p:nvSpPr>
        <p:spPr/>
        <p:txBody>
          <a:bodyPr/>
          <a:lstStyle/>
          <a:p>
            <a:r>
              <a:rPr lang="en-US" b="1" dirty="0">
                <a:solidFill>
                  <a:srgbClr val="1E718F"/>
                </a:solidFill>
                <a:latin typeface="Century Gothic" panose="020B0502020202020204" pitchFamily="34" charset="0"/>
              </a:rPr>
              <a:t>3) Estimate locations contribution to basin</a:t>
            </a:r>
          </a:p>
        </p:txBody>
      </p:sp>
      <p:cxnSp>
        <p:nvCxnSpPr>
          <p:cNvPr id="7" name="Straight Connector 6">
            <a:extLst>
              <a:ext uri="{FF2B5EF4-FFF2-40B4-BE49-F238E27FC236}">
                <a16:creationId xmlns:a16="http://schemas.microsoft.com/office/drawing/2014/main" id="{F0D3890B-EB3C-359E-30B1-8DC1345B7288}"/>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1CC809F9-0B3A-40C5-42B9-ED291F799943}"/>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0" indent="0">
                  <a:buNone/>
                </a:pPr>
                <a:r>
                  <a:rPr lang="en-US" sz="3200" dirty="0"/>
                  <a:t>For survey location estimate </a:t>
                </a:r>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b="0" i="1" smtClean="0">
                                <a:latin typeface="Cambria Math" panose="02040503050406030204" pitchFamily="18" charset="0"/>
                              </a:rPr>
                              <m:t>𝑝</m:t>
                            </m:r>
                          </m:e>
                        </m:acc>
                      </m:e>
                      <m:sub>
                        <m:r>
                          <a:rPr lang="en-US" sz="2800" b="0" i="1" smtClean="0">
                            <a:latin typeface="Cambria Math" panose="02040503050406030204" pitchFamily="18" charset="0"/>
                          </a:rPr>
                          <m:t>𝐿</m:t>
                        </m:r>
                        <m:r>
                          <a:rPr lang="en-US" sz="2800" b="0" i="1" smtClean="0">
                            <a:latin typeface="Cambria Math" panose="02040503050406030204" pitchFamily="18" charset="0"/>
                          </a:rPr>
                          <m:t>,</m:t>
                        </m:r>
                        <m:r>
                          <a:rPr lang="en-US" sz="2800" b="0" i="1">
                            <a:latin typeface="Cambria Math" panose="02040503050406030204" pitchFamily="18" charset="0"/>
                          </a:rPr>
                          <m:t>𝑁𝑂</m:t>
                        </m:r>
                        <m:r>
                          <a:rPr lang="en-US" sz="2800" b="0" i="1">
                            <a:latin typeface="Cambria Math" panose="02040503050406030204" pitchFamily="18" charset="0"/>
                          </a:rPr>
                          <m:t>−</m:t>
                        </m:r>
                        <m:r>
                          <a:rPr lang="en-US" sz="2800" b="0" i="1">
                            <a:latin typeface="Cambria Math" panose="02040503050406030204" pitchFamily="18" charset="0"/>
                          </a:rPr>
                          <m:t>𝐶𝑊𝑇</m:t>
                        </m:r>
                      </m:sub>
                    </m:sSub>
                  </m:oMath>
                </a14:m>
                <a:endParaRPr lang="en-US" sz="2800" dirty="0"/>
              </a:p>
              <a:p>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i="1">
                            <a:latin typeface="Cambria Math" panose="02040503050406030204" pitchFamily="18" charset="0"/>
                          </a:rPr>
                          <m:t>𝐿</m:t>
                        </m:r>
                        <m:r>
                          <a:rPr lang="en-US" sz="2800" i="1">
                            <a:latin typeface="Cambria Math" panose="02040503050406030204" pitchFamily="18" charset="0"/>
                          </a:rPr>
                          <m:t>,</m:t>
                        </m:r>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sub>
                    </m:sSub>
                  </m:oMath>
                </a14:m>
                <a:r>
                  <a:rPr lang="en-US" sz="2800" dirty="0"/>
                  <a:t>: each locations contribution to basins untagged population.</a:t>
                </a:r>
              </a:p>
              <a:p>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i="1">
                            <a:latin typeface="Cambria Math" panose="02040503050406030204" pitchFamily="18" charset="0"/>
                          </a:rPr>
                          <m:t>𝐿</m:t>
                        </m:r>
                        <m:r>
                          <a:rPr lang="en-US" sz="2800" i="1">
                            <a:latin typeface="Cambria Math" panose="02040503050406030204" pitchFamily="18" charset="0"/>
                          </a:rPr>
                          <m:t>,</m:t>
                        </m:r>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sub>
                    </m:sSub>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𝑁</m:t>
                                </m:r>
                              </m:e>
                            </m:acc>
                          </m:e>
                          <m:sub>
                            <m:r>
                              <a:rPr lang="en-US" sz="2800" i="1">
                                <a:latin typeface="Cambria Math" panose="02040503050406030204" pitchFamily="18" charset="0"/>
                              </a:rPr>
                              <m:t>𝐿</m:t>
                            </m:r>
                            <m:r>
                              <a:rPr lang="en-US" sz="2800" b="0" i="1" smtClean="0">
                                <a:latin typeface="Cambria Math" panose="02040503050406030204" pitchFamily="18" charset="0"/>
                              </a:rPr>
                              <m:t>,</m:t>
                            </m:r>
                            <m:r>
                              <a:rPr lang="en-US" sz="2800" b="0" i="1" smtClean="0">
                                <a:latin typeface="Cambria Math" panose="02040503050406030204" pitchFamily="18" charset="0"/>
                              </a:rPr>
                              <m:t>𝑁𝑂</m:t>
                            </m:r>
                            <m:r>
                              <a:rPr lang="en-US" sz="2800" b="0" i="1" smtClean="0">
                                <a:latin typeface="Cambria Math" panose="02040503050406030204" pitchFamily="18" charset="0"/>
                              </a:rPr>
                              <m:t>−</m:t>
                            </m:r>
                            <m:r>
                              <a:rPr lang="en-US" sz="2800" b="0" i="1" smtClean="0">
                                <a:latin typeface="Cambria Math" panose="02040503050406030204" pitchFamily="18" charset="0"/>
                              </a:rPr>
                              <m:t>𝐶𝑊𝑇</m:t>
                            </m:r>
                          </m:sub>
                        </m:sSub>
                      </m:num>
                      <m:den>
                        <m:nary>
                          <m:naryPr>
                            <m:chr m:val="∑"/>
                            <m:subHide m:val="on"/>
                            <m:supHide m:val="on"/>
                            <m:ctrlPr>
                              <a:rPr lang="en-US" sz="2800" i="1" smtClean="0">
                                <a:latin typeface="Cambria Math" panose="02040503050406030204" pitchFamily="18" charset="0"/>
                              </a:rPr>
                            </m:ctrlPr>
                          </m:naryPr>
                          <m:sub/>
                          <m:sup/>
                          <m:e>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𝑁</m:t>
                                    </m:r>
                                  </m:e>
                                </m:acc>
                              </m:e>
                              <m:sub>
                                <m:r>
                                  <a:rPr lang="en-US" sz="2800" i="1">
                                    <a:latin typeface="Cambria Math" panose="02040503050406030204" pitchFamily="18" charset="0"/>
                                  </a:rPr>
                                  <m:t>𝐿</m:t>
                                </m:r>
                                <m:r>
                                  <a:rPr lang="en-US" sz="2800" i="1">
                                    <a:latin typeface="Cambria Math" panose="02040503050406030204" pitchFamily="18" charset="0"/>
                                  </a:rPr>
                                  <m:t>,</m:t>
                                </m:r>
                                <m:r>
                                  <a:rPr lang="en-US" sz="2800" i="1">
                                    <a:latin typeface="Cambria Math" panose="02040503050406030204" pitchFamily="18" charset="0"/>
                                  </a:rPr>
                                  <m:t>𝑁𝑂</m:t>
                                </m:r>
                                <m:r>
                                  <a:rPr lang="en-US" sz="2800" i="1">
                                    <a:latin typeface="Cambria Math" panose="02040503050406030204" pitchFamily="18" charset="0"/>
                                  </a:rPr>
                                  <m:t>−</m:t>
                                </m:r>
                                <m:r>
                                  <a:rPr lang="en-US" sz="2800" i="1">
                                    <a:latin typeface="Cambria Math" panose="02040503050406030204" pitchFamily="18" charset="0"/>
                                  </a:rPr>
                                  <m:t>𝐶𝑊𝑇</m:t>
                                </m:r>
                              </m:sub>
                            </m:sSub>
                          </m:e>
                        </m:nary>
                      </m:den>
                    </m:f>
                  </m:oMath>
                </a14:m>
                <a:endParaRPr lang="en-US" sz="2800" dirty="0"/>
              </a:p>
              <a:p>
                <a:r>
                  <a:rPr lang="en-US" sz="2800" dirty="0"/>
                  <a:t>Requires: </a:t>
                </a:r>
              </a:p>
              <a:p>
                <a:pPr lvl="1"/>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𝐿</m:t>
                        </m:r>
                        <m:r>
                          <a:rPr lang="en-US" sz="2400" i="1">
                            <a:latin typeface="Cambria Math" panose="02040503050406030204" pitchFamily="18" charset="0"/>
                          </a:rPr>
                          <m:t>,</m:t>
                        </m:r>
                        <m:r>
                          <a:rPr lang="en-US" sz="2400" i="1">
                            <a:latin typeface="Cambria Math" panose="02040503050406030204" pitchFamily="18" charset="0"/>
                          </a:rPr>
                          <m:t>𝑁𝑂</m:t>
                        </m:r>
                        <m:r>
                          <a:rPr lang="en-US" sz="2400" i="1">
                            <a:latin typeface="Cambria Math" panose="02040503050406030204" pitchFamily="18" charset="0"/>
                          </a:rPr>
                          <m:t>−</m:t>
                        </m:r>
                        <m:r>
                          <a:rPr lang="en-US" sz="2400" i="1">
                            <a:latin typeface="Cambria Math" panose="02040503050406030204" pitchFamily="18" charset="0"/>
                          </a:rPr>
                          <m:t>𝐶𝑊𝑇</m:t>
                        </m:r>
                      </m:sub>
                    </m:sSub>
                    <m:r>
                      <a:rPr lang="en-US" sz="2400" i="1">
                        <a:latin typeface="Cambria Math" panose="02040503050406030204" pitchFamily="18" charset="0"/>
                      </a:rPr>
                      <m:t> </m:t>
                    </m:r>
                  </m:oMath>
                </a14:m>
                <a:r>
                  <a:rPr lang="en-US" sz="2400" dirty="0"/>
                  <a:t>for each survey location to calculate basin-wide estimate.</a:t>
                </a:r>
              </a:p>
            </p:txBody>
          </p:sp>
        </mc:Choice>
        <mc:Fallback xmlns="">
          <p:sp>
            <p:nvSpPr>
              <p:cNvPr id="2" name="Content Placeholder 8">
                <a:extLst>
                  <a:ext uri="{FF2B5EF4-FFF2-40B4-BE49-F238E27FC236}">
                    <a16:creationId xmlns:a16="http://schemas.microsoft.com/office/drawing/2014/main" id="{1CC809F9-0B3A-40C5-42B9-ED291F799943}"/>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323" t="-2442"/>
                </a:stretch>
              </a:blipFill>
            </p:spPr>
            <p:txBody>
              <a:bodyPr/>
              <a:lstStyle/>
              <a:p>
                <a:r>
                  <a:rPr lang="en-US">
                    <a:noFill/>
                  </a:rPr>
                  <a:t> </a:t>
                </a:r>
              </a:p>
            </p:txBody>
          </p:sp>
        </mc:Fallback>
      </mc:AlternateContent>
    </p:spTree>
    <p:extLst>
      <p:ext uri="{BB962C8B-B14F-4D97-AF65-F5344CB8AC3E}">
        <p14:creationId xmlns:p14="http://schemas.microsoft.com/office/powerpoint/2010/main" val="1715738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962E6-BE31-83A2-658A-4A6BA1CA0E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49A78A-9BF4-AA7A-19B9-599BB362ED62}"/>
              </a:ext>
            </a:extLst>
          </p:cNvPr>
          <p:cNvSpPr>
            <a:spLocks noGrp="1"/>
          </p:cNvSpPr>
          <p:nvPr>
            <p:ph type="title"/>
          </p:nvPr>
        </p:nvSpPr>
        <p:spPr/>
        <p:txBody>
          <a:bodyPr/>
          <a:lstStyle/>
          <a:p>
            <a:r>
              <a:rPr lang="en-US" b="1" dirty="0">
                <a:solidFill>
                  <a:srgbClr val="1E718F"/>
                </a:solidFill>
                <a:latin typeface="Century Gothic" panose="020B0502020202020204" pitchFamily="34" charset="0"/>
              </a:rPr>
              <a:t>4) Randomly select scales for aging</a:t>
            </a:r>
          </a:p>
        </p:txBody>
      </p:sp>
      <p:cxnSp>
        <p:nvCxnSpPr>
          <p:cNvPr id="7" name="Straight Connector 6">
            <a:extLst>
              <a:ext uri="{FF2B5EF4-FFF2-40B4-BE49-F238E27FC236}">
                <a16:creationId xmlns:a16="http://schemas.microsoft.com/office/drawing/2014/main" id="{ABF2A1AC-72BB-F966-220B-2461632516C5}"/>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8">
                <a:extLst>
                  <a:ext uri="{FF2B5EF4-FFF2-40B4-BE49-F238E27FC236}">
                    <a16:creationId xmlns:a16="http://schemas.microsoft.com/office/drawing/2014/main" id="{E9E2B0DF-826B-B60C-6B8F-F81E63CE64B8}"/>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0" indent="0">
                  <a:buNone/>
                </a:pPr>
                <a:r>
                  <a:rPr lang="en-US" sz="3200" dirty="0"/>
                  <a:t>After </a:t>
                </a: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𝑝</m:t>
                            </m:r>
                          </m:e>
                        </m:acc>
                      </m:e>
                      <m:sub>
                        <m:r>
                          <a:rPr lang="en-US" sz="3200" i="1">
                            <a:latin typeface="Cambria Math" panose="02040503050406030204" pitchFamily="18" charset="0"/>
                          </a:rPr>
                          <m:t>𝐿</m:t>
                        </m:r>
                        <m:r>
                          <a:rPr lang="en-US" sz="3200" i="1">
                            <a:latin typeface="Cambria Math" panose="02040503050406030204" pitchFamily="18" charset="0"/>
                          </a:rPr>
                          <m:t>,</m:t>
                        </m:r>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oMath>
                </a14:m>
                <a:r>
                  <a:rPr lang="en-US" sz="3200" dirty="0"/>
                  <a:t> is determined for each location, select scales for aging as:</a:t>
                </a:r>
              </a:p>
              <a:p>
                <a:pPr marL="0" indent="0">
                  <a:buNone/>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panose="02040503050406030204" pitchFamily="18" charset="0"/>
                                </a:rPr>
                                <m:t>𝑝</m:t>
                              </m:r>
                            </m:e>
                          </m:acc>
                        </m:e>
                        <m:sub>
                          <m:r>
                            <a:rPr lang="en-US" sz="3200" i="1">
                              <a:latin typeface="Cambria Math" panose="02040503050406030204" pitchFamily="18" charset="0"/>
                            </a:rPr>
                            <m:t>𝐿</m:t>
                          </m:r>
                          <m:r>
                            <a:rPr lang="en-US" sz="3200" i="1">
                              <a:latin typeface="Cambria Math" panose="02040503050406030204" pitchFamily="18" charset="0"/>
                            </a:rPr>
                            <m:t>,</m:t>
                          </m:r>
                          <m:r>
                            <a:rPr lang="en-US" sz="3200" i="1">
                              <a:latin typeface="Cambria Math" panose="02040503050406030204" pitchFamily="18" charset="0"/>
                            </a:rPr>
                            <m:t>𝑁𝑂</m:t>
                          </m:r>
                          <m:r>
                            <a:rPr lang="en-US" sz="3200" i="1">
                              <a:latin typeface="Cambria Math" panose="02040503050406030204" pitchFamily="18" charset="0"/>
                            </a:rPr>
                            <m:t>−</m:t>
                          </m:r>
                          <m:r>
                            <a:rPr lang="en-US" sz="3200" i="1">
                              <a:latin typeface="Cambria Math" panose="02040503050406030204" pitchFamily="18" charset="0"/>
                            </a:rPr>
                            <m:t>𝐶𝑊𝑇</m:t>
                          </m:r>
                        </m:sub>
                      </m:sSub>
                      <m:r>
                        <a:rPr lang="en-US" sz="3200" b="0" i="1" smtClean="0">
                          <a:latin typeface="Cambria Math" panose="02040503050406030204" pitchFamily="18" charset="0"/>
                        </a:rPr>
                        <m:t>∗500</m:t>
                      </m:r>
                    </m:oMath>
                  </m:oMathPara>
                </a14:m>
                <a:endParaRPr lang="en-US" sz="3200" b="0" dirty="0"/>
              </a:p>
              <a:p>
                <a:pPr marL="0" indent="0">
                  <a:buNone/>
                </a:pPr>
                <a:endParaRPr lang="en-US" sz="3200" dirty="0"/>
              </a:p>
              <a:p>
                <a:pPr marL="0" indent="0">
                  <a:buNone/>
                </a:pPr>
                <a:r>
                  <a:rPr lang="en-US" sz="3200" dirty="0"/>
                  <a:t>Ensure selection of scales for aging is random and representative.</a:t>
                </a:r>
                <a:endParaRPr lang="en-US" sz="2800" dirty="0"/>
              </a:p>
            </p:txBody>
          </p:sp>
        </mc:Choice>
        <mc:Fallback xmlns="">
          <p:sp>
            <p:nvSpPr>
              <p:cNvPr id="2" name="Content Placeholder 8">
                <a:extLst>
                  <a:ext uri="{FF2B5EF4-FFF2-40B4-BE49-F238E27FC236}">
                    <a16:creationId xmlns:a16="http://schemas.microsoft.com/office/drawing/2014/main" id="{E9E2B0DF-826B-B60C-6B8F-F81E63CE64B8}"/>
                  </a:ext>
                </a:extLst>
              </p:cNvPr>
              <p:cNvSpPr>
                <a:spLocks noGrp="1" noRot="1" noChangeAspect="1" noMove="1" noResize="1" noEditPoints="1" noAdjustHandles="1" noChangeArrowheads="1" noChangeShapeType="1" noTextEdit="1"/>
              </p:cNvSpPr>
              <p:nvPr>
                <p:ph idx="1"/>
              </p:nvPr>
            </p:nvSpPr>
            <p:spPr>
              <a:xfrm>
                <a:off x="380997" y="1405289"/>
                <a:ext cx="11515827" cy="4995508"/>
              </a:xfrm>
              <a:blipFill>
                <a:blip r:embed="rId3"/>
                <a:stretch>
                  <a:fillRect l="-1323" t="-2198" r="-1534"/>
                </a:stretch>
              </a:blipFill>
            </p:spPr>
            <p:txBody>
              <a:bodyPr/>
              <a:lstStyle/>
              <a:p>
                <a:r>
                  <a:rPr lang="en-US">
                    <a:noFill/>
                  </a:rPr>
                  <a:t> </a:t>
                </a:r>
              </a:p>
            </p:txBody>
          </p:sp>
        </mc:Fallback>
      </mc:AlternateContent>
    </p:spTree>
    <p:extLst>
      <p:ext uri="{BB962C8B-B14F-4D97-AF65-F5344CB8AC3E}">
        <p14:creationId xmlns:p14="http://schemas.microsoft.com/office/powerpoint/2010/main" val="2472177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48454-3E57-7E93-5AE5-BBE0347207F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70DCF8D-CA18-837D-6D0C-C6A79773D440}"/>
              </a:ext>
            </a:extLst>
          </p:cNvPr>
          <p:cNvSpPr>
            <a:spLocks noGrp="1"/>
          </p:cNvSpPr>
          <p:nvPr>
            <p:ph type="title"/>
          </p:nvPr>
        </p:nvSpPr>
        <p:spPr/>
        <p:txBody>
          <a:bodyPr/>
          <a:lstStyle/>
          <a:p>
            <a:r>
              <a:rPr lang="en-US" b="1" dirty="0">
                <a:solidFill>
                  <a:srgbClr val="1E718F"/>
                </a:solidFill>
                <a:latin typeface="Century Gothic" panose="020B0502020202020204" pitchFamily="34" charset="0"/>
              </a:rPr>
              <a:t>5) Pool and age scales</a:t>
            </a:r>
          </a:p>
        </p:txBody>
      </p:sp>
      <p:cxnSp>
        <p:nvCxnSpPr>
          <p:cNvPr id="7" name="Straight Connector 6">
            <a:extLst>
              <a:ext uri="{FF2B5EF4-FFF2-40B4-BE49-F238E27FC236}">
                <a16:creationId xmlns:a16="http://schemas.microsoft.com/office/drawing/2014/main" id="{31105803-BC6D-8B67-3208-F227B823FF9A}"/>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D9A7351F-FC67-1164-8877-CA0BBF5F6026}"/>
              </a:ext>
            </a:extLst>
          </p:cNvPr>
          <p:cNvSpPr>
            <a:spLocks noGrp="1"/>
          </p:cNvSpPr>
          <p:nvPr>
            <p:ph idx="1"/>
          </p:nvPr>
        </p:nvSpPr>
        <p:spPr>
          <a:xfrm>
            <a:off x="380997" y="1405289"/>
            <a:ext cx="4752627" cy="4995508"/>
          </a:xfrm>
        </p:spPr>
        <p:txBody>
          <a:bodyPr vert="horz" lIns="91440" tIns="45720" rIns="91440" bIns="45720" rtlCol="0" anchor="t">
            <a:normAutofit/>
          </a:bodyPr>
          <a:lstStyle/>
          <a:p>
            <a:r>
              <a:rPr lang="en-US" sz="2800" dirty="0"/>
              <a:t>Pool a minimum of 500 selected scales from across Sac R. basin.</a:t>
            </a:r>
          </a:p>
          <a:p>
            <a:r>
              <a:rPr lang="en-US" sz="2800" dirty="0"/>
              <a:t>Age scales, correct for aging bias.</a:t>
            </a:r>
          </a:p>
          <a:p>
            <a:r>
              <a:rPr lang="en-US" sz="2800" dirty="0"/>
              <a:t>Estimate abundance of natural origin fish for each age-class for the basin.</a:t>
            </a:r>
          </a:p>
          <a:p>
            <a:endParaRPr lang="en-US" sz="2800" dirty="0"/>
          </a:p>
          <a:p>
            <a:endParaRPr lang="en-US" sz="2800" dirty="0"/>
          </a:p>
        </p:txBody>
      </p:sp>
      <p:pic>
        <p:nvPicPr>
          <p:cNvPr id="3" name="Picture 2">
            <a:extLst>
              <a:ext uri="{FF2B5EF4-FFF2-40B4-BE49-F238E27FC236}">
                <a16:creationId xmlns:a16="http://schemas.microsoft.com/office/drawing/2014/main" id="{41151FD2-C6C5-638B-C8B4-7CE4B1FBBEE0}"/>
              </a:ext>
            </a:extLst>
          </p:cNvPr>
          <p:cNvPicPr>
            <a:picLocks noChangeAspect="1"/>
          </p:cNvPicPr>
          <p:nvPr/>
        </p:nvPicPr>
        <p:blipFill>
          <a:blip r:embed="rId3"/>
          <a:srcRect l="5617" r="4057"/>
          <a:stretch>
            <a:fillRect/>
          </a:stretch>
        </p:blipFill>
        <p:spPr>
          <a:xfrm>
            <a:off x="5133624" y="1569092"/>
            <a:ext cx="6858000" cy="4667901"/>
          </a:xfrm>
          <a:prstGeom prst="rect">
            <a:avLst/>
          </a:prstGeom>
        </p:spPr>
      </p:pic>
      <p:sp>
        <p:nvSpPr>
          <p:cNvPr id="4" name="TextBox 3">
            <a:extLst>
              <a:ext uri="{FF2B5EF4-FFF2-40B4-BE49-F238E27FC236}">
                <a16:creationId xmlns:a16="http://schemas.microsoft.com/office/drawing/2014/main" id="{0B428C10-738D-4282-F6FB-8E16B7EA37BE}"/>
              </a:ext>
            </a:extLst>
          </p:cNvPr>
          <p:cNvSpPr txBox="1"/>
          <p:nvPr/>
        </p:nvSpPr>
        <p:spPr>
          <a:xfrm>
            <a:off x="5926667" y="1569092"/>
            <a:ext cx="5875622" cy="369332"/>
          </a:xfrm>
          <a:prstGeom prst="rect">
            <a:avLst/>
          </a:prstGeom>
          <a:noFill/>
        </p:spPr>
        <p:txBody>
          <a:bodyPr wrap="square" rtlCol="0">
            <a:spAutoFit/>
          </a:bodyPr>
          <a:lstStyle/>
          <a:p>
            <a:r>
              <a:rPr lang="en-US" dirty="0"/>
              <a:t>Natural origin escapement by age class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5D3645-0D4C-3CF3-50E1-EA638391A168}"/>
                  </a:ext>
                </a:extLst>
              </p:cNvPr>
              <p:cNvSpPr txBox="1"/>
              <p:nvPr/>
            </p:nvSpPr>
            <p:spPr>
              <a:xfrm>
                <a:off x="42332" y="4682321"/>
                <a:ext cx="5429957" cy="4962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𝑛𝑜</m:t>
                          </m:r>
                          <m:r>
                            <a:rPr lang="en-US" sz="2400" i="1">
                              <a:latin typeface="Cambria Math" panose="02040503050406030204" pitchFamily="18" charset="0"/>
                            </a:rPr>
                            <m:t>,</m:t>
                          </m:r>
                          <m:r>
                            <a:rPr lang="en-US" sz="2400" i="1">
                              <a:latin typeface="Cambria Math" panose="02040503050406030204" pitchFamily="18" charset="0"/>
                            </a:rPr>
                            <m:t>𝑎</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𝑁𝑂</m:t>
                          </m:r>
                          <m:r>
                            <a:rPr lang="en-US" sz="2400" i="1">
                              <a:latin typeface="Cambria Math" panose="02040503050406030204" pitchFamily="18" charset="0"/>
                            </a:rPr>
                            <m:t>−</m:t>
                          </m:r>
                          <m:r>
                            <a:rPr lang="en-US" sz="2400" i="1">
                              <a:latin typeface="Cambria Math" panose="02040503050406030204" pitchFamily="18" charset="0"/>
                            </a:rPr>
                            <m:t>𝐶𝑊𝑇</m:t>
                          </m:r>
                          <m:r>
                            <a:rPr lang="en-US" sz="2400" i="1">
                              <a:latin typeface="Cambria Math" panose="02040503050406030204" pitchFamily="18" charset="0"/>
                            </a:rPr>
                            <m:t>,</m:t>
                          </m:r>
                          <m:r>
                            <a:rPr lang="en-US" sz="2400" i="1">
                              <a:latin typeface="Cambria Math" panose="02040503050406030204" pitchFamily="18" charset="0"/>
                            </a:rPr>
                            <m:t>𝑎</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sub>
                          <m:r>
                            <a:rPr lang="en-US" sz="2400" i="1">
                              <a:latin typeface="Cambria Math" panose="02040503050406030204" pitchFamily="18" charset="0"/>
                            </a:rPr>
                            <m:t>𝑁𝑂</m:t>
                          </m:r>
                          <m:r>
                            <a:rPr lang="en-US" sz="2400" i="1">
                              <a:latin typeface="Cambria Math" panose="02040503050406030204" pitchFamily="18" charset="0"/>
                            </a:rPr>
                            <m:t>−</m:t>
                          </m:r>
                          <m:r>
                            <a:rPr lang="en-US" sz="2400" i="1">
                              <a:latin typeface="Cambria Math" panose="02040503050406030204" pitchFamily="18" charset="0"/>
                            </a:rPr>
                            <m:t>𝐶𝑊𝑇</m:t>
                          </m:r>
                          <m:r>
                            <a:rPr lang="en-US" sz="2400" i="1">
                              <a:latin typeface="Cambria Math" panose="02040503050406030204" pitchFamily="18" charset="0"/>
                            </a:rPr>
                            <m:t>,</m:t>
                          </m:r>
                          <m:r>
                            <a:rPr lang="en-US" sz="2400" i="1">
                              <a:latin typeface="Cambria Math" panose="02040503050406030204" pitchFamily="18" charset="0"/>
                            </a:rPr>
                            <m:t>h𝑜</m:t>
                          </m:r>
                          <m:r>
                            <a:rPr lang="en-US" sz="2400" i="1">
                              <a:latin typeface="Cambria Math" panose="02040503050406030204" pitchFamily="18" charset="0"/>
                            </a:rPr>
                            <m:t>,</m:t>
                          </m:r>
                          <m:r>
                            <a:rPr lang="en-US" sz="2400" i="1">
                              <a:latin typeface="Cambria Math" panose="02040503050406030204" pitchFamily="18" charset="0"/>
                            </a:rPr>
                            <m:t>𝑎</m:t>
                          </m:r>
                        </m:sub>
                      </m:sSub>
                    </m:oMath>
                  </m:oMathPara>
                </a14:m>
                <a:endParaRPr lang="en-US" sz="2400" dirty="0"/>
              </a:p>
            </p:txBody>
          </p:sp>
        </mc:Choice>
        <mc:Fallback xmlns="">
          <p:sp>
            <p:nvSpPr>
              <p:cNvPr id="6" name="TextBox 5">
                <a:extLst>
                  <a:ext uri="{FF2B5EF4-FFF2-40B4-BE49-F238E27FC236}">
                    <a16:creationId xmlns:a16="http://schemas.microsoft.com/office/drawing/2014/main" id="{085D3645-0D4C-3CF3-50E1-EA638391A168}"/>
                  </a:ext>
                </a:extLst>
              </p:cNvPr>
              <p:cNvSpPr txBox="1">
                <a:spLocks noRot="1" noChangeAspect="1" noMove="1" noResize="1" noEditPoints="1" noAdjustHandles="1" noChangeArrowheads="1" noChangeShapeType="1" noTextEdit="1"/>
              </p:cNvSpPr>
              <p:nvPr/>
            </p:nvSpPr>
            <p:spPr>
              <a:xfrm>
                <a:off x="42332" y="4682321"/>
                <a:ext cx="5429957" cy="49629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10038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6A45-170B-4E0D-3CF5-403E84D9A24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730E3B4-099F-7D2D-2622-7FA7C4021F2A}"/>
              </a:ext>
            </a:extLst>
          </p:cNvPr>
          <p:cNvGrpSpPr/>
          <p:nvPr/>
        </p:nvGrpSpPr>
        <p:grpSpPr>
          <a:xfrm>
            <a:off x="6040813" y="530588"/>
            <a:ext cx="2016369" cy="1278707"/>
            <a:chOff x="234462" y="1839630"/>
            <a:chExt cx="2016369" cy="1278707"/>
          </a:xfrm>
        </p:grpSpPr>
        <p:sp>
          <p:nvSpPr>
            <p:cNvPr id="6" name="Oval 5">
              <a:extLst>
                <a:ext uri="{FF2B5EF4-FFF2-40B4-BE49-F238E27FC236}">
                  <a16:creationId xmlns:a16="http://schemas.microsoft.com/office/drawing/2014/main" id="{E03D447F-20AB-3ECB-109F-EB2D9322964B}"/>
                </a:ext>
              </a:extLst>
            </p:cNvPr>
            <p:cNvSpPr/>
            <p:nvPr/>
          </p:nvSpPr>
          <p:spPr>
            <a:xfrm>
              <a:off x="234462" y="1887415"/>
              <a:ext cx="2016369" cy="1230922"/>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Fish outline">
              <a:extLst>
                <a:ext uri="{FF2B5EF4-FFF2-40B4-BE49-F238E27FC236}">
                  <a16:creationId xmlns:a16="http://schemas.microsoft.com/office/drawing/2014/main" id="{35FEB8DB-CEB2-C147-92CC-0504BA1955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028" y="2149168"/>
              <a:ext cx="664758" cy="664758"/>
            </a:xfrm>
            <a:prstGeom prst="rect">
              <a:avLst/>
            </a:prstGeom>
          </p:spPr>
        </p:pic>
        <p:pic>
          <p:nvPicPr>
            <p:cNvPr id="11" name="Graphic 10" descr="Fish with solid fill">
              <a:extLst>
                <a:ext uri="{FF2B5EF4-FFF2-40B4-BE49-F238E27FC236}">
                  <a16:creationId xmlns:a16="http://schemas.microsoft.com/office/drawing/2014/main" id="{E2A173D1-E3D0-471E-CABC-70C2B9D8BF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996" y="1839630"/>
              <a:ext cx="760409" cy="760409"/>
            </a:xfrm>
            <a:prstGeom prst="rect">
              <a:avLst/>
            </a:prstGeom>
          </p:spPr>
        </p:pic>
        <p:pic>
          <p:nvPicPr>
            <p:cNvPr id="12" name="Graphic 11" descr="Fish with solid fill">
              <a:extLst>
                <a:ext uri="{FF2B5EF4-FFF2-40B4-BE49-F238E27FC236}">
                  <a16:creationId xmlns:a16="http://schemas.microsoft.com/office/drawing/2014/main" id="{23151E43-155D-AD51-ACE9-2733CA5CDF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2315270"/>
              <a:ext cx="760409" cy="760409"/>
            </a:xfrm>
            <a:prstGeom prst="rect">
              <a:avLst/>
            </a:prstGeom>
          </p:spPr>
        </p:pic>
        <p:pic>
          <p:nvPicPr>
            <p:cNvPr id="13" name="Graphic 12" descr="Fish with solid fill">
              <a:extLst>
                <a:ext uri="{FF2B5EF4-FFF2-40B4-BE49-F238E27FC236}">
                  <a16:creationId xmlns:a16="http://schemas.microsoft.com/office/drawing/2014/main" id="{EF92E489-8903-44B1-73E5-81F08607A0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0464" y="1958732"/>
              <a:ext cx="760409" cy="760409"/>
            </a:xfrm>
            <a:prstGeom prst="rect">
              <a:avLst/>
            </a:prstGeom>
          </p:spPr>
        </p:pic>
        <p:pic>
          <p:nvPicPr>
            <p:cNvPr id="14" name="Graphic 13" descr="Fish outline">
              <a:extLst>
                <a:ext uri="{FF2B5EF4-FFF2-40B4-BE49-F238E27FC236}">
                  <a16:creationId xmlns:a16="http://schemas.microsoft.com/office/drawing/2014/main" id="{46ABA4A8-F1F5-6095-BE77-5A9D26DEDD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4652" y="2380926"/>
              <a:ext cx="664758" cy="664758"/>
            </a:xfrm>
            <a:prstGeom prst="rect">
              <a:avLst/>
            </a:prstGeom>
          </p:spPr>
        </p:pic>
      </p:grpSp>
      <p:sp>
        <p:nvSpPr>
          <p:cNvPr id="33" name="TextBox 32">
            <a:extLst>
              <a:ext uri="{FF2B5EF4-FFF2-40B4-BE49-F238E27FC236}">
                <a16:creationId xmlns:a16="http://schemas.microsoft.com/office/drawing/2014/main" id="{AB8609C3-7AF2-7167-664A-7CA36F2C6350}"/>
              </a:ext>
            </a:extLst>
          </p:cNvPr>
          <p:cNvSpPr txBox="1"/>
          <p:nvPr/>
        </p:nvSpPr>
        <p:spPr>
          <a:xfrm>
            <a:off x="6300913" y="179820"/>
            <a:ext cx="1496165" cy="369332"/>
          </a:xfrm>
          <a:prstGeom prst="rect">
            <a:avLst/>
          </a:prstGeom>
          <a:noFill/>
        </p:spPr>
        <p:txBody>
          <a:bodyPr wrap="square" rtlCol="0">
            <a:spAutoFit/>
          </a:bodyPr>
          <a:lstStyle/>
          <a:p>
            <a:pPr algn="ctr"/>
            <a:r>
              <a:rPr lang="en-US" dirty="0"/>
              <a:t>American R.</a:t>
            </a:r>
          </a:p>
        </p:txBody>
      </p:sp>
      <p:cxnSp>
        <p:nvCxnSpPr>
          <p:cNvPr id="37" name="Straight Arrow Connector 36">
            <a:extLst>
              <a:ext uri="{FF2B5EF4-FFF2-40B4-BE49-F238E27FC236}">
                <a16:creationId xmlns:a16="http://schemas.microsoft.com/office/drawing/2014/main" id="{B382FB60-5032-55AD-2284-E9B71FFA2D13}"/>
              </a:ext>
            </a:extLst>
          </p:cNvPr>
          <p:cNvCxnSpPr>
            <a:cxnSpLocks/>
          </p:cNvCxnSpPr>
          <p:nvPr/>
        </p:nvCxnSpPr>
        <p:spPr>
          <a:xfrm>
            <a:off x="7048998" y="6294661"/>
            <a:ext cx="889479"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7FA2994D-C528-711B-8A49-51E27E4256BC}"/>
              </a:ext>
            </a:extLst>
          </p:cNvPr>
          <p:cNvSpPr txBox="1"/>
          <p:nvPr/>
        </p:nvSpPr>
        <p:spPr>
          <a:xfrm>
            <a:off x="7786900" y="5839606"/>
            <a:ext cx="1974973" cy="830997"/>
          </a:xfrm>
          <a:prstGeom prst="rect">
            <a:avLst/>
          </a:prstGeom>
          <a:noFill/>
        </p:spPr>
        <p:txBody>
          <a:bodyPr wrap="square">
            <a:spAutoFit/>
          </a:bodyPr>
          <a:lstStyle/>
          <a:p>
            <a:pPr marL="0" indent="0" algn="ctr">
              <a:buNone/>
            </a:pPr>
            <a:r>
              <a:rPr lang="en-US" sz="2400" dirty="0"/>
              <a:t>Basin-wide estimate</a:t>
            </a:r>
          </a:p>
        </p:txBody>
      </p:sp>
      <p:sp>
        <p:nvSpPr>
          <p:cNvPr id="39" name="TextBox 38">
            <a:extLst>
              <a:ext uri="{FF2B5EF4-FFF2-40B4-BE49-F238E27FC236}">
                <a16:creationId xmlns:a16="http://schemas.microsoft.com/office/drawing/2014/main" id="{A88DC0AA-6520-A0A7-AF3F-DA8E483A7491}"/>
              </a:ext>
            </a:extLst>
          </p:cNvPr>
          <p:cNvSpPr txBox="1"/>
          <p:nvPr/>
        </p:nvSpPr>
        <p:spPr>
          <a:xfrm>
            <a:off x="2012211" y="818404"/>
            <a:ext cx="2973117" cy="400110"/>
          </a:xfrm>
          <a:prstGeom prst="rect">
            <a:avLst/>
          </a:prstGeom>
          <a:noFill/>
        </p:spPr>
        <p:txBody>
          <a:bodyPr wrap="square" rtlCol="0">
            <a:spAutoFit/>
          </a:bodyPr>
          <a:lstStyle/>
          <a:p>
            <a:r>
              <a:rPr lang="en-US" sz="2000" b="1" dirty="0"/>
              <a:t>1) </a:t>
            </a:r>
            <a:r>
              <a:rPr lang="en-US" sz="2000" dirty="0"/>
              <a:t>Escapement surveys</a:t>
            </a:r>
          </a:p>
        </p:txBody>
      </p:sp>
      <p:cxnSp>
        <p:nvCxnSpPr>
          <p:cNvPr id="41" name="Straight Connector 40">
            <a:extLst>
              <a:ext uri="{FF2B5EF4-FFF2-40B4-BE49-F238E27FC236}">
                <a16:creationId xmlns:a16="http://schemas.microsoft.com/office/drawing/2014/main" id="{836ED99D-9B56-73CC-EFAD-D50BB425A7B7}"/>
              </a:ext>
            </a:extLst>
          </p:cNvPr>
          <p:cNvCxnSpPr>
            <a:cxnSpLocks/>
          </p:cNvCxnSpPr>
          <p:nvPr/>
        </p:nvCxnSpPr>
        <p:spPr>
          <a:xfrm>
            <a:off x="7048996" y="1861672"/>
            <a:ext cx="0" cy="3679666"/>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91CE7CBF-A4AD-1AAF-CC6A-D197116BB632}"/>
              </a:ext>
            </a:extLst>
          </p:cNvPr>
          <p:cNvSpPr txBox="1"/>
          <p:nvPr/>
        </p:nvSpPr>
        <p:spPr>
          <a:xfrm>
            <a:off x="2011090" y="1666592"/>
            <a:ext cx="3772607" cy="707886"/>
          </a:xfrm>
          <a:prstGeom prst="rect">
            <a:avLst/>
          </a:prstGeom>
          <a:noFill/>
        </p:spPr>
        <p:txBody>
          <a:bodyPr wrap="square" rtlCol="0">
            <a:spAutoFit/>
          </a:bodyPr>
          <a:lstStyle/>
          <a:p>
            <a:r>
              <a:rPr lang="en-US" sz="2000" b="1" dirty="0"/>
              <a:t>2) </a:t>
            </a:r>
            <a:r>
              <a:rPr lang="en-US" sz="2000" dirty="0"/>
              <a:t>Collect scales based on historical top 95% contributions</a:t>
            </a:r>
          </a:p>
        </p:txBody>
      </p:sp>
      <p:sp>
        <p:nvSpPr>
          <p:cNvPr id="66" name="TextBox 65">
            <a:extLst>
              <a:ext uri="{FF2B5EF4-FFF2-40B4-BE49-F238E27FC236}">
                <a16:creationId xmlns:a16="http://schemas.microsoft.com/office/drawing/2014/main" id="{6DCB8B06-2552-B25B-6C32-9F065085B7DD}"/>
              </a:ext>
            </a:extLst>
          </p:cNvPr>
          <p:cNvSpPr txBox="1"/>
          <p:nvPr/>
        </p:nvSpPr>
        <p:spPr>
          <a:xfrm>
            <a:off x="6701575" y="1829419"/>
            <a:ext cx="1924214" cy="369332"/>
          </a:xfrm>
          <a:prstGeom prst="rect">
            <a:avLst/>
          </a:prstGeom>
          <a:noFill/>
        </p:spPr>
        <p:txBody>
          <a:bodyPr wrap="square" rtlCol="0">
            <a:spAutoFit/>
          </a:bodyPr>
          <a:lstStyle/>
          <a:p>
            <a:pPr algn="ctr"/>
            <a:r>
              <a:rPr lang="en-US" dirty="0"/>
              <a:t>131 scales</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34FD7B0-5778-9C4A-DC18-1C9044E9044F}"/>
                  </a:ext>
                </a:extLst>
              </p:cNvPr>
              <p:cNvSpPr txBox="1"/>
              <p:nvPr/>
            </p:nvSpPr>
            <p:spPr>
              <a:xfrm>
                <a:off x="2011090" y="2630484"/>
                <a:ext cx="3772607" cy="736740"/>
              </a:xfrm>
              <a:prstGeom prst="rect">
                <a:avLst/>
              </a:prstGeom>
              <a:noFill/>
            </p:spPr>
            <p:txBody>
              <a:bodyPr wrap="square" rtlCol="0">
                <a:spAutoFit/>
              </a:bodyPr>
              <a:lstStyle/>
              <a:p>
                <a:r>
                  <a:rPr lang="en-US" sz="2000" b="1" dirty="0"/>
                  <a:t>3) </a:t>
                </a:r>
                <a:r>
                  <a:rPr lang="en-US" sz="2000" dirty="0"/>
                  <a:t>Estimate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𝑁</m:t>
                            </m:r>
                          </m:e>
                        </m:acc>
                      </m:e>
                      <m:sub>
                        <m:r>
                          <a:rPr lang="en-US" sz="2000" b="0" i="1" smtClean="0">
                            <a:latin typeface="Cambria Math" panose="02040503050406030204" pitchFamily="18" charset="0"/>
                          </a:rPr>
                          <m:t>𝐿</m:t>
                        </m:r>
                        <m:r>
                          <a:rPr lang="en-US" sz="2000" b="0" i="1" smtClean="0">
                            <a:latin typeface="Cambria Math" panose="02040503050406030204" pitchFamily="18" charset="0"/>
                          </a:rPr>
                          <m:t>,</m:t>
                        </m:r>
                        <m:r>
                          <a:rPr lang="en-US" sz="2000" i="1">
                            <a:latin typeface="Cambria Math" panose="02040503050406030204" pitchFamily="18" charset="0"/>
                          </a:rPr>
                          <m:t>𝑁𝑂</m:t>
                        </m:r>
                        <m:r>
                          <a:rPr lang="en-US" sz="2000" i="1">
                            <a:latin typeface="Cambria Math" panose="02040503050406030204" pitchFamily="18" charset="0"/>
                          </a:rPr>
                          <m:t>−</m:t>
                        </m:r>
                        <m:r>
                          <a:rPr lang="en-US" sz="2000" i="1">
                            <a:latin typeface="Cambria Math" panose="02040503050406030204" pitchFamily="18" charset="0"/>
                          </a:rPr>
                          <m:t>𝐶𝑊𝑇</m:t>
                        </m:r>
                      </m:sub>
                    </m:sSub>
                  </m:oMath>
                </a14:m>
                <a:endParaRPr lang="en-US" sz="2000" dirty="0"/>
              </a:p>
              <a:p>
                <a:r>
                  <a:rPr lang="en-US" sz="2000" dirty="0"/>
                  <a:t>in each survey using </a:t>
                </a:r>
                <a:r>
                  <a:rPr lang="en-US" sz="2000" i="1" dirty="0"/>
                  <a:t>k</a:t>
                </a:r>
                <a:r>
                  <a:rPr lang="en-US" sz="2000" dirty="0"/>
                  <a:t> draws. </a:t>
                </a:r>
              </a:p>
            </p:txBody>
          </p:sp>
        </mc:Choice>
        <mc:Fallback xmlns="">
          <p:sp>
            <p:nvSpPr>
              <p:cNvPr id="67" name="TextBox 66">
                <a:extLst>
                  <a:ext uri="{FF2B5EF4-FFF2-40B4-BE49-F238E27FC236}">
                    <a16:creationId xmlns:a16="http://schemas.microsoft.com/office/drawing/2014/main" id="{234FD7B0-5778-9C4A-DC18-1C9044E9044F}"/>
                  </a:ext>
                </a:extLst>
              </p:cNvPr>
              <p:cNvSpPr txBox="1">
                <a:spLocks noRot="1" noChangeAspect="1" noMove="1" noResize="1" noEditPoints="1" noAdjustHandles="1" noChangeArrowheads="1" noChangeShapeType="1" noTextEdit="1"/>
              </p:cNvSpPr>
              <p:nvPr/>
            </p:nvSpPr>
            <p:spPr>
              <a:xfrm>
                <a:off x="2011090" y="2630484"/>
                <a:ext cx="3772607" cy="736740"/>
              </a:xfrm>
              <a:prstGeom prst="rect">
                <a:avLst/>
              </a:prstGeom>
              <a:blipFill>
                <a:blip r:embed="rId7"/>
                <a:stretch>
                  <a:fillRect l="-1777" t="-4167"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E3EBA379-00A8-82F1-0883-98C5089E97A4}"/>
                  </a:ext>
                </a:extLst>
              </p:cNvPr>
              <p:cNvSpPr txBox="1"/>
              <p:nvPr/>
            </p:nvSpPr>
            <p:spPr>
              <a:xfrm>
                <a:off x="6991853" y="2784513"/>
                <a:ext cx="1924214" cy="376770"/>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𝑁</m:t>
                            </m:r>
                          </m:e>
                        </m:acc>
                      </m:e>
                      <m:sub>
                        <m:r>
                          <a:rPr lang="en-US" i="1">
                            <a:latin typeface="Cambria Math" panose="02040503050406030204" pitchFamily="18" charset="0"/>
                          </a:rPr>
                          <m:t>𝑁𝑂</m:t>
                        </m:r>
                        <m:r>
                          <a:rPr lang="en-US" i="1">
                            <a:latin typeface="Cambria Math" panose="02040503050406030204" pitchFamily="18" charset="0"/>
                          </a:rPr>
                          <m:t>−</m:t>
                        </m:r>
                        <m:r>
                          <a:rPr lang="en-US" i="1">
                            <a:latin typeface="Cambria Math" panose="02040503050406030204" pitchFamily="18" charset="0"/>
                          </a:rPr>
                          <m:t>𝐶𝑊𝑇</m:t>
                        </m:r>
                      </m:sub>
                    </m:sSub>
                  </m:oMath>
                </a14:m>
                <a:r>
                  <a:rPr lang="en-US" dirty="0"/>
                  <a:t>=1500 </a:t>
                </a:r>
              </a:p>
            </p:txBody>
          </p:sp>
        </mc:Choice>
        <mc:Fallback xmlns="">
          <p:sp>
            <p:nvSpPr>
              <p:cNvPr id="69" name="TextBox 68">
                <a:extLst>
                  <a:ext uri="{FF2B5EF4-FFF2-40B4-BE49-F238E27FC236}">
                    <a16:creationId xmlns:a16="http://schemas.microsoft.com/office/drawing/2014/main" id="{E3EBA379-00A8-82F1-0883-98C5089E97A4}"/>
                  </a:ext>
                </a:extLst>
              </p:cNvPr>
              <p:cNvSpPr txBox="1">
                <a:spLocks noRot="1" noChangeAspect="1" noMove="1" noResize="1" noEditPoints="1" noAdjustHandles="1" noChangeArrowheads="1" noChangeShapeType="1" noTextEdit="1"/>
              </p:cNvSpPr>
              <p:nvPr/>
            </p:nvSpPr>
            <p:spPr>
              <a:xfrm>
                <a:off x="6991853" y="2784513"/>
                <a:ext cx="1924214" cy="376770"/>
              </a:xfrm>
              <a:prstGeom prst="rect">
                <a:avLst/>
              </a:prstGeom>
              <a:blipFill>
                <a:blip r:embed="rId8"/>
                <a:stretch>
                  <a:fillRect t="-6452"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41FB7D1A-1D9C-616A-1D8E-2C72E3CB5CB0}"/>
                  </a:ext>
                </a:extLst>
              </p:cNvPr>
              <p:cNvSpPr txBox="1"/>
              <p:nvPr/>
            </p:nvSpPr>
            <p:spPr>
              <a:xfrm>
                <a:off x="2012211" y="3579783"/>
                <a:ext cx="3771484" cy="1246110"/>
              </a:xfrm>
              <a:prstGeom prst="rect">
                <a:avLst/>
              </a:prstGeom>
              <a:noFill/>
            </p:spPr>
            <p:txBody>
              <a:bodyPr wrap="square" rtlCol="0">
                <a:spAutoFit/>
              </a:bodyPr>
              <a:lstStyle/>
              <a:p>
                <a:r>
                  <a:rPr lang="en-US" sz="2000" b="1" dirty="0"/>
                  <a:t>4) </a:t>
                </a:r>
                <a:r>
                  <a:rPr lang="en-US" sz="2000" dirty="0"/>
                  <a:t>Estimate each locations contribution to total untagged population as </a:t>
                </a:r>
                <a14:m>
                  <m:oMath xmlns:m="http://schemas.openxmlformats.org/officeDocument/2006/math">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𝑁</m:t>
                                </m:r>
                              </m:e>
                            </m:acc>
                          </m:e>
                          <m:sub>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𝑁𝑂</m:t>
                            </m:r>
                            <m:r>
                              <a:rPr lang="en-US" sz="2000" i="1">
                                <a:latin typeface="Cambria Math" panose="02040503050406030204" pitchFamily="18" charset="0"/>
                              </a:rPr>
                              <m:t>−</m:t>
                            </m:r>
                            <m:r>
                              <a:rPr lang="en-US" sz="2000" i="1">
                                <a:latin typeface="Cambria Math" panose="02040503050406030204" pitchFamily="18" charset="0"/>
                              </a:rPr>
                              <m:t>𝐶𝑊𝑇</m:t>
                            </m:r>
                          </m:sub>
                        </m:sSub>
                      </m:num>
                      <m:den>
                        <m:nary>
                          <m:naryPr>
                            <m:chr m:val="∑"/>
                            <m:subHide m:val="on"/>
                            <m:supHide m:val="on"/>
                            <m:ctrlPr>
                              <a:rPr lang="en-US" sz="2000" i="1" smtClean="0">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𝑁</m:t>
                                    </m:r>
                                  </m:e>
                                </m:acc>
                              </m:e>
                              <m:sub>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𝑁𝑂</m:t>
                                </m:r>
                                <m:r>
                                  <a:rPr lang="en-US" sz="2000" i="1">
                                    <a:latin typeface="Cambria Math" panose="02040503050406030204" pitchFamily="18" charset="0"/>
                                  </a:rPr>
                                  <m:t>−</m:t>
                                </m:r>
                                <m:r>
                                  <a:rPr lang="en-US" sz="2000" i="1">
                                    <a:latin typeface="Cambria Math" panose="02040503050406030204" pitchFamily="18" charset="0"/>
                                  </a:rPr>
                                  <m:t>𝐶𝑊𝑇</m:t>
                                </m:r>
                              </m:sub>
                            </m:sSub>
                          </m:e>
                        </m:nary>
                      </m:den>
                    </m:f>
                  </m:oMath>
                </a14:m>
                <a:endParaRPr lang="en-US" sz="2000" dirty="0"/>
              </a:p>
            </p:txBody>
          </p:sp>
        </mc:Choice>
        <mc:Fallback xmlns="">
          <p:sp>
            <p:nvSpPr>
              <p:cNvPr id="73" name="TextBox 72">
                <a:extLst>
                  <a:ext uri="{FF2B5EF4-FFF2-40B4-BE49-F238E27FC236}">
                    <a16:creationId xmlns:a16="http://schemas.microsoft.com/office/drawing/2014/main" id="{41FB7D1A-1D9C-616A-1D8E-2C72E3CB5CB0}"/>
                  </a:ext>
                </a:extLst>
              </p:cNvPr>
              <p:cNvSpPr txBox="1">
                <a:spLocks noRot="1" noChangeAspect="1" noMove="1" noResize="1" noEditPoints="1" noAdjustHandles="1" noChangeArrowheads="1" noChangeShapeType="1" noTextEdit="1"/>
              </p:cNvSpPr>
              <p:nvPr/>
            </p:nvSpPr>
            <p:spPr>
              <a:xfrm>
                <a:off x="2012211" y="3579783"/>
                <a:ext cx="3771484" cy="1246110"/>
              </a:xfrm>
              <a:prstGeom prst="rect">
                <a:avLst/>
              </a:prstGeom>
              <a:blipFill>
                <a:blip r:embed="rId9"/>
                <a:stretch>
                  <a:fillRect l="-1616" t="-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A867D805-7B23-77C9-757D-8563412B1C14}"/>
                  </a:ext>
                </a:extLst>
              </p:cNvPr>
              <p:cNvSpPr txBox="1"/>
              <p:nvPr/>
            </p:nvSpPr>
            <p:spPr>
              <a:xfrm>
                <a:off x="7048994" y="3998541"/>
                <a:ext cx="3587469" cy="369332"/>
              </a:xfrm>
              <a:prstGeom prst="rect">
                <a:avLst/>
              </a:prstGeom>
              <a:noFill/>
            </p:spPr>
            <p:txBody>
              <a:bodyPr wrap="square">
                <a:spAutoFit/>
              </a:bodyPr>
              <a:lstStyle/>
              <a:p>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𝑁𝑂</m:t>
                        </m:r>
                        <m:r>
                          <a:rPr lang="en-US" i="1">
                            <a:latin typeface="Cambria Math" panose="02040503050406030204" pitchFamily="18" charset="0"/>
                          </a:rPr>
                          <m:t>−</m:t>
                        </m:r>
                        <m:r>
                          <a:rPr lang="en-US" i="1">
                            <a:latin typeface="Cambria Math" panose="02040503050406030204" pitchFamily="18" charset="0"/>
                          </a:rPr>
                          <m:t>𝐶𝑊𝑇</m:t>
                        </m:r>
                      </m:sub>
                    </m:sSub>
                    <m:r>
                      <a:rPr lang="en-US" i="1">
                        <a:latin typeface="Cambria Math" panose="02040503050406030204" pitchFamily="18" charset="0"/>
                      </a:rPr>
                      <m:t> </m:t>
                    </m:r>
                  </m:oMath>
                </a14:m>
                <a:r>
                  <a:rPr lang="en-US" dirty="0"/>
                  <a:t>= 1500 / 7500= 20%</a:t>
                </a:r>
              </a:p>
            </p:txBody>
          </p:sp>
        </mc:Choice>
        <mc:Fallback xmlns="">
          <p:sp>
            <p:nvSpPr>
              <p:cNvPr id="74" name="TextBox 73">
                <a:extLst>
                  <a:ext uri="{FF2B5EF4-FFF2-40B4-BE49-F238E27FC236}">
                    <a16:creationId xmlns:a16="http://schemas.microsoft.com/office/drawing/2014/main" id="{A867D805-7B23-77C9-757D-8563412B1C14}"/>
                  </a:ext>
                </a:extLst>
              </p:cNvPr>
              <p:cNvSpPr txBox="1">
                <a:spLocks noRot="1" noChangeAspect="1" noMove="1" noResize="1" noEditPoints="1" noAdjustHandles="1" noChangeArrowheads="1" noChangeShapeType="1" noTextEdit="1"/>
              </p:cNvSpPr>
              <p:nvPr/>
            </p:nvSpPr>
            <p:spPr>
              <a:xfrm>
                <a:off x="7048994" y="3998541"/>
                <a:ext cx="3587469" cy="369332"/>
              </a:xfrm>
              <a:prstGeom prst="rect">
                <a:avLst/>
              </a:prstGeom>
              <a:blipFill>
                <a:blip r:embed="rId10"/>
                <a:stretch>
                  <a:fillRect t="-8197" b="-2623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13C255A-E590-2EA6-EE41-60F9409803E2}"/>
              </a:ext>
            </a:extLst>
          </p:cNvPr>
          <p:cNvSpPr txBox="1"/>
          <p:nvPr/>
        </p:nvSpPr>
        <p:spPr>
          <a:xfrm>
            <a:off x="2012211" y="5060319"/>
            <a:ext cx="3771484" cy="400110"/>
          </a:xfrm>
          <a:prstGeom prst="rect">
            <a:avLst/>
          </a:prstGeom>
          <a:noFill/>
        </p:spPr>
        <p:txBody>
          <a:bodyPr wrap="square" rtlCol="0">
            <a:spAutoFit/>
          </a:bodyPr>
          <a:lstStyle/>
          <a:p>
            <a:r>
              <a:rPr lang="en-US" sz="2000" b="1" dirty="0"/>
              <a:t>5) </a:t>
            </a:r>
            <a:r>
              <a:rPr lang="en-US" sz="2000" dirty="0"/>
              <a:t>Select 500 scales for aging</a:t>
            </a:r>
          </a:p>
        </p:txBody>
      </p:sp>
      <p:cxnSp>
        <p:nvCxnSpPr>
          <p:cNvPr id="50" name="Straight Connector 49">
            <a:extLst>
              <a:ext uri="{FF2B5EF4-FFF2-40B4-BE49-F238E27FC236}">
                <a16:creationId xmlns:a16="http://schemas.microsoft.com/office/drawing/2014/main" id="{CF93C849-4A84-BBEA-21C9-7346E2E3B20B}"/>
              </a:ext>
            </a:extLst>
          </p:cNvPr>
          <p:cNvCxnSpPr>
            <a:cxnSpLocks/>
          </p:cNvCxnSpPr>
          <p:nvPr/>
        </p:nvCxnSpPr>
        <p:spPr>
          <a:xfrm>
            <a:off x="7048998" y="5521449"/>
            <a:ext cx="0" cy="773212"/>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4AC0269-DC22-F212-20D7-62154B736F58}"/>
              </a:ext>
            </a:extLst>
          </p:cNvPr>
          <p:cNvSpPr txBox="1"/>
          <p:nvPr/>
        </p:nvSpPr>
        <p:spPr>
          <a:xfrm>
            <a:off x="7120740" y="5159823"/>
            <a:ext cx="1691738" cy="381515"/>
          </a:xfrm>
          <a:prstGeom prst="rect">
            <a:avLst/>
          </a:prstGeom>
          <a:noFill/>
        </p:spPr>
        <p:txBody>
          <a:bodyPr wrap="square">
            <a:spAutoFit/>
          </a:bodyPr>
          <a:lstStyle/>
          <a:p>
            <a:r>
              <a:rPr lang="en-US" dirty="0"/>
              <a:t>0.2*500=100</a:t>
            </a:r>
          </a:p>
        </p:txBody>
      </p:sp>
      <p:sp>
        <p:nvSpPr>
          <p:cNvPr id="88" name="TextBox 87">
            <a:extLst>
              <a:ext uri="{FF2B5EF4-FFF2-40B4-BE49-F238E27FC236}">
                <a16:creationId xmlns:a16="http://schemas.microsoft.com/office/drawing/2014/main" id="{5F174F32-4059-51BB-2F50-04FD42AFEECE}"/>
              </a:ext>
            </a:extLst>
          </p:cNvPr>
          <p:cNvSpPr txBox="1"/>
          <p:nvPr/>
        </p:nvSpPr>
        <p:spPr>
          <a:xfrm>
            <a:off x="2012211" y="5779428"/>
            <a:ext cx="3771484" cy="707886"/>
          </a:xfrm>
          <a:prstGeom prst="rect">
            <a:avLst/>
          </a:prstGeom>
          <a:noFill/>
        </p:spPr>
        <p:txBody>
          <a:bodyPr wrap="square" rtlCol="0">
            <a:spAutoFit/>
          </a:bodyPr>
          <a:lstStyle/>
          <a:p>
            <a:r>
              <a:rPr lang="en-US" sz="2000" b="1" dirty="0"/>
              <a:t>6) </a:t>
            </a:r>
            <a:r>
              <a:rPr lang="en-US" sz="2000" dirty="0"/>
              <a:t>Pool scales for basin wide estimate</a:t>
            </a:r>
          </a:p>
        </p:txBody>
      </p:sp>
    </p:spTree>
    <p:extLst>
      <p:ext uri="{BB962C8B-B14F-4D97-AF65-F5344CB8AC3E}">
        <p14:creationId xmlns:p14="http://schemas.microsoft.com/office/powerpoint/2010/main" val="265412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FBE2-BE39-73B1-C2C5-D5B737DF4E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C518BEF-5798-65A6-1D03-7240239D618A}"/>
              </a:ext>
            </a:extLst>
          </p:cNvPr>
          <p:cNvSpPr>
            <a:spLocks noGrp="1"/>
          </p:cNvSpPr>
          <p:nvPr>
            <p:ph type="title"/>
          </p:nvPr>
        </p:nvSpPr>
        <p:spPr/>
        <p:txBody>
          <a:bodyPr/>
          <a:lstStyle/>
          <a:p>
            <a:r>
              <a:rPr lang="en-US" b="1" dirty="0">
                <a:solidFill>
                  <a:srgbClr val="1E718F"/>
                </a:solidFill>
                <a:latin typeface="Century Gothic" panose="020B0502020202020204" pitchFamily="34" charset="0"/>
              </a:rPr>
              <a:t>Scale Sampling Next Steps</a:t>
            </a:r>
          </a:p>
        </p:txBody>
      </p:sp>
      <p:cxnSp>
        <p:nvCxnSpPr>
          <p:cNvPr id="7" name="Straight Connector 6">
            <a:extLst>
              <a:ext uri="{FF2B5EF4-FFF2-40B4-BE49-F238E27FC236}">
                <a16:creationId xmlns:a16="http://schemas.microsoft.com/office/drawing/2014/main" id="{8143AD96-F8E3-0020-96C9-059D53D4503E}"/>
              </a:ext>
              <a:ext uri="{C183D7F6-B498-43B3-948B-1728B52AA6E4}">
                <adec:decorative xmlns:adec="http://schemas.microsoft.com/office/drawing/2017/decorative" val="1"/>
              </a:ext>
            </a:extLst>
          </p:cNvPr>
          <p:cNvCxnSpPr>
            <a:cxnSpLocks/>
          </p:cNvCxnSpPr>
          <p:nvPr/>
        </p:nvCxnSpPr>
        <p:spPr>
          <a:xfrm>
            <a:off x="381000" y="1112799"/>
            <a:ext cx="11811000" cy="0"/>
          </a:xfrm>
          <a:prstGeom prst="line">
            <a:avLst/>
          </a:prstGeom>
          <a:ln>
            <a:solidFill>
              <a:srgbClr val="1E718F"/>
            </a:solidFill>
          </a:ln>
        </p:spPr>
        <p:style>
          <a:lnRef idx="1">
            <a:schemeClr val="accent1"/>
          </a:lnRef>
          <a:fillRef idx="0">
            <a:schemeClr val="accent1"/>
          </a:fillRef>
          <a:effectRef idx="0">
            <a:schemeClr val="accent1"/>
          </a:effectRef>
          <a:fontRef idx="minor">
            <a:schemeClr val="tx1"/>
          </a:fontRef>
        </p:style>
      </p:cxnSp>
      <p:sp>
        <p:nvSpPr>
          <p:cNvPr id="2" name="Content Placeholder 8">
            <a:extLst>
              <a:ext uri="{FF2B5EF4-FFF2-40B4-BE49-F238E27FC236}">
                <a16:creationId xmlns:a16="http://schemas.microsoft.com/office/drawing/2014/main" id="{AB51DBB3-E48F-9B8E-0ED7-2B8B452D500C}"/>
              </a:ext>
            </a:extLst>
          </p:cNvPr>
          <p:cNvSpPr>
            <a:spLocks noGrp="1"/>
          </p:cNvSpPr>
          <p:nvPr>
            <p:ph idx="1"/>
          </p:nvPr>
        </p:nvSpPr>
        <p:spPr>
          <a:xfrm>
            <a:off x="380997" y="1405289"/>
            <a:ext cx="11515827" cy="4995508"/>
          </a:xfrm>
        </p:spPr>
        <p:txBody>
          <a:bodyPr vert="horz" lIns="91440" tIns="45720" rIns="91440" bIns="45720" rtlCol="0" anchor="t">
            <a:normAutofit/>
          </a:bodyPr>
          <a:lstStyle/>
          <a:p>
            <a:pPr marL="514350" indent="-514350">
              <a:buFont typeface="+mj-lt"/>
              <a:buAutoNum type="arabicPeriod"/>
            </a:pPr>
            <a:r>
              <a:rPr lang="en-US" sz="2800" dirty="0"/>
              <a:t>Create memo on scale sampling/aging methods.</a:t>
            </a:r>
          </a:p>
          <a:p>
            <a:pPr lvl="1"/>
            <a:r>
              <a:rPr lang="en-US" sz="2400" dirty="0"/>
              <a:t>Arthur + Vanessa</a:t>
            </a:r>
          </a:p>
          <a:p>
            <a:pPr lvl="1"/>
            <a:r>
              <a:rPr lang="en-US" sz="2400" dirty="0"/>
              <a:t>Higher level focus on methods, referencing, but not reiterating, simulation analysis and findings.</a:t>
            </a:r>
          </a:p>
          <a:p>
            <a:pPr lvl="1"/>
            <a:r>
              <a:rPr lang="en-US" sz="2400" dirty="0"/>
              <a:t>Determine best method for teams to ensure scale collection is representative of total population.</a:t>
            </a:r>
          </a:p>
          <a:p>
            <a:pPr marL="514350" indent="-514350">
              <a:buFont typeface="+mj-lt"/>
              <a:buAutoNum type="arabicPeriod"/>
            </a:pPr>
            <a:r>
              <a:rPr lang="en-US" sz="2800" dirty="0"/>
              <a:t>Support PBT integration into CR work.</a:t>
            </a:r>
          </a:p>
        </p:txBody>
      </p:sp>
    </p:spTree>
    <p:extLst>
      <p:ext uri="{BB962C8B-B14F-4D97-AF65-F5344CB8AC3E}">
        <p14:creationId xmlns:p14="http://schemas.microsoft.com/office/powerpoint/2010/main" val="1294946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9379</TotalTime>
  <Words>2041</Words>
  <Application>Microsoft Office PowerPoint</Application>
  <PresentationFormat>Widescreen</PresentationFormat>
  <Paragraphs>157</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Cambria Math</vt:lpstr>
      <vt:lpstr>Century Gothic</vt:lpstr>
      <vt:lpstr>Office Theme</vt:lpstr>
      <vt:lpstr>Scale sampling and analysis for cohort reconstruction</vt:lpstr>
      <vt:lpstr>Outline</vt:lpstr>
      <vt:lpstr>Cohort Reconstruction (CR) in the Sac Basin</vt:lpstr>
      <vt:lpstr>CR sources of uncertainty</vt:lpstr>
      <vt:lpstr>How uncertainty is incorporated</vt:lpstr>
      <vt:lpstr>Weighted pooling of untagged scales</vt:lpstr>
      <vt:lpstr>PowerPoint Presentation</vt:lpstr>
      <vt:lpstr>Scale collection outline</vt:lpstr>
      <vt:lpstr>1) Scale collection</vt:lpstr>
      <vt:lpstr>1) Scale collection</vt:lpstr>
      <vt:lpstr>2) Estimate abundance of untagged fish</vt:lpstr>
      <vt:lpstr>3) Estimate locations contribution to basin</vt:lpstr>
      <vt:lpstr>4) Randomly select scales for aging</vt:lpstr>
      <vt:lpstr>5) Pool and age scales</vt:lpstr>
      <vt:lpstr>PowerPoint Presentation</vt:lpstr>
      <vt:lpstr>Scale Sampling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Barros, Arthur@Wildlife</dc:creator>
  <cp:lastModifiedBy>Barros, Arthur@Wildlife</cp:lastModifiedBy>
  <cp:revision>1</cp:revision>
  <dcterms:created xsi:type="dcterms:W3CDTF">2026-03-23T19:00:10Z</dcterms:created>
  <dcterms:modified xsi:type="dcterms:W3CDTF">2026-06-12T16:07:04Z</dcterms:modified>
</cp:coreProperties>
</file>