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70" r:id="rId2"/>
    <p:sldId id="281" r:id="rId3"/>
    <p:sldId id="271" r:id="rId4"/>
    <p:sldId id="282" r:id="rId5"/>
    <p:sldId id="283" r:id="rId6"/>
    <p:sldId id="285" r:id="rId7"/>
    <p:sldId id="286" r:id="rId8"/>
    <p:sldId id="289" r:id="rId9"/>
    <p:sldId id="287" r:id="rId10"/>
    <p:sldId id="288" r:id="rId11"/>
    <p:sldId id="32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8BC32D-CCD3-4E20-8FD4-1078977286D3}" v="35" dt="2026-08-05T16:51:26.4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72" autoAdjust="0"/>
    <p:restoredTop sz="82723" autoAdjust="0"/>
  </p:normalViewPr>
  <p:slideViewPr>
    <p:cSldViewPr snapToGrid="0">
      <p:cViewPr varScale="1">
        <p:scale>
          <a:sx n="68" d="100"/>
          <a:sy n="68" d="100"/>
        </p:scale>
        <p:origin x="102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rros, Arthur@Wildlife" userId="13f56b0b-3529-4413-b3c2-bd9e153a9954" providerId="ADAL" clId="{83F66843-D3E2-4209-914A-087BF0EB956C}"/>
    <pc:docChg chg="undo redo custSel mod addSld delSld modSld sldOrd">
      <pc:chgData name="Barros, Arthur@Wildlife" userId="13f56b0b-3529-4413-b3c2-bd9e153a9954" providerId="ADAL" clId="{83F66843-D3E2-4209-914A-087BF0EB956C}" dt="2026-08-05T17:01:27.576" v="29616" actId="20577"/>
      <pc:docMkLst>
        <pc:docMk/>
      </pc:docMkLst>
      <pc:sldChg chg="modSp add mod modNotesTx">
        <pc:chgData name="Barros, Arthur@Wildlife" userId="13f56b0b-3529-4413-b3c2-bd9e153a9954" providerId="ADAL" clId="{83F66843-D3E2-4209-914A-087BF0EB956C}" dt="2026-08-05T17:01:27.576" v="29616" actId="20577"/>
        <pc:sldMkLst>
          <pc:docMk/>
          <pc:sldMk cId="2638691956" sldId="270"/>
        </pc:sldMkLst>
        <pc:spChg chg="mod">
          <ac:chgData name="Barros, Arthur@Wildlife" userId="13f56b0b-3529-4413-b3c2-bd9e153a9954" providerId="ADAL" clId="{83F66843-D3E2-4209-914A-087BF0EB956C}" dt="2026-08-05T17:01:27.576" v="29616" actId="20577"/>
          <ac:spMkLst>
            <pc:docMk/>
            <pc:sldMk cId="2638691956" sldId="270"/>
            <ac:spMk id="2" creationId="{9439641B-5D2F-B0E9-1A5A-A2062A4786FC}"/>
          </ac:spMkLst>
        </pc:spChg>
        <pc:spChg chg="mod">
          <ac:chgData name="Barros, Arthur@Wildlife" userId="13f56b0b-3529-4413-b3c2-bd9e153a9954" providerId="ADAL" clId="{83F66843-D3E2-4209-914A-087BF0EB956C}" dt="2026-08-04T16:03:20.140" v="28288" actId="20577"/>
          <ac:spMkLst>
            <pc:docMk/>
            <pc:sldMk cId="2638691956" sldId="270"/>
            <ac:spMk id="7" creationId="{8BE11D55-20E6-FF15-A042-C53183279989}"/>
          </ac:spMkLst>
        </pc:spChg>
      </pc:sldChg>
      <pc:sldChg chg="modSp add mod">
        <pc:chgData name="Barros, Arthur@Wildlife" userId="13f56b0b-3529-4413-b3c2-bd9e153a9954" providerId="ADAL" clId="{83F66843-D3E2-4209-914A-087BF0EB956C}" dt="2026-08-04T16:15:13.881" v="28800" actId="20577"/>
        <pc:sldMkLst>
          <pc:docMk/>
          <pc:sldMk cId="1739912655" sldId="271"/>
        </pc:sldMkLst>
        <pc:spChg chg="mod">
          <ac:chgData name="Barros, Arthur@Wildlife" userId="13f56b0b-3529-4413-b3c2-bd9e153a9954" providerId="ADAL" clId="{83F66843-D3E2-4209-914A-087BF0EB956C}" dt="2026-07-31T15:02:27.391" v="27128" actId="13926"/>
          <ac:spMkLst>
            <pc:docMk/>
            <pc:sldMk cId="1739912655" sldId="271"/>
            <ac:spMk id="2" creationId="{F3C5ED5F-1D72-2DB6-B1FF-E5493AD2A93D}"/>
          </ac:spMkLst>
        </pc:spChg>
        <pc:spChg chg="mod">
          <ac:chgData name="Barros, Arthur@Wildlife" userId="13f56b0b-3529-4413-b3c2-bd9e153a9954" providerId="ADAL" clId="{83F66843-D3E2-4209-914A-087BF0EB956C}" dt="2026-08-04T16:15:13.881" v="28800" actId="20577"/>
          <ac:spMkLst>
            <pc:docMk/>
            <pc:sldMk cId="1739912655" sldId="271"/>
            <ac:spMk id="8" creationId="{D07EF281-3622-4F9F-A1BC-282FBE2769E1}"/>
          </ac:spMkLst>
        </pc:spChg>
      </pc:sldChg>
      <pc:sldChg chg="addSp delSp modSp mod">
        <pc:chgData name="Barros, Arthur@Wildlife" userId="13f56b0b-3529-4413-b3c2-bd9e153a9954" providerId="ADAL" clId="{83F66843-D3E2-4209-914A-087BF0EB956C}" dt="2026-07-31T14:57:51.149" v="27126" actId="22"/>
        <pc:sldMkLst>
          <pc:docMk/>
          <pc:sldMk cId="1615530763" sldId="281"/>
        </pc:sldMkLst>
        <pc:picChg chg="add">
          <ac:chgData name="Barros, Arthur@Wildlife" userId="13f56b0b-3529-4413-b3c2-bd9e153a9954" providerId="ADAL" clId="{83F66843-D3E2-4209-914A-087BF0EB956C}" dt="2026-07-31T14:57:51.149" v="27126" actId="22"/>
          <ac:picMkLst>
            <pc:docMk/>
            <pc:sldMk cId="1615530763" sldId="281"/>
            <ac:picMk id="10" creationId="{B3B08FEE-6F5B-C606-5C79-3459396C2AD3}"/>
          </ac:picMkLst>
        </pc:picChg>
      </pc:sldChg>
      <pc:sldChg chg="modSp add del mod modNotesTx">
        <pc:chgData name="Barros, Arthur@Wildlife" userId="13f56b0b-3529-4413-b3c2-bd9e153a9954" providerId="ADAL" clId="{83F66843-D3E2-4209-914A-087BF0EB956C}" dt="2026-07-31T17:09:03.610" v="28147" actId="1036"/>
        <pc:sldMkLst>
          <pc:docMk/>
          <pc:sldMk cId="2108404672" sldId="282"/>
        </pc:sldMkLst>
        <pc:picChg chg="mod">
          <ac:chgData name="Barros, Arthur@Wildlife" userId="13f56b0b-3529-4413-b3c2-bd9e153a9954" providerId="ADAL" clId="{83F66843-D3E2-4209-914A-087BF0EB956C}" dt="2026-07-31T17:09:03.610" v="28147" actId="1036"/>
          <ac:picMkLst>
            <pc:docMk/>
            <pc:sldMk cId="2108404672" sldId="282"/>
            <ac:picMk id="4" creationId="{4F905B5B-D1BD-CA40-A6B9-1B64F869510B}"/>
          </ac:picMkLst>
        </pc:picChg>
      </pc:sldChg>
      <pc:sldChg chg="addSp delSp modSp add mod setBg modNotesTx">
        <pc:chgData name="Barros, Arthur@Wildlife" userId="13f56b0b-3529-4413-b3c2-bd9e153a9954" providerId="ADAL" clId="{83F66843-D3E2-4209-914A-087BF0EB956C}" dt="2026-08-04T14:42:57.165" v="28196" actId="20577"/>
        <pc:sldMkLst>
          <pc:docMk/>
          <pc:sldMk cId="2164446617" sldId="283"/>
        </pc:sldMkLst>
        <pc:spChg chg="add mod">
          <ac:chgData name="Barros, Arthur@Wildlife" userId="13f56b0b-3529-4413-b3c2-bd9e153a9954" providerId="ADAL" clId="{83F66843-D3E2-4209-914A-087BF0EB956C}" dt="2026-07-31T15:10:45.058" v="27157" actId="20577"/>
          <ac:spMkLst>
            <pc:docMk/>
            <pc:sldMk cId="2164446617" sldId="283"/>
            <ac:spMk id="9" creationId="{E3BB1ABD-8FD9-D3F9-EE6E-2504236B19A7}"/>
          </ac:spMkLst>
        </pc:spChg>
        <pc:spChg chg="add mod">
          <ac:chgData name="Barros, Arthur@Wildlife" userId="13f56b0b-3529-4413-b3c2-bd9e153a9954" providerId="ADAL" clId="{83F66843-D3E2-4209-914A-087BF0EB956C}" dt="2026-08-04T14:42:57.165" v="28196" actId="20577"/>
          <ac:spMkLst>
            <pc:docMk/>
            <pc:sldMk cId="2164446617" sldId="283"/>
            <ac:spMk id="11" creationId="{DC405ADA-E841-0B28-A079-DF4C236DE8CB}"/>
          </ac:spMkLst>
        </pc:spChg>
        <pc:cxnChg chg="add mod">
          <ac:chgData name="Barros, Arthur@Wildlife" userId="13f56b0b-3529-4413-b3c2-bd9e153a9954" providerId="ADAL" clId="{83F66843-D3E2-4209-914A-087BF0EB956C}" dt="2026-07-31T15:10:41.521" v="27143"/>
          <ac:cxnSpMkLst>
            <pc:docMk/>
            <pc:sldMk cId="2164446617" sldId="283"/>
            <ac:cxnSpMk id="10" creationId="{FB4FF92B-1211-A107-AE69-D58E5E7DC1E1}"/>
          </ac:cxnSpMkLst>
        </pc:cxnChg>
      </pc:sldChg>
      <pc:sldChg chg="addSp delSp modSp add mod ord">
        <pc:chgData name="Barros, Arthur@Wildlife" userId="13f56b0b-3529-4413-b3c2-bd9e153a9954" providerId="ADAL" clId="{83F66843-D3E2-4209-914A-087BF0EB956C}" dt="2026-08-05T16:31:57.220" v="29183" actId="1076"/>
        <pc:sldMkLst>
          <pc:docMk/>
          <pc:sldMk cId="957198540" sldId="285"/>
        </pc:sldMkLst>
        <pc:spChg chg="mod">
          <ac:chgData name="Barros, Arthur@Wildlife" userId="13f56b0b-3529-4413-b3c2-bd9e153a9954" providerId="ADAL" clId="{83F66843-D3E2-4209-914A-087BF0EB956C}" dt="2026-08-04T14:43:12.468" v="28202"/>
          <ac:spMkLst>
            <pc:docMk/>
            <pc:sldMk cId="957198540" sldId="285"/>
            <ac:spMk id="4" creationId="{FB9C8642-F049-8CEE-2BE3-035979BBF30D}"/>
          </ac:spMkLst>
        </pc:spChg>
        <pc:spChg chg="add mod">
          <ac:chgData name="Barros, Arthur@Wildlife" userId="13f56b0b-3529-4413-b3c2-bd9e153a9954" providerId="ADAL" clId="{83F66843-D3E2-4209-914A-087BF0EB956C}" dt="2026-08-04T16:17:11.381" v="28824" actId="1076"/>
          <ac:spMkLst>
            <pc:docMk/>
            <pc:sldMk cId="957198540" sldId="285"/>
            <ac:spMk id="5" creationId="{415B8142-70DA-7831-B208-5581F368076A}"/>
          </ac:spMkLst>
        </pc:spChg>
        <pc:picChg chg="add mod">
          <ac:chgData name="Barros, Arthur@Wildlife" userId="13f56b0b-3529-4413-b3c2-bd9e153a9954" providerId="ADAL" clId="{83F66843-D3E2-4209-914A-087BF0EB956C}" dt="2026-08-05T16:31:57.220" v="29183" actId="1076"/>
          <ac:picMkLst>
            <pc:docMk/>
            <pc:sldMk cId="957198540" sldId="285"/>
            <ac:picMk id="10" creationId="{6F08ED96-6BBE-836B-51E2-261ADEF1C78E}"/>
          </ac:picMkLst>
        </pc:picChg>
        <pc:picChg chg="add mod">
          <ac:chgData name="Barros, Arthur@Wildlife" userId="13f56b0b-3529-4413-b3c2-bd9e153a9954" providerId="ADAL" clId="{83F66843-D3E2-4209-914A-087BF0EB956C}" dt="2026-08-04T16:17:13.103" v="28825" actId="1076"/>
          <ac:picMkLst>
            <pc:docMk/>
            <pc:sldMk cId="957198540" sldId="285"/>
            <ac:picMk id="12" creationId="{A9F37C89-A3CC-056E-6373-5A5F812B56BC}"/>
          </ac:picMkLst>
        </pc:picChg>
      </pc:sldChg>
      <pc:sldChg chg="addSp delSp modSp add mod ord modNotesTx">
        <pc:chgData name="Barros, Arthur@Wildlife" userId="13f56b0b-3529-4413-b3c2-bd9e153a9954" providerId="ADAL" clId="{83F66843-D3E2-4209-914A-087BF0EB956C}" dt="2026-08-05T16:51:26.408" v="29548" actId="404"/>
        <pc:sldMkLst>
          <pc:docMk/>
          <pc:sldMk cId="2604973572" sldId="286"/>
        </pc:sldMkLst>
        <pc:spChg chg="add del mod">
          <ac:chgData name="Barros, Arthur@Wildlife" userId="13f56b0b-3529-4413-b3c2-bd9e153a9954" providerId="ADAL" clId="{83F66843-D3E2-4209-914A-087BF0EB956C}" dt="2026-08-04T16:17:50.692" v="28827" actId="478"/>
          <ac:spMkLst>
            <pc:docMk/>
            <pc:sldMk cId="2604973572" sldId="286"/>
            <ac:spMk id="4" creationId="{1DF88D28-B1A1-6A6C-486B-DD5AC3FE377A}"/>
          </ac:spMkLst>
        </pc:spChg>
        <pc:spChg chg="add del mod">
          <ac:chgData name="Barros, Arthur@Wildlife" userId="13f56b0b-3529-4413-b3c2-bd9e153a9954" providerId="ADAL" clId="{83F66843-D3E2-4209-914A-087BF0EB956C}" dt="2026-08-05T16:51:26.408" v="29548" actId="404"/>
          <ac:spMkLst>
            <pc:docMk/>
            <pc:sldMk cId="2604973572" sldId="286"/>
            <ac:spMk id="11" creationId="{55368792-FCD0-E8A6-D90E-DDE69B3378DF}"/>
          </ac:spMkLst>
        </pc:spChg>
        <pc:picChg chg="add mod">
          <ac:chgData name="Barros, Arthur@Wildlife" userId="13f56b0b-3529-4413-b3c2-bd9e153a9954" providerId="ADAL" clId="{83F66843-D3E2-4209-914A-087BF0EB956C}" dt="2026-08-04T16:00:39.814" v="28268" actId="14100"/>
          <ac:picMkLst>
            <pc:docMk/>
            <pc:sldMk cId="2604973572" sldId="286"/>
            <ac:picMk id="3" creationId="{FCFA6356-3918-BFFE-632B-54996F6D6873}"/>
          </ac:picMkLst>
        </pc:picChg>
        <pc:picChg chg="del mod ord">
          <ac:chgData name="Barros, Arthur@Wildlife" userId="13f56b0b-3529-4413-b3c2-bd9e153a9954" providerId="ADAL" clId="{83F66843-D3E2-4209-914A-087BF0EB956C}" dt="2026-08-04T15:36:39.897" v="28222" actId="478"/>
          <ac:picMkLst>
            <pc:docMk/>
            <pc:sldMk cId="2604973572" sldId="286"/>
            <ac:picMk id="7" creationId="{3E19A20D-7CC0-7E13-F0B2-67A3531C30C5}"/>
          </ac:picMkLst>
        </pc:picChg>
        <pc:picChg chg="add mod">
          <ac:chgData name="Barros, Arthur@Wildlife" userId="13f56b0b-3529-4413-b3c2-bd9e153a9954" providerId="ADAL" clId="{83F66843-D3E2-4209-914A-087BF0EB956C}" dt="2026-08-04T16:00:34.680" v="28267" actId="1076"/>
          <ac:picMkLst>
            <pc:docMk/>
            <pc:sldMk cId="2604973572" sldId="286"/>
            <ac:picMk id="13" creationId="{FA6A3009-D27A-AAF2-7869-E919BA181663}"/>
          </ac:picMkLst>
        </pc:picChg>
      </pc:sldChg>
      <pc:sldChg chg="addSp delSp modSp add mod">
        <pc:chgData name="Barros, Arthur@Wildlife" userId="13f56b0b-3529-4413-b3c2-bd9e153a9954" providerId="ADAL" clId="{83F66843-D3E2-4209-914A-087BF0EB956C}" dt="2026-08-05T16:43:34.378" v="29519" actId="1076"/>
        <pc:sldMkLst>
          <pc:docMk/>
          <pc:sldMk cId="2179459497" sldId="287"/>
        </pc:sldMkLst>
        <pc:spChg chg="add mod">
          <ac:chgData name="Barros, Arthur@Wildlife" userId="13f56b0b-3529-4413-b3c2-bd9e153a9954" providerId="ADAL" clId="{83F66843-D3E2-4209-914A-087BF0EB956C}" dt="2026-08-05T16:43:34.378" v="29519" actId="1076"/>
          <ac:spMkLst>
            <pc:docMk/>
            <pc:sldMk cId="2179459497" sldId="287"/>
            <ac:spMk id="5" creationId="{2945148F-53D4-808D-AEDB-9F0337DD82EC}"/>
          </ac:spMkLst>
        </pc:spChg>
        <pc:picChg chg="add mod">
          <ac:chgData name="Barros, Arthur@Wildlife" userId="13f56b0b-3529-4413-b3c2-bd9e153a9954" providerId="ADAL" clId="{83F66843-D3E2-4209-914A-087BF0EB956C}" dt="2026-08-04T16:00:50.536" v="28271" actId="1076"/>
          <ac:picMkLst>
            <pc:docMk/>
            <pc:sldMk cId="2179459497" sldId="287"/>
            <ac:picMk id="3" creationId="{108620B6-DC29-2F4B-2ACC-39DD1F42B156}"/>
          </ac:picMkLst>
        </pc:picChg>
        <pc:picChg chg="add del mod ord">
          <ac:chgData name="Barros, Arthur@Wildlife" userId="13f56b0b-3529-4413-b3c2-bd9e153a9954" providerId="ADAL" clId="{83F66843-D3E2-4209-914A-087BF0EB956C}" dt="2026-08-04T14:43:39.165" v="28203" actId="478"/>
          <ac:picMkLst>
            <pc:docMk/>
            <pc:sldMk cId="2179459497" sldId="287"/>
            <ac:picMk id="8" creationId="{9B80FAED-2F6F-50DC-77F8-184B509F2EC7}"/>
          </ac:picMkLst>
        </pc:picChg>
        <pc:picChg chg="add mod">
          <ac:chgData name="Barros, Arthur@Wildlife" userId="13f56b0b-3529-4413-b3c2-bd9e153a9954" providerId="ADAL" clId="{83F66843-D3E2-4209-914A-087BF0EB956C}" dt="2026-08-04T16:00:44.884" v="28269" actId="1076"/>
          <ac:picMkLst>
            <pc:docMk/>
            <pc:sldMk cId="2179459497" sldId="287"/>
            <ac:picMk id="10" creationId="{C922A9EE-D2C1-8770-204E-1B5995B351B6}"/>
          </ac:picMkLst>
        </pc:picChg>
        <pc:cxnChg chg="add mod">
          <ac:chgData name="Barros, Arthur@Wildlife" userId="13f56b0b-3529-4413-b3c2-bd9e153a9954" providerId="ADAL" clId="{83F66843-D3E2-4209-914A-087BF0EB956C}" dt="2026-08-04T16:01:04.896" v="28272" actId="1076"/>
          <ac:cxnSpMkLst>
            <pc:docMk/>
            <pc:sldMk cId="2179459497" sldId="287"/>
            <ac:cxnSpMk id="6" creationId="{094EBB79-0FFC-21BD-94F0-930CD7C7439B}"/>
          </ac:cxnSpMkLst>
        </pc:cxnChg>
      </pc:sldChg>
      <pc:sldChg chg="modSp add mod ord">
        <pc:chgData name="Barros, Arthur@Wildlife" userId="13f56b0b-3529-4413-b3c2-bd9e153a9954" providerId="ADAL" clId="{83F66843-D3E2-4209-914A-087BF0EB956C}" dt="2026-08-04T16:19:25.118" v="29113" actId="20577"/>
        <pc:sldMkLst>
          <pc:docMk/>
          <pc:sldMk cId="907716908" sldId="288"/>
        </pc:sldMkLst>
        <pc:spChg chg="mod">
          <ac:chgData name="Barros, Arthur@Wildlife" userId="13f56b0b-3529-4413-b3c2-bd9e153a9954" providerId="ADAL" clId="{83F66843-D3E2-4209-914A-087BF0EB956C}" dt="2026-08-04T15:37:14.430" v="28238" actId="20577"/>
          <ac:spMkLst>
            <pc:docMk/>
            <pc:sldMk cId="907716908" sldId="288"/>
            <ac:spMk id="2" creationId="{81F24D9B-2593-00D0-047D-9EEE5E133240}"/>
          </ac:spMkLst>
        </pc:spChg>
        <pc:spChg chg="mod">
          <ac:chgData name="Barros, Arthur@Wildlife" userId="13f56b0b-3529-4413-b3c2-bd9e153a9954" providerId="ADAL" clId="{83F66843-D3E2-4209-914A-087BF0EB956C}" dt="2026-08-04T16:19:25.118" v="29113" actId="20577"/>
          <ac:spMkLst>
            <pc:docMk/>
            <pc:sldMk cId="907716908" sldId="288"/>
            <ac:spMk id="4" creationId="{D19C6113-8B3D-AC0C-D182-16FFA41B9F59}"/>
          </ac:spMkLst>
        </pc:spChg>
      </pc:sldChg>
      <pc:sldChg chg="addSp delSp add mod ord modNotesTx">
        <pc:chgData name="Barros, Arthur@Wildlife" userId="13f56b0b-3529-4413-b3c2-bd9e153a9954" providerId="ADAL" clId="{83F66843-D3E2-4209-914A-087BF0EB956C}" dt="2026-08-04T20:10:07.512" v="29115" actId="478"/>
        <pc:sldMkLst>
          <pc:docMk/>
          <pc:sldMk cId="1420847236" sldId="289"/>
        </pc:sldMkLst>
        <pc:spChg chg="add del">
          <ac:chgData name="Barros, Arthur@Wildlife" userId="13f56b0b-3529-4413-b3c2-bd9e153a9954" providerId="ADAL" clId="{83F66843-D3E2-4209-914A-087BF0EB956C}" dt="2026-08-04T20:10:07.512" v="29115" actId="478"/>
          <ac:spMkLst>
            <pc:docMk/>
            <pc:sldMk cId="1420847236" sldId="289"/>
            <ac:spMk id="4" creationId="{01EAF3DE-4D1A-1E91-B0D1-03E00A8BFC30}"/>
          </ac:spMkLst>
        </pc:spChg>
      </pc:sldChg>
      <pc:sldChg chg="modSp add mod ord">
        <pc:chgData name="Barros, Arthur@Wildlife" userId="13f56b0b-3529-4413-b3c2-bd9e153a9954" providerId="ADAL" clId="{83F66843-D3E2-4209-914A-087BF0EB956C}" dt="2026-08-05T16:39:38.350" v="29267"/>
        <pc:sldMkLst>
          <pc:docMk/>
          <pc:sldMk cId="2654124860" sldId="324"/>
        </pc:sldMkLst>
        <pc:spChg chg="mod">
          <ac:chgData name="Barros, Arthur@Wildlife" userId="13f56b0b-3529-4413-b3c2-bd9e153a9954" providerId="ADAL" clId="{83F66843-D3E2-4209-914A-087BF0EB956C}" dt="2026-08-05T16:39:06.093" v="29263" actId="1076"/>
          <ac:spMkLst>
            <pc:docMk/>
            <pc:sldMk cId="2654124860" sldId="324"/>
            <ac:spMk id="33" creationId="{AB8609C3-7AF2-7167-664A-7CA36F2C6350}"/>
          </ac:spMkLst>
        </pc:spChg>
        <pc:spChg chg="mod">
          <ac:chgData name="Barros, Arthur@Wildlife" userId="13f56b0b-3529-4413-b3c2-bd9e153a9954" providerId="ADAL" clId="{83F66843-D3E2-4209-914A-087BF0EB956C}" dt="2026-08-05T16:38:15.079" v="29251" actId="20577"/>
          <ac:spMkLst>
            <pc:docMk/>
            <pc:sldMk cId="2654124860" sldId="324"/>
            <ac:spMk id="47" creationId="{91CE7CBF-A4AD-1AAF-CC6A-D197116BB632}"/>
          </ac:spMkLst>
        </pc:spChg>
        <pc:spChg chg="mod">
          <ac:chgData name="Barros, Arthur@Wildlife" userId="13f56b0b-3529-4413-b3c2-bd9e153a9954" providerId="ADAL" clId="{83F66843-D3E2-4209-914A-087BF0EB956C}" dt="2026-08-05T16:38:39.697" v="29256" actId="20577"/>
          <ac:spMkLst>
            <pc:docMk/>
            <pc:sldMk cId="2654124860" sldId="324"/>
            <ac:spMk id="66" creationId="{6DCB8B06-2552-B25B-6C32-9F065085B7DD}"/>
          </ac:spMkLst>
        </pc:spChg>
        <pc:spChg chg="mod">
          <ac:chgData name="Barros, Arthur@Wildlife" userId="13f56b0b-3529-4413-b3c2-bd9e153a9954" providerId="ADAL" clId="{83F66843-D3E2-4209-914A-087BF0EB956C}" dt="2026-08-05T16:38:31.135" v="29252" actId="1076"/>
          <ac:spMkLst>
            <pc:docMk/>
            <pc:sldMk cId="2654124860" sldId="324"/>
            <ac:spMk id="67" creationId="{234FD7B0-5778-9C4A-DC18-1C9044E9044F}"/>
          </ac:spMkLst>
        </pc:spChg>
      </pc:sldChg>
      <pc:sldMasterChg chg="delSldLayout">
        <pc:chgData name="Barros, Arthur@Wildlife" userId="13f56b0b-3529-4413-b3c2-bd9e153a9954" providerId="ADAL" clId="{83F66843-D3E2-4209-914A-087BF0EB956C}" dt="2026-07-31T14:53:29.406" v="27119" actId="47"/>
        <pc:sldMasterMkLst>
          <pc:docMk/>
          <pc:sldMasterMk cId="3955416218" sldId="2147483648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85E647-1A48-4004-85C5-C76C6BC393FB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AB4CF9-28FA-4E34-9255-0C7CD920B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808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D60BE1-F9BF-4FF6-9ED4-6E58D1340EF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6430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997B7-F9AD-45C8-43A5-57B3C6DC6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24E82A-498B-892E-7953-B9D6A8915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6F53E2-2278-EF3F-5305-69CA47104E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15BE14-371D-A651-159D-41572ECD43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D60BE1-F9BF-4FF6-9ED4-6E58D1340EF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1383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D60BE1-F9BF-4FF6-9ED4-6E58D1340EF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3389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B59A1-C8B0-73AD-742D-A6D6108C2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373F01-96AB-8742-5471-4AC046B316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613C05-3491-21D2-9938-5F87C4CEE4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Running a bunch of different simulations using this method, I found that 500 scales is a good minimum that provides an unbiased estimate within a 10% margin of error that accurately includes the true values around 95% of the time.</a:t>
            </a:r>
          </a:p>
          <a:p>
            <a:r>
              <a:rPr lang="en-US" dirty="0"/>
              <a:t>Proportion estimate coverage = in what proportion of our simulations was the true value within the estimated confidence intervals?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9FB671-2564-C7E9-014B-C1D0B511A0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D60BE1-F9BF-4FF6-9ED4-6E58D1340EF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3223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C6442-7F0B-E07B-85AF-07D68B2A1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42AF6B-13B4-4DC5-A0E7-4E9AF4CBF6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AD7C30-EFD7-92E0-80B5-A86C676F11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0AB84F-3061-55E8-1145-66C4FE20C9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D60BE1-F9BF-4FF6-9ED4-6E58D1340EF8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38030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7D39D-10D9-EEC0-BC9A-8FF6CFA97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A9D225-B91D-BFBE-59C1-057338864C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2CB20C-5C4A-3210-0F22-5482D5CD74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AD8BB4-EF36-5AFB-DE41-CEAD77C4ED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D60BE1-F9BF-4FF6-9ED4-6E58D1340EF8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32746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F3785-9DE0-176B-770C-5590B2A9F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3041E1-9A23-9207-5E77-F748D40877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CE3360-3FC4-D365-CF35-814948145F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X-axis: number of scales pooled and aged across the basin</a:t>
            </a:r>
            <a:br>
              <a:rPr lang="en-US" dirty="0"/>
            </a:br>
            <a:endParaRPr lang="en-US" dirty="0"/>
          </a:p>
          <a:p>
            <a:r>
              <a:rPr lang="en-US" dirty="0"/>
              <a:t>Y-axis: the percent of iterations that produced an estimate of abundance for that age class of natural-origin fish that was within +/- 15% of the true value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3C831C-B8BF-B287-F057-C81E881C6F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D60BE1-F9BF-4FF6-9ED4-6E58D1340EF8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72985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77420-A9C9-7B36-1620-E839FDC37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E08445-21DE-0662-546E-A85F75A75C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DAE152-B27F-C6CF-0B4B-D441E2BBD0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Scale sample size has limited impact on uncertainty of abundance estimates for each age-cohort, and limited returns past a certain point when pooling across the basin.</a:t>
            </a:r>
            <a:br>
              <a:rPr lang="en-US" dirty="0"/>
            </a:br>
            <a:r>
              <a:rPr lang="en-US" dirty="0"/>
              <a:t>Tag-rate is the source of abundance uncertainty that we have the most ability to control.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381224-79D7-409E-CA82-5BDB54666B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D60BE1-F9BF-4FF6-9ED4-6E58D1340EF8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3668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E34E0-7C11-CA1E-925B-8B6B0C149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E1F03A-BB0B-1CC1-23B8-56F529399A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F66C1D-1C24-4D47-F7D2-106AA21AE9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49798A-ACEF-3425-8803-7C890FAAD5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D60BE1-F9BF-4FF6-9ED4-6E58D1340EF8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9631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9A12F-A5EC-3C99-81D3-288618A70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2E0963-362B-4895-DD4C-D90D8B2B9E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98A6B1-38A1-6DEA-6FBA-9C18D31B04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0632B2-7077-D1E4-3410-07BC7FAA7B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D60BE1-F9BF-4FF6-9ED4-6E58D1340EF8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90911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6C8A1-A309-D39E-6421-D253C979A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AAFABE-C270-DF67-7AFE-65CDB0DEF0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F44A5B-D01C-443B-81CB-2A2F30E10D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6901DF-3CE5-D76B-B2D5-4F0EAC6A96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D60BE1-F9BF-4FF6-9ED4-6E58D1340EF8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6408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9A3DC-4D2B-1E07-F568-9F58AC585C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48639B-5EA9-7462-AAD7-D3EA471E0F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7D2F2-88B6-F1F8-2375-1C5F76755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94A0D-C85C-4780-B778-2D041B1589AC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FF5AD-BA5A-A7A4-C2F9-ADEFD82FB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A7A56-E394-CE53-AB6D-F44ED9281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890DA-B637-4160-B51B-7CCB840AF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04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AAD04-4769-43A1-ADC5-0D24FA419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6C36C-B940-82A1-E64E-1CA5C91C22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2E30D-3768-1B21-9B57-9B87588BF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94A0D-C85C-4780-B778-2D041B1589AC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9B9115-6271-B5DB-2AD8-C116ACB64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9F010-7B23-63A7-4E26-FC272CAF2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890DA-B637-4160-B51B-7CCB840AF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465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4BAAE-6CDB-E63D-F739-C3FE7D6AD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25D5AA-6FED-4D89-464A-B3129CC76A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19088-87C4-C5EA-EF36-FA138CA0B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94A0D-C85C-4780-B778-2D041B1589AC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645D67-B110-384B-2CF3-FC3C4068D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65409-2CEA-E85A-2C39-4BB8AA49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890DA-B637-4160-B51B-7CCB840AF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200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F388F-D660-3E3E-62E1-139EDF9FB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F6B7A-54E3-1328-38DE-CE964FBDC6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E673EB-992B-6012-7D60-220B3B52D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490FFE-08D7-A997-8129-9B92B509D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94A0D-C85C-4780-B778-2D041B1589AC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1E37DD-75EB-13E7-536D-5A72BBDE0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211FC6-EBA0-A1E4-DC5F-9C8FA1F74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890DA-B637-4160-B51B-7CCB840AF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469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56D0A-A068-A489-C49D-26FC1D418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F85639-F27D-D167-67DC-78FC4DC55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479003-9531-421D-BEF6-AFECF1592B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6A801D-981D-A912-5296-4F87074BE8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9B3F3C-7DAF-F10B-372F-986B095EE3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BDF1D8-078A-11E7-7D44-DCF7DE85F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94A0D-C85C-4780-B778-2D041B1589AC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839D2A-34BA-7997-95C2-8CE08F1B7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4E6EFC-8A26-A9B3-B583-B82500083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890DA-B637-4160-B51B-7CCB840AF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786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29084-107A-E12C-8450-1FF822E0E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681D4-C54E-9E56-BCC7-042624002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94A0D-C85C-4780-B778-2D041B1589AC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83D991-8FDE-D21E-63A4-1A27F8195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815824-5CE5-5204-8735-7D5D0C0CE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890DA-B637-4160-B51B-7CCB840AF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07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0DC82B-DD2B-2B80-AE4E-49DB449D0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94A0D-C85C-4780-B778-2D041B1589AC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8E36DE-1903-3D30-94EE-23C4CC004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C3888C-1047-179E-62A5-709546DB2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890DA-B637-4160-B51B-7CCB840AF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938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85C0F-D7D5-9A36-2868-6E5F9DA6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5E167-7B3E-FDD6-90F5-C4FF4EBD9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49A288-1C03-BE96-15CE-B6F5A00FE9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618ADD-8F25-EE21-11DD-F04AFEC8B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94A0D-C85C-4780-B778-2D041B1589AC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394911-94A5-1310-DC4C-896CAE414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FC2BE9-377C-8DEC-8A78-5B99C5D49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890DA-B637-4160-B51B-7CCB840AF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107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17EB9-349C-5C47-540B-BB200EBD0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B65B17-4789-C223-7F1C-25152EFC6F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6D7EBD-812E-3793-8EED-645AB4413D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BDAB83-3705-983F-7683-FF8C43848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94A0D-C85C-4780-B778-2D041B1589AC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DF4EFA-B29C-97CB-D639-CFCDE9725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54131F-9A28-8760-745E-DB98EB43D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890DA-B637-4160-B51B-7CCB840AF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000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0FD74-6CF0-7719-9D3F-94A42DB85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32EB90-AAB7-A86A-0703-C8EA7E4FED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45AE4-87E1-1EA6-BEA0-8838D03AB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94A0D-C85C-4780-B778-2D041B1589AC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626BDF-9FCA-C0BC-404B-483B85846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F7145A-48B4-BE02-675E-86FB8FBBA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890DA-B637-4160-B51B-7CCB840AF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838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7AC1B0-69E3-B10C-F9CE-5F1FEE98B8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D082DD-1D2C-98BB-C003-929F97A8B0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05374-5CE3-7522-A91C-06D65B655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94A0D-C85C-4780-B778-2D041B1589AC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F9DAE-3EFF-3190-EF94-111229F9A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F395FA-3C42-9766-EDB7-66D598C8A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890DA-B637-4160-B51B-7CCB840AF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192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759BC-34CD-F546-199B-7C111FEF72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8" y="437908"/>
            <a:ext cx="11421291" cy="760412"/>
          </a:xfrm>
        </p:spPr>
        <p:txBody>
          <a:bodyPr/>
          <a:lstStyle/>
          <a:p>
            <a:r>
              <a:rPr lang="en-US" dirty="0"/>
              <a:t>Click to edit title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65F90-C306-58CE-BEA8-25FB6AEBD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8" y="1631599"/>
            <a:ext cx="3643540" cy="4769198"/>
          </a:xfrm>
        </p:spPr>
        <p:txBody>
          <a:bodyPr>
            <a:normAutofit/>
          </a:bodyPr>
          <a:lstStyle>
            <a:lvl1pPr>
              <a:defRPr sz="2400">
                <a:solidFill>
                  <a:srgbClr val="1E718F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7A9B63-5A41-C3DC-F351-2409C184475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281487" y="1631599"/>
            <a:ext cx="7910513" cy="47469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CE80EE-C114-B206-6249-128EB26A54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1E71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9775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BD3AD18-64E1-6059-61D0-0BBC7B92817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3144838"/>
          </a:xfrm>
        </p:spPr>
        <p:txBody>
          <a:bodyPr/>
          <a:lstStyle>
            <a:lvl1pPr marL="0" indent="0" algn="ctr">
              <a:lnSpc>
                <a:spcPct val="300000"/>
              </a:lnSpc>
              <a:buNone/>
              <a:tabLst>
                <a:tab pos="2230438" algn="l"/>
              </a:tabLst>
              <a:defRPr/>
            </a:lvl1pPr>
          </a:lstStyle>
          <a:p>
            <a:r>
              <a:rPr lang="en-US" dirty="0"/>
              <a:t>Insert Picture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8CD82-FE2C-848E-7E3C-C3106B0319A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81100" y="3889003"/>
            <a:ext cx="9829800" cy="909637"/>
          </a:xfrm>
        </p:spPr>
        <p:txBody>
          <a:bodyPr anchor="b">
            <a:normAutofit/>
          </a:bodyPr>
          <a:lstStyle>
            <a:lvl1pPr algn="ctr">
              <a:defRPr sz="4800" b="1" cap="all" baseline="0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B0454C-6DB7-B79C-A5BF-F3073BA447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16507"/>
            <a:ext cx="9144000" cy="365125"/>
          </a:xfrm>
        </p:spPr>
        <p:txBody>
          <a:bodyPr/>
          <a:lstStyle>
            <a:lvl1pPr marL="0" indent="0" algn="ctr">
              <a:buNone/>
              <a:defRPr sz="2400" i="1">
                <a:latin typeface="Century Gothic" panose="020B0502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93D7AE0-7DBD-A848-246A-F08E23C88C9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65625" y="5513859"/>
            <a:ext cx="3460750" cy="289734"/>
          </a:xfrm>
        </p:spPr>
        <p:txBody>
          <a:bodyPr>
            <a:normAutofit/>
          </a:bodyPr>
          <a:lstStyle>
            <a:lvl1pPr marL="0" indent="0" algn="ctr">
              <a:buNone/>
              <a:defRPr sz="1800" b="1" cap="all" baseline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PRESENTED BY: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58A1B98-64AE-7F0D-0D2A-3C7A5C0BBD8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15382" y="5821460"/>
            <a:ext cx="7361237" cy="28973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First, Last Name – California Department of Fish and Wildlife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42A69D-4275-F414-2C61-02683FA56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1E71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889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CDC9D4-E20F-A9B8-ADF3-0E24AC935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7A7647-919C-749A-F62A-BDDD0737A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2AEDA-C3E8-CA05-AD02-2CACE6CF2B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894A0D-C85C-4780-B778-2D041B1589AC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E68292-A4C9-797D-3A8B-8FEDB5568D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09C62-5445-81C7-8A86-CB526C6BE1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890DA-B637-4160-B51B-7CCB840AF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416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19.png"/><Relationship Id="rId4" Type="http://schemas.openxmlformats.org/officeDocument/2006/relationships/image" Target="../media/image15.svg"/><Relationship Id="rId9" Type="http://schemas.openxmlformats.org/officeDocument/2006/relationships/image" Target="../media/image1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2FC03835-5BB8-D71E-9395-6C6C05BB4A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437" b="25731"/>
          <a:stretch/>
        </p:blipFill>
        <p:spPr>
          <a:xfrm>
            <a:off x="0" y="0"/>
            <a:ext cx="12192000" cy="3144838"/>
          </a:xfrm>
        </p:spPr>
      </p:pic>
      <p:pic>
        <p:nvPicPr>
          <p:cNvPr id="9" name="Picture 8" descr="California Fish and Wildlife Logo">
            <a:extLst>
              <a:ext uri="{FF2B5EF4-FFF2-40B4-BE49-F238E27FC236}">
                <a16:creationId xmlns:a16="http://schemas.microsoft.com/office/drawing/2014/main" id="{05BEA135-73FE-53A2-FE81-A29C0E9F12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9016" y="2191216"/>
            <a:ext cx="1233966" cy="16288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439641B-5D2F-B0E9-1A5A-A2062A4786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1098" y="4290104"/>
            <a:ext cx="9829800" cy="909637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1E718F"/>
                </a:solidFill>
                <a:latin typeface="Century Gothic" panose="020B0502020202020204" pitchFamily="34" charset="0"/>
              </a:rPr>
              <a:t>Potential updates to CR Metrics and Methods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8BE11D55-20E6-FF15-A042-C531832799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2589" y="5336054"/>
            <a:ext cx="9366819" cy="90963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Century Gothic"/>
              </a:rPr>
              <a:t>August 5</a:t>
            </a:r>
            <a:r>
              <a:rPr lang="en-US" baseline="30000" dirty="0">
                <a:latin typeface="Century Gothic"/>
              </a:rPr>
              <a:t>th</a:t>
            </a:r>
            <a:r>
              <a:rPr lang="en-US" dirty="0">
                <a:latin typeface="Century Gothic"/>
              </a:rPr>
              <a:t>, 2026</a:t>
            </a:r>
          </a:p>
        </p:txBody>
      </p:sp>
    </p:spTree>
    <p:extLst>
      <p:ext uri="{BB962C8B-B14F-4D97-AF65-F5344CB8AC3E}">
        <p14:creationId xmlns:p14="http://schemas.microsoft.com/office/powerpoint/2010/main" val="2638691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75E83-1C94-B6FB-0D47-9A4CF3B8A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3B08FEE-6F5B-C606-5C79-3459396C2A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54" y="485364"/>
            <a:ext cx="11936491" cy="588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530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07EF281-3622-4F9F-A1BC-282FBE276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E718F"/>
                </a:solidFill>
                <a:latin typeface="Century Gothic" panose="020B0502020202020204" pitchFamily="34" charset="0"/>
              </a:rPr>
              <a:t>Sampling Questions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F786DF-E915-05D5-C6A0-69EDA5D17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" y="1112799"/>
            <a:ext cx="11811000" cy="0"/>
          </a:xfrm>
          <a:prstGeom prst="line">
            <a:avLst/>
          </a:prstGeom>
          <a:ln>
            <a:solidFill>
              <a:srgbClr val="1E71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F3C5ED5F-1D72-2DB6-B1FF-E5493AD2A9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7" y="1405289"/>
            <a:ext cx="11515827" cy="499550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b="1" dirty="0"/>
              <a:t>Sample Size</a:t>
            </a:r>
            <a:r>
              <a:rPr lang="en-US" sz="3200" dirty="0"/>
              <a:t>: How many scales do we need to sample from recovered fish to accurately estimate the </a:t>
            </a:r>
            <a:r>
              <a:rPr lang="en-US" sz="3200" dirty="0">
                <a:highlight>
                  <a:srgbClr val="FFFF00"/>
                </a:highlight>
              </a:rPr>
              <a:t>proportion of age classes </a:t>
            </a:r>
            <a:r>
              <a:rPr lang="en-US" sz="3200" dirty="0"/>
              <a:t>in natural origin fish?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b="1" dirty="0"/>
              <a:t>Sample Pooling</a:t>
            </a:r>
            <a:r>
              <a:rPr lang="en-US" sz="3200" dirty="0"/>
              <a:t>: Instead of collecting some minimum number of samples from each tributary and hatchery, what if we just pooled samples across the Sacramento River basin to produce a single cohort reconstruction (CR) value? What is lost by doing this? What are the assumptions and what happens if we violate them?</a:t>
            </a:r>
          </a:p>
        </p:txBody>
      </p:sp>
    </p:spTree>
    <p:extLst>
      <p:ext uri="{BB962C8B-B14F-4D97-AF65-F5344CB8AC3E}">
        <p14:creationId xmlns:p14="http://schemas.microsoft.com/office/powerpoint/2010/main" val="1739912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6CEE5-B6B3-ACBE-5B60-3EBAA502B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F905B5B-D1BD-CA40-A6B9-1B64F86951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2" t="6276" r="886" b="803"/>
          <a:stretch>
            <a:fillRect/>
          </a:stretch>
        </p:blipFill>
        <p:spPr>
          <a:xfrm>
            <a:off x="797710" y="222031"/>
            <a:ext cx="10596580" cy="643495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08404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398731-C564-E64A-81D1-9880DBDE8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7">
            <a:extLst>
              <a:ext uri="{FF2B5EF4-FFF2-40B4-BE49-F238E27FC236}">
                <a16:creationId xmlns:a16="http://schemas.microsoft.com/office/drawing/2014/main" id="{E3BB1ABD-8FD9-D3F9-EE6E-2504236B1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8" y="437908"/>
            <a:ext cx="11421291" cy="760412"/>
          </a:xfrm>
        </p:spPr>
        <p:txBody>
          <a:bodyPr/>
          <a:lstStyle/>
          <a:p>
            <a:r>
              <a:rPr lang="en-US" b="1" dirty="0">
                <a:solidFill>
                  <a:srgbClr val="1E718F"/>
                </a:solidFill>
                <a:latin typeface="Century Gothic" panose="020B0502020202020204" pitchFamily="34" charset="0"/>
              </a:rPr>
              <a:t>The good news?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B4FF92B-1211-A107-AE69-D58E5E7DC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" y="1112799"/>
            <a:ext cx="11811000" cy="0"/>
          </a:xfrm>
          <a:prstGeom prst="line">
            <a:avLst/>
          </a:prstGeom>
          <a:ln>
            <a:solidFill>
              <a:srgbClr val="1E71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ontent Placeholder 8">
                <a:extLst>
                  <a:ext uri="{FF2B5EF4-FFF2-40B4-BE49-F238E27FC236}">
                    <a16:creationId xmlns:a16="http://schemas.microsoft.com/office/drawing/2014/main" id="{DC405ADA-E841-0B28-A079-DF4C236DE8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0997" y="1405289"/>
                <a:ext cx="11515827" cy="4995508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 marL="0" indent="0">
                  <a:buNone/>
                </a:pPr>
                <a:r>
                  <a:rPr lang="en-US" sz="3200" dirty="0"/>
                  <a:t>The math and simulations work the same,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𝑛𝑜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sz="3200" dirty="0"/>
                  <a:t> is derived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acc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𝑛𝑜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endParaRPr lang="en-US" sz="3200" dirty="0"/>
              </a:p>
              <a:p>
                <a:pPr marL="0" indent="0">
                  <a:buNone/>
                </a:pPr>
                <a:endParaRPr lang="en-US" sz="3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𝑛𝑜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32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𝑛𝑜</m:t>
                              </m:r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𝑛𝑜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11" name="Content Placeholder 8">
                <a:extLst>
                  <a:ext uri="{FF2B5EF4-FFF2-40B4-BE49-F238E27FC236}">
                    <a16:creationId xmlns:a16="http://schemas.microsoft.com/office/drawing/2014/main" id="{DC405ADA-E841-0B28-A079-DF4C236DE8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0997" y="1405289"/>
                <a:ext cx="11515827" cy="4995508"/>
              </a:xfrm>
              <a:blipFill>
                <a:blip r:embed="rId3"/>
                <a:stretch>
                  <a:fillRect l="-1323" t="-2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4446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1554C-E3D0-751D-80E4-14C42217F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1536122D-2823-BBA0-5A95-D2662C099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8" y="437908"/>
            <a:ext cx="11421291" cy="760412"/>
          </a:xfrm>
        </p:spPr>
        <p:txBody>
          <a:bodyPr/>
          <a:lstStyle/>
          <a:p>
            <a:r>
              <a:rPr lang="en-US" b="1" dirty="0">
                <a:solidFill>
                  <a:srgbClr val="1E718F"/>
                </a:solidFill>
                <a:latin typeface="Century Gothic" panose="020B0502020202020204" pitchFamily="34" charset="0"/>
              </a:rPr>
              <a:t>The bad news?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8959253-2514-3895-76AD-AB522E46B0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" y="1112799"/>
            <a:ext cx="11811000" cy="0"/>
          </a:xfrm>
          <a:prstGeom prst="line">
            <a:avLst/>
          </a:prstGeom>
          <a:ln>
            <a:solidFill>
              <a:srgbClr val="1E71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8">
                <a:extLst>
                  <a:ext uri="{FF2B5EF4-FFF2-40B4-BE49-F238E27FC236}">
                    <a16:creationId xmlns:a16="http://schemas.microsoft.com/office/drawing/2014/main" id="{FB9C8642-F049-8CEE-2BE3-035979BBF3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0997" y="1405289"/>
                <a:ext cx="11515827" cy="4995508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𝑛𝑜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sz="3200" dirty="0"/>
                  <a:t> is ambivalent to the size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acc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𝑛𝑜</m:t>
                        </m:r>
                      </m:sub>
                    </m:sSub>
                  </m:oMath>
                </a14:m>
                <a:endParaRPr lang="en-US" sz="3200" dirty="0"/>
              </a:p>
              <a:p>
                <a:pPr marL="0" indent="0">
                  <a:buNone/>
                </a:pPr>
                <a:endParaRPr lang="en-US" sz="3200" dirty="0"/>
              </a:p>
              <a:p>
                <a:pPr marL="0" indent="0">
                  <a:buNone/>
                </a:pPr>
                <a:r>
                  <a:rPr lang="en-US" sz="3200" dirty="0"/>
                  <a:t>Currently our decision on the number of scales to collect comes from accuracy metrics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𝑛𝑜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sz="3200" dirty="0"/>
                  <a:t> not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acc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𝑛𝑜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sz="3200" dirty="0"/>
                  <a:t>.</a:t>
                </a:r>
              </a:p>
              <a:p>
                <a:pPr marL="0" indent="0">
                  <a:buNone/>
                </a:pPr>
                <a:endParaRPr lang="en-US" sz="3200" dirty="0"/>
              </a:p>
            </p:txBody>
          </p:sp>
        </mc:Choice>
        <mc:Fallback>
          <p:sp>
            <p:nvSpPr>
              <p:cNvPr id="4" name="Content Placeholder 8">
                <a:extLst>
                  <a:ext uri="{FF2B5EF4-FFF2-40B4-BE49-F238E27FC236}">
                    <a16:creationId xmlns:a16="http://schemas.microsoft.com/office/drawing/2014/main" id="{FB9C8642-F049-8CEE-2BE3-035979BBF3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0997" y="1405289"/>
                <a:ext cx="11515827" cy="4995508"/>
              </a:xfrm>
              <a:blipFill>
                <a:blip r:embed="rId3"/>
                <a:stretch>
                  <a:fillRect l="-1323" t="-2198" r="-6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Graphic 9" descr="Pie chart outline">
            <a:extLst>
              <a:ext uri="{FF2B5EF4-FFF2-40B4-BE49-F238E27FC236}">
                <a16:creationId xmlns:a16="http://schemas.microsoft.com/office/drawing/2014/main" id="{6F08ED96-6BBE-836B-51E2-261ADEF1C7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34835" y="3313647"/>
            <a:ext cx="3650357" cy="3650357"/>
          </a:xfrm>
          <a:prstGeom prst="rect">
            <a:avLst/>
          </a:prstGeom>
        </p:spPr>
      </p:pic>
      <p:pic>
        <p:nvPicPr>
          <p:cNvPr id="12" name="Graphic 11" descr="Pie chart with solid fill">
            <a:extLst>
              <a:ext uri="{FF2B5EF4-FFF2-40B4-BE49-F238E27FC236}">
                <a16:creationId xmlns:a16="http://schemas.microsoft.com/office/drawing/2014/main" id="{A9F37C89-A3CC-056E-6373-5A5F812B56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13578" y="4207802"/>
            <a:ext cx="1862048" cy="18620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15B8142-70DA-7831-B208-5581F368076A}"/>
              </a:ext>
            </a:extLst>
          </p:cNvPr>
          <p:cNvSpPr txBox="1"/>
          <p:nvPr/>
        </p:nvSpPr>
        <p:spPr>
          <a:xfrm>
            <a:off x="5956807" y="4207802"/>
            <a:ext cx="1723697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00" dirty="0"/>
              <a:t>≈</a:t>
            </a:r>
          </a:p>
        </p:txBody>
      </p:sp>
    </p:spTree>
    <p:extLst>
      <p:ext uri="{BB962C8B-B14F-4D97-AF65-F5344CB8AC3E}">
        <p14:creationId xmlns:p14="http://schemas.microsoft.com/office/powerpoint/2010/main" val="957198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4CC9F-AC18-F1FA-7B1C-E207C3D88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5368792-FCD0-E8A6-D90E-DDE69B3378DF}"/>
                  </a:ext>
                </a:extLst>
              </p:cNvPr>
              <p:cNvSpPr txBox="1"/>
              <p:nvPr/>
            </p:nvSpPr>
            <p:spPr>
              <a:xfrm>
                <a:off x="588579" y="250145"/>
                <a:ext cx="10846676" cy="5636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The number of scales we age does little for the accuracy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acc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𝑛𝑜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sz="2800" dirty="0"/>
                  <a:t> 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5368792-FCD0-E8A6-D90E-DDE69B3378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579" y="250145"/>
                <a:ext cx="10846676" cy="563616"/>
              </a:xfrm>
              <a:prstGeom prst="rect">
                <a:avLst/>
              </a:prstGeom>
              <a:blipFill>
                <a:blip r:embed="rId3"/>
                <a:stretch>
                  <a:fillRect l="-1180" t="-5435" b="-28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FA6A3009-D27A-AAF2-7869-E919BA1816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453428"/>
            <a:ext cx="6726621" cy="140457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CFA6356-3918-BFFE-632B-54996F6D68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1972" y="865526"/>
            <a:ext cx="8923283" cy="5353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973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E84A4-9AFE-395E-905A-32024A9FB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6077962-F62F-3A39-78CD-D921CF3B7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E718F"/>
                </a:solidFill>
                <a:latin typeface="Century Gothic" panose="020B0502020202020204" pitchFamily="34" charset="0"/>
              </a:rPr>
              <a:t>CR sources of uncertainty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9E94846-8439-88D8-BDB2-39E71636B2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" y="1112799"/>
            <a:ext cx="11811000" cy="0"/>
          </a:xfrm>
          <a:prstGeom prst="line">
            <a:avLst/>
          </a:prstGeom>
          <a:ln>
            <a:solidFill>
              <a:srgbClr val="1E71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8">
                <a:extLst>
                  <a:ext uri="{FF2B5EF4-FFF2-40B4-BE49-F238E27FC236}">
                    <a16:creationId xmlns:a16="http://schemas.microsoft.com/office/drawing/2014/main" id="{03EDCEA6-71C3-998C-6FB7-B20E31E40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0997" y="1405289"/>
                <a:ext cx="11515827" cy="4995508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r>
                  <a:rPr lang="en-US" sz="3200" dirty="0"/>
                  <a:t>Escapement estimate 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acc>
                  </m:oMath>
                </a14:m>
                <a:r>
                  <a:rPr lang="en-US" sz="3200" dirty="0"/>
                  <a:t>, unreported).</a:t>
                </a:r>
              </a:p>
              <a:p>
                <a:r>
                  <a:rPr lang="en-US" sz="3200" dirty="0"/>
                  <a:t>Fish recovery rate (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3200" dirty="0"/>
                  <a:t>).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𝑁𝐵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2800" dirty="0"/>
                  <a:t> expansion of recovered tags to estimate number of unrecovered tagged fish.</a:t>
                </a:r>
              </a:p>
              <a:p>
                <a:r>
                  <a:rPr lang="en-US" sz="3200" dirty="0"/>
                  <a:t>Tag-rate expansion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𝑝𝑟𝑜𝑑</m:t>
                        </m:r>
                      </m:sub>
                    </m:sSub>
                  </m:oMath>
                </a14:m>
                <a:r>
                  <a:rPr lang="en-US" sz="3200" dirty="0"/>
                  <a:t>).</a:t>
                </a:r>
              </a:p>
              <a:p>
                <a:pPr lvl="1"/>
                <a:r>
                  <a:rPr lang="en-US" sz="2800" dirty="0"/>
                  <a:t>Used to estimate total hatchery-origin abundance.</a:t>
                </a:r>
              </a:p>
              <a:p>
                <a:r>
                  <a:rPr lang="en-US" sz="3200" dirty="0"/>
                  <a:t>Scale subsampling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𝑁𝑂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𝐶𝑊𝑇</m:t>
                        </m:r>
                      </m:sub>
                    </m:sSub>
                  </m:oMath>
                </a14:m>
                <a:r>
                  <a:rPr lang="en-US" sz="3200" dirty="0"/>
                  <a:t>).</a:t>
                </a:r>
              </a:p>
              <a:p>
                <a:pPr lvl="1"/>
                <a:r>
                  <a:rPr lang="en-US" sz="2800" dirty="0"/>
                  <a:t>Used to 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𝑁𝑂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𝐶𝑊𝑇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sz="2800" dirty="0"/>
                  <a:t>, proportion of each age-class for all untagged fish.</a:t>
                </a:r>
              </a:p>
              <a:p>
                <a:r>
                  <a:rPr lang="en-US" sz="3200" dirty="0"/>
                  <a:t>Scale aging bias and correction (unreported here).</a:t>
                </a:r>
              </a:p>
            </p:txBody>
          </p:sp>
        </mc:Choice>
        <mc:Fallback xmlns="">
          <p:sp>
            <p:nvSpPr>
              <p:cNvPr id="2" name="Content Placeholder 8">
                <a:extLst>
                  <a:ext uri="{FF2B5EF4-FFF2-40B4-BE49-F238E27FC236}">
                    <a16:creationId xmlns:a16="http://schemas.microsoft.com/office/drawing/2014/main" id="{03EDCEA6-71C3-998C-6FB7-B20E31E40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0997" y="1405289"/>
                <a:ext cx="11515827" cy="4995508"/>
              </a:xfrm>
              <a:blipFill>
                <a:blip r:embed="rId3"/>
                <a:stretch>
                  <a:fillRect l="-1164" t="-2198" b="-36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0847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B4852-8D4D-146A-B4AF-0F64616F6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945148F-53D4-808D-AEDB-9F0337DD82EC}"/>
              </a:ext>
            </a:extLst>
          </p:cNvPr>
          <p:cNvSpPr txBox="1"/>
          <p:nvPr/>
        </p:nvSpPr>
        <p:spPr>
          <a:xfrm>
            <a:off x="315310" y="118102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200" dirty="0"/>
              <a:t>If we set tag-rate to 100%: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922A9EE-D2C1-8770-204E-1B5995B35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53428"/>
            <a:ext cx="6726621" cy="140457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08620B6-DC29-2F4B-2ACC-39DD1F42B1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6343" y="702877"/>
            <a:ext cx="9087078" cy="545224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94EBB79-0FFC-21BD-94F0-930CD7C7439B}"/>
              </a:ext>
            </a:extLst>
          </p:cNvPr>
          <p:cNvCxnSpPr>
            <a:cxnSpLocks/>
          </p:cNvCxnSpPr>
          <p:nvPr/>
        </p:nvCxnSpPr>
        <p:spPr>
          <a:xfrm>
            <a:off x="9107218" y="542532"/>
            <a:ext cx="0" cy="5608845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94594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351D4-B241-D8CE-9E0A-96AE7438F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81F24D9B-2593-00D0-047D-9EEE5E133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8" y="437908"/>
            <a:ext cx="11421291" cy="760412"/>
          </a:xfrm>
        </p:spPr>
        <p:txBody>
          <a:bodyPr/>
          <a:lstStyle/>
          <a:p>
            <a:r>
              <a:rPr lang="en-US" b="1" dirty="0">
                <a:solidFill>
                  <a:srgbClr val="1E718F"/>
                </a:solidFill>
                <a:latin typeface="Century Gothic" panose="020B0502020202020204" pitchFamily="34" charset="0"/>
              </a:rPr>
              <a:t>Take aways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C24B28A-C784-E5A7-13A3-46DDD70FB1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" y="1112799"/>
            <a:ext cx="11811000" cy="0"/>
          </a:xfrm>
          <a:prstGeom prst="line">
            <a:avLst/>
          </a:prstGeom>
          <a:ln>
            <a:solidFill>
              <a:srgbClr val="1E71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8">
                <a:extLst>
                  <a:ext uri="{FF2B5EF4-FFF2-40B4-BE49-F238E27FC236}">
                    <a16:creationId xmlns:a16="http://schemas.microsoft.com/office/drawing/2014/main" id="{D19C6113-8B3D-AC0C-D182-16FFA41B9F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0997" y="1405289"/>
                <a:ext cx="11515827" cy="4995508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 marL="0" indent="0">
                  <a:buNone/>
                </a:pPr>
                <a:r>
                  <a:rPr lang="en-US" sz="3200" dirty="0"/>
                  <a:t>If we our target metric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𝑛𝑜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sz="3200" dirty="0"/>
                  <a:t>, then no issue!</a:t>
                </a:r>
              </a:p>
              <a:p>
                <a:pPr marL="0" indent="0">
                  <a:buNone/>
                </a:pPr>
                <a:r>
                  <a:rPr lang="en-US" sz="3200" dirty="0"/>
                  <a:t>However, if our target metric was supposed to be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acc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𝑛𝑜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sz="3200" dirty="0"/>
                  <a:t> ±15% then we should incorporate 100% tagging through PBT to get more accurate estimates and increase scale sample size to ~1500 scales.</a:t>
                </a:r>
              </a:p>
            </p:txBody>
          </p:sp>
        </mc:Choice>
        <mc:Fallback>
          <p:sp>
            <p:nvSpPr>
              <p:cNvPr id="4" name="Content Placeholder 8">
                <a:extLst>
                  <a:ext uri="{FF2B5EF4-FFF2-40B4-BE49-F238E27FC236}">
                    <a16:creationId xmlns:a16="http://schemas.microsoft.com/office/drawing/2014/main" id="{D19C6113-8B3D-AC0C-D182-16FFA41B9F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0997" y="1405289"/>
                <a:ext cx="11515827" cy="4995508"/>
              </a:xfrm>
              <a:blipFill>
                <a:blip r:embed="rId3"/>
                <a:stretch>
                  <a:fillRect l="-1323" t="-2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77169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96A45-170B-4E0D-3CF5-403E84D9A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8730E3B4-099F-7D2D-2622-7FA7C4021F2A}"/>
              </a:ext>
            </a:extLst>
          </p:cNvPr>
          <p:cNvGrpSpPr/>
          <p:nvPr/>
        </p:nvGrpSpPr>
        <p:grpSpPr>
          <a:xfrm>
            <a:off x="6040813" y="530588"/>
            <a:ext cx="2016369" cy="1278707"/>
            <a:chOff x="234462" y="1839630"/>
            <a:chExt cx="2016369" cy="1278707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03D447F-20AB-3ECB-109F-EB2D9322964B}"/>
                </a:ext>
              </a:extLst>
            </p:cNvPr>
            <p:cNvSpPr/>
            <p:nvPr/>
          </p:nvSpPr>
          <p:spPr>
            <a:xfrm>
              <a:off x="234462" y="1887415"/>
              <a:ext cx="2016369" cy="1230922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0" name="Graphic 9" descr="Fish outline">
              <a:extLst>
                <a:ext uri="{FF2B5EF4-FFF2-40B4-BE49-F238E27FC236}">
                  <a16:creationId xmlns:a16="http://schemas.microsoft.com/office/drawing/2014/main" id="{35FEB8DB-CEB2-C147-92CC-0504BA19558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03028" y="2149168"/>
              <a:ext cx="664758" cy="664758"/>
            </a:xfrm>
            <a:prstGeom prst="rect">
              <a:avLst/>
            </a:prstGeom>
          </p:spPr>
        </p:pic>
        <p:pic>
          <p:nvPicPr>
            <p:cNvPr id="11" name="Graphic 10" descr="Fish with solid fill">
              <a:extLst>
                <a:ext uri="{FF2B5EF4-FFF2-40B4-BE49-F238E27FC236}">
                  <a16:creationId xmlns:a16="http://schemas.microsoft.com/office/drawing/2014/main" id="{E2A173D1-E3D0-471E-CABC-70C2B9D8BF1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80996" y="1839630"/>
              <a:ext cx="760409" cy="760409"/>
            </a:xfrm>
            <a:prstGeom prst="rect">
              <a:avLst/>
            </a:prstGeom>
          </p:spPr>
        </p:pic>
        <p:pic>
          <p:nvPicPr>
            <p:cNvPr id="12" name="Graphic 11" descr="Fish with solid fill">
              <a:extLst>
                <a:ext uri="{FF2B5EF4-FFF2-40B4-BE49-F238E27FC236}">
                  <a16:creationId xmlns:a16="http://schemas.microsoft.com/office/drawing/2014/main" id="{23151E43-155D-AD51-ACE9-2733CA5CDF8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340464" y="2315270"/>
              <a:ext cx="760409" cy="760409"/>
            </a:xfrm>
            <a:prstGeom prst="rect">
              <a:avLst/>
            </a:prstGeom>
          </p:spPr>
        </p:pic>
        <p:pic>
          <p:nvPicPr>
            <p:cNvPr id="13" name="Graphic 12" descr="Fish with solid fill">
              <a:extLst>
                <a:ext uri="{FF2B5EF4-FFF2-40B4-BE49-F238E27FC236}">
                  <a16:creationId xmlns:a16="http://schemas.microsoft.com/office/drawing/2014/main" id="{EF92E489-8903-44B1-73E5-81F08607A0E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340464" y="1958732"/>
              <a:ext cx="760409" cy="760409"/>
            </a:xfrm>
            <a:prstGeom prst="rect">
              <a:avLst/>
            </a:prstGeom>
          </p:spPr>
        </p:pic>
        <p:pic>
          <p:nvPicPr>
            <p:cNvPr id="14" name="Graphic 13" descr="Fish outline">
              <a:extLst>
                <a:ext uri="{FF2B5EF4-FFF2-40B4-BE49-F238E27FC236}">
                  <a16:creationId xmlns:a16="http://schemas.microsoft.com/office/drawing/2014/main" id="{46ABA4A8-F1F5-6095-BE77-5A9D26DEDD3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4652" y="2380926"/>
              <a:ext cx="664758" cy="664758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B8609C3-7AF2-7167-664A-7CA36F2C6350}"/>
                  </a:ext>
                </a:extLst>
              </p:cNvPr>
              <p:cNvSpPr txBox="1"/>
              <p:nvPr/>
            </p:nvSpPr>
            <p:spPr>
              <a:xfrm>
                <a:off x="6014263" y="196788"/>
                <a:ext cx="19242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dirty="0"/>
                  <a:t>American R.</a:t>
                </a:r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B8609C3-7AF2-7167-664A-7CA36F2C6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4263" y="196788"/>
                <a:ext cx="1924214" cy="369332"/>
              </a:xfrm>
              <a:prstGeom prst="rect">
                <a:avLst/>
              </a:prstGeom>
              <a:blipFill>
                <a:blip r:embed="rId5"/>
                <a:stretch>
                  <a:fillRect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382FB60-5032-55AD-2284-E9B71FFA2D13}"/>
              </a:ext>
            </a:extLst>
          </p:cNvPr>
          <p:cNvCxnSpPr>
            <a:cxnSpLocks/>
          </p:cNvCxnSpPr>
          <p:nvPr/>
        </p:nvCxnSpPr>
        <p:spPr>
          <a:xfrm>
            <a:off x="7048998" y="6294661"/>
            <a:ext cx="889479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7FA2994D-C528-711B-8A49-51E27E4256BC}"/>
              </a:ext>
            </a:extLst>
          </p:cNvPr>
          <p:cNvSpPr txBox="1"/>
          <p:nvPr/>
        </p:nvSpPr>
        <p:spPr>
          <a:xfrm>
            <a:off x="7786900" y="5839606"/>
            <a:ext cx="197497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400" dirty="0"/>
              <a:t>Basin-wide estimate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88DC0AA-6520-A0A7-AF3F-DA8E483A7491}"/>
              </a:ext>
            </a:extLst>
          </p:cNvPr>
          <p:cNvSpPr txBox="1"/>
          <p:nvPr/>
        </p:nvSpPr>
        <p:spPr>
          <a:xfrm>
            <a:off x="2012211" y="818404"/>
            <a:ext cx="29731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1) </a:t>
            </a:r>
            <a:r>
              <a:rPr lang="en-US" sz="2000" dirty="0"/>
              <a:t>Escapement surveys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36ED99D-9B56-73CC-EFAD-D50BB425A7B7}"/>
              </a:ext>
            </a:extLst>
          </p:cNvPr>
          <p:cNvCxnSpPr>
            <a:cxnSpLocks/>
          </p:cNvCxnSpPr>
          <p:nvPr/>
        </p:nvCxnSpPr>
        <p:spPr>
          <a:xfrm>
            <a:off x="7048996" y="1861672"/>
            <a:ext cx="0" cy="3679666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91CE7CBF-A4AD-1AAF-CC6A-D197116BB632}"/>
              </a:ext>
            </a:extLst>
          </p:cNvPr>
          <p:cNvSpPr txBox="1"/>
          <p:nvPr/>
        </p:nvSpPr>
        <p:spPr>
          <a:xfrm>
            <a:off x="2011088" y="1658500"/>
            <a:ext cx="377260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2) </a:t>
            </a:r>
            <a:r>
              <a:rPr lang="en-US" sz="2000" dirty="0"/>
              <a:t>Collect scales in an unbiased and representative manner (every n</a:t>
            </a:r>
            <a:r>
              <a:rPr lang="en-US" sz="2000" baseline="30000" dirty="0"/>
              <a:t>th</a:t>
            </a:r>
            <a:r>
              <a:rPr lang="en-US" sz="2000" dirty="0"/>
              <a:t>) .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DCB8B06-2552-B25B-6C32-9F065085B7DD}"/>
              </a:ext>
            </a:extLst>
          </p:cNvPr>
          <p:cNvSpPr txBox="1"/>
          <p:nvPr/>
        </p:nvSpPr>
        <p:spPr>
          <a:xfrm>
            <a:off x="6701575" y="1829419"/>
            <a:ext cx="1924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150 scales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234FD7B0-5778-9C4A-DC18-1C9044E9044F}"/>
                  </a:ext>
                </a:extLst>
              </p:cNvPr>
              <p:cNvSpPr txBox="1"/>
              <p:nvPr/>
            </p:nvSpPr>
            <p:spPr>
              <a:xfrm>
                <a:off x="2011088" y="2725830"/>
                <a:ext cx="3772607" cy="7367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3) </a:t>
                </a:r>
                <a:r>
                  <a:rPr lang="en-US" sz="2000" dirty="0"/>
                  <a:t>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acc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𝑁𝑂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𝐶𝑊𝑇</m:t>
                        </m:r>
                      </m:sub>
                    </m:sSub>
                  </m:oMath>
                </a14:m>
                <a:endParaRPr lang="en-US" sz="2000" dirty="0"/>
              </a:p>
              <a:p>
                <a:r>
                  <a:rPr lang="en-US" sz="2000" dirty="0"/>
                  <a:t>in each survey using </a:t>
                </a:r>
                <a:r>
                  <a:rPr lang="en-US" sz="2000" i="1" dirty="0"/>
                  <a:t>k</a:t>
                </a:r>
                <a:r>
                  <a:rPr lang="en-US" sz="2000" dirty="0"/>
                  <a:t> draws. </a:t>
                </a:r>
              </a:p>
            </p:txBody>
          </p:sp>
        </mc:Choice>
        <mc:Fallback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234FD7B0-5778-9C4A-DC18-1C9044E904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1088" y="2725830"/>
                <a:ext cx="3772607" cy="736740"/>
              </a:xfrm>
              <a:prstGeom prst="rect">
                <a:avLst/>
              </a:prstGeom>
              <a:blipFill>
                <a:blip r:embed="rId6"/>
                <a:stretch>
                  <a:fillRect l="-1777" t="-4132" b="-140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E3EBA379-00A8-82F1-0883-98C5089E97A4}"/>
                  </a:ext>
                </a:extLst>
              </p:cNvPr>
              <p:cNvSpPr txBox="1"/>
              <p:nvPr/>
            </p:nvSpPr>
            <p:spPr>
              <a:xfrm>
                <a:off x="6991853" y="2784513"/>
                <a:ext cx="1924214" cy="3953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𝑁𝑂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𝐶𝑊𝑇</m:t>
                        </m:r>
                      </m:sub>
                    </m:sSub>
                  </m:oMath>
                </a14:m>
                <a:r>
                  <a:rPr lang="en-US" dirty="0"/>
                  <a:t>=1500 </a:t>
                </a:r>
              </a:p>
            </p:txBody>
          </p:sp>
        </mc:Choice>
        <mc:Fallback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E3EBA379-00A8-82F1-0883-98C5089E97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1853" y="2784513"/>
                <a:ext cx="1924214" cy="395301"/>
              </a:xfrm>
              <a:prstGeom prst="rect">
                <a:avLst/>
              </a:prstGeom>
              <a:blipFill>
                <a:blip r:embed="rId7"/>
                <a:stretch>
                  <a:fillRect t="-3077" r="-2215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41FB7D1A-1D9C-616A-1D8E-2C72E3CB5CB0}"/>
                  </a:ext>
                </a:extLst>
              </p:cNvPr>
              <p:cNvSpPr txBox="1"/>
              <p:nvPr/>
            </p:nvSpPr>
            <p:spPr>
              <a:xfrm>
                <a:off x="2012211" y="3579783"/>
                <a:ext cx="3771484" cy="1246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4) </a:t>
                </a:r>
                <a:r>
                  <a:rPr lang="en-US" sz="2000" dirty="0"/>
                  <a:t>Estimate each locations contribution to total untagged population as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acc>
                              <m:accPr>
                                <m:chr m:val="̂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𝑁𝑂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𝐶𝑊𝑇</m:t>
                            </m:r>
                          </m:sub>
                        </m:sSub>
                      </m:num>
                      <m:den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𝑁𝑂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𝐶𝑊𝑇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41FB7D1A-1D9C-616A-1D8E-2C72E3CB5C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2211" y="3579783"/>
                <a:ext cx="3771484" cy="1246110"/>
              </a:xfrm>
              <a:prstGeom prst="rect">
                <a:avLst/>
              </a:prstGeom>
              <a:blipFill>
                <a:blip r:embed="rId9"/>
                <a:stretch>
                  <a:fillRect l="-1616" t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A867D805-7B23-77C9-757D-8563412B1C14}"/>
                  </a:ext>
                </a:extLst>
              </p:cNvPr>
              <p:cNvSpPr txBox="1"/>
              <p:nvPr/>
            </p:nvSpPr>
            <p:spPr>
              <a:xfrm>
                <a:off x="7048994" y="3998541"/>
                <a:ext cx="3587469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𝑁𝑂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𝐶𝑊𝑇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= 1500 / 7500= 20%</a:t>
                </a:r>
              </a:p>
            </p:txBody>
          </p:sp>
        </mc:Choice>
        <mc:Fallback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A867D805-7B23-77C9-757D-8563412B1C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8994" y="3998541"/>
                <a:ext cx="3587469" cy="381515"/>
              </a:xfrm>
              <a:prstGeom prst="rect">
                <a:avLst/>
              </a:prstGeom>
              <a:blipFill>
                <a:blip r:embed="rId10"/>
                <a:stretch>
                  <a:fillRect t="-6349" b="-23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013C255A-E590-2EA6-EE41-60F9409803E2}"/>
              </a:ext>
            </a:extLst>
          </p:cNvPr>
          <p:cNvSpPr txBox="1"/>
          <p:nvPr/>
        </p:nvSpPr>
        <p:spPr>
          <a:xfrm>
            <a:off x="2012211" y="5060319"/>
            <a:ext cx="37714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5) </a:t>
            </a:r>
            <a:r>
              <a:rPr lang="en-US" sz="2000" dirty="0"/>
              <a:t>Select 500 scales for aging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F93C849-4A84-BBEA-21C9-7346E2E3B20B}"/>
              </a:ext>
            </a:extLst>
          </p:cNvPr>
          <p:cNvCxnSpPr>
            <a:cxnSpLocks/>
          </p:cNvCxnSpPr>
          <p:nvPr/>
        </p:nvCxnSpPr>
        <p:spPr>
          <a:xfrm>
            <a:off x="7048998" y="5521449"/>
            <a:ext cx="0" cy="773212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A4AC0269-DC22-F212-20D7-62154B736F58}"/>
              </a:ext>
            </a:extLst>
          </p:cNvPr>
          <p:cNvSpPr txBox="1"/>
          <p:nvPr/>
        </p:nvSpPr>
        <p:spPr>
          <a:xfrm>
            <a:off x="7120740" y="5159823"/>
            <a:ext cx="1691738" cy="381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0.2*500=100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F174F32-4059-51BB-2F50-04FD42AFEECE}"/>
              </a:ext>
            </a:extLst>
          </p:cNvPr>
          <p:cNvSpPr txBox="1"/>
          <p:nvPr/>
        </p:nvSpPr>
        <p:spPr>
          <a:xfrm>
            <a:off x="2012211" y="5779428"/>
            <a:ext cx="37714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6) </a:t>
            </a:r>
            <a:r>
              <a:rPr lang="en-US" sz="2000" dirty="0"/>
              <a:t>Pool scales for basin wide estimate</a:t>
            </a:r>
          </a:p>
        </p:txBody>
      </p:sp>
    </p:spTree>
    <p:extLst>
      <p:ext uri="{BB962C8B-B14F-4D97-AF65-F5344CB8AC3E}">
        <p14:creationId xmlns:p14="http://schemas.microsoft.com/office/powerpoint/2010/main" val="2654124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11204</TotalTime>
  <Words>534</Words>
  <Application>Microsoft Office PowerPoint</Application>
  <PresentationFormat>Widescreen</PresentationFormat>
  <Paragraphs>57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Cambria Math</vt:lpstr>
      <vt:lpstr>Century Gothic</vt:lpstr>
      <vt:lpstr>Office Theme</vt:lpstr>
      <vt:lpstr>Potential updates to CR Metrics and Methods</vt:lpstr>
      <vt:lpstr>PowerPoint Presentation</vt:lpstr>
      <vt:lpstr>Sampling Questions</vt:lpstr>
      <vt:lpstr>PowerPoint Presentation</vt:lpstr>
      <vt:lpstr>The good news?</vt:lpstr>
      <vt:lpstr>The bad news?</vt:lpstr>
      <vt:lpstr>PowerPoint Presentation</vt:lpstr>
      <vt:lpstr>CR sources of uncertainty</vt:lpstr>
      <vt:lpstr>PowerPoint Presentation</vt:lpstr>
      <vt:lpstr>Take aways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Barros, Arthur@Wildlife</dc:creator>
  <cp:lastModifiedBy>Barros, Arthur@Wildlife</cp:lastModifiedBy>
  <cp:revision>1</cp:revision>
  <dcterms:created xsi:type="dcterms:W3CDTF">2026-03-23T19:00:10Z</dcterms:created>
  <dcterms:modified xsi:type="dcterms:W3CDTF">2026-08-05T17:01:30Z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f5e96a0-ae28-4333-a0c5-db7fb08f6c69_Enabled">
    <vt:lpwstr>true</vt:lpwstr>
  </property>
  <property fmtid="{D5CDD505-2E9C-101B-9397-08002B2CF9AE}" pid="3" name="MSIP_Label_6f5e96a0-ae28-4333-a0c5-db7fb08f6c69_SetDate">
    <vt:lpwstr>2026-07-24T21:54:42Z</vt:lpwstr>
  </property>
  <property fmtid="{D5CDD505-2E9C-101B-9397-08002B2CF9AE}" pid="4" name="MSIP_Label_6f5e96a0-ae28-4333-a0c5-db7fb08f6c69_Method">
    <vt:lpwstr>Standard</vt:lpwstr>
  </property>
  <property fmtid="{D5CDD505-2E9C-101B-9397-08002B2CF9AE}" pid="5" name="MSIP_Label_6f5e96a0-ae28-4333-a0c5-db7fb08f6c69_Name">
    <vt:lpwstr>defa4170-0d19-0005-0004-bc88714345d2</vt:lpwstr>
  </property>
  <property fmtid="{D5CDD505-2E9C-101B-9397-08002B2CF9AE}" pid="6" name="MSIP_Label_6f5e96a0-ae28-4333-a0c5-db7fb08f6c69_SiteId">
    <vt:lpwstr>4b633c25-efbf-4006-9f15-07442ba7aa0b</vt:lpwstr>
  </property>
  <property fmtid="{D5CDD505-2E9C-101B-9397-08002B2CF9AE}" pid="7" name="MSIP_Label_6f5e96a0-ae28-4333-a0c5-db7fb08f6c69_ActionId">
    <vt:lpwstr>64b9cb05-7df0-4f2b-bb98-a659c6cdddea</vt:lpwstr>
  </property>
  <property fmtid="{D5CDD505-2E9C-101B-9397-08002B2CF9AE}" pid="8" name="MSIP_Label_6f5e96a0-ae28-4333-a0c5-db7fb08f6c69_ContentBits">
    <vt:lpwstr>0</vt:lpwstr>
  </property>
  <property fmtid="{D5CDD505-2E9C-101B-9397-08002B2CF9AE}" pid="9" name="MSIP_Label_6f5e96a0-ae28-4333-a0c5-db7fb08f6c69_Tag">
    <vt:lpwstr>10, 3, 0, 1</vt:lpwstr>
  </property>
</Properties>
</file>